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81" r:id="rId3"/>
    <p:sldMasterId id="2147483684" r:id="rId4"/>
  </p:sldMasterIdLst>
  <p:notesMasterIdLst>
    <p:notesMasterId r:id="rId65"/>
  </p:notesMasterIdLst>
  <p:sldIdLst>
    <p:sldId id="269" r:id="rId5"/>
    <p:sldId id="352" r:id="rId6"/>
    <p:sldId id="353" r:id="rId7"/>
    <p:sldId id="339" r:id="rId8"/>
    <p:sldId id="340" r:id="rId9"/>
    <p:sldId id="341" r:id="rId10"/>
    <p:sldId id="342" r:id="rId11"/>
    <p:sldId id="343" r:id="rId12"/>
    <p:sldId id="372" r:id="rId13"/>
    <p:sldId id="373" r:id="rId14"/>
    <p:sldId id="374" r:id="rId15"/>
    <p:sldId id="367" r:id="rId16"/>
    <p:sldId id="368" r:id="rId17"/>
    <p:sldId id="369" r:id="rId18"/>
    <p:sldId id="370" r:id="rId19"/>
    <p:sldId id="371" r:id="rId20"/>
    <p:sldId id="312" r:id="rId21"/>
    <p:sldId id="354" r:id="rId22"/>
    <p:sldId id="294" r:id="rId23"/>
    <p:sldId id="313" r:id="rId24"/>
    <p:sldId id="286" r:id="rId25"/>
    <p:sldId id="327" r:id="rId26"/>
    <p:sldId id="355" r:id="rId27"/>
    <p:sldId id="279" r:id="rId28"/>
    <p:sldId id="396" r:id="rId29"/>
    <p:sldId id="397" r:id="rId30"/>
    <p:sldId id="314" r:id="rId31"/>
    <p:sldId id="281" r:id="rId32"/>
    <p:sldId id="285" r:id="rId33"/>
    <p:sldId id="307" r:id="rId34"/>
    <p:sldId id="308" r:id="rId35"/>
    <p:sldId id="387" r:id="rId36"/>
    <p:sldId id="388" r:id="rId37"/>
    <p:sldId id="390" r:id="rId38"/>
    <p:sldId id="391" r:id="rId39"/>
    <p:sldId id="392" r:id="rId40"/>
    <p:sldId id="393" r:id="rId41"/>
    <p:sldId id="394" r:id="rId42"/>
    <p:sldId id="395" r:id="rId43"/>
    <p:sldId id="398" r:id="rId44"/>
    <p:sldId id="399" r:id="rId45"/>
    <p:sldId id="335" r:id="rId46"/>
    <p:sldId id="379" r:id="rId47"/>
    <p:sldId id="378" r:id="rId48"/>
    <p:sldId id="329" r:id="rId49"/>
    <p:sldId id="328" r:id="rId50"/>
    <p:sldId id="357" r:id="rId51"/>
    <p:sldId id="381" r:id="rId52"/>
    <p:sldId id="321" r:id="rId53"/>
    <p:sldId id="358" r:id="rId54"/>
    <p:sldId id="324" r:id="rId55"/>
    <p:sldId id="360" r:id="rId56"/>
    <p:sldId id="361" r:id="rId57"/>
    <p:sldId id="362" r:id="rId58"/>
    <p:sldId id="363" r:id="rId59"/>
    <p:sldId id="364" r:id="rId60"/>
    <p:sldId id="326" r:id="rId61"/>
    <p:sldId id="365" r:id="rId62"/>
    <p:sldId id="366" r:id="rId63"/>
    <p:sldId id="337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CC99FF"/>
    <a:srgbClr val="F7B3B3"/>
    <a:srgbClr val="F49A9A"/>
    <a:srgbClr val="FFFF99"/>
    <a:srgbClr val="FF5050"/>
    <a:srgbClr val="66FF66"/>
    <a:srgbClr val="FF7C8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87327" autoAdjust="0"/>
  </p:normalViewPr>
  <p:slideViewPr>
    <p:cSldViewPr snapToGrid="0">
      <p:cViewPr>
        <p:scale>
          <a:sx n="75" d="100"/>
          <a:sy n="75" d="100"/>
        </p:scale>
        <p:origin x="33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F17B6-BD36-46AB-9B51-59DF32AAB4B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6829B1-A667-473A-BE55-E806C27783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1: Inject error and drive it to scoreboard</a:t>
          </a:r>
        </a:p>
      </dgm:t>
    </dgm:pt>
    <dgm:pt modelId="{6BF0AFBD-152F-486C-A485-99031B7514ED}" type="parTrans" cxnId="{FF4F31B4-3BC9-4AFB-B843-C59093BCB30A}">
      <dgm:prSet/>
      <dgm:spPr/>
      <dgm:t>
        <a:bodyPr/>
        <a:lstStyle/>
        <a:p>
          <a:endParaRPr lang="en-US"/>
        </a:p>
      </dgm:t>
    </dgm:pt>
    <dgm:pt modelId="{6711BF65-0862-4FA8-ABFB-3EBB9991F777}" type="sibTrans" cxnId="{FF4F31B4-3BC9-4AFB-B843-C59093BCB30A}">
      <dgm:prSet/>
      <dgm:spPr/>
      <dgm:t>
        <a:bodyPr/>
        <a:lstStyle/>
        <a:p>
          <a:endParaRPr lang="en-US"/>
        </a:p>
      </dgm:t>
    </dgm:pt>
    <dgm:pt modelId="{E6904D12-1CC4-4D85-889E-19527CC17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2: Frame synchronization. </a:t>
          </a:r>
        </a:p>
      </dgm:t>
    </dgm:pt>
    <dgm:pt modelId="{6A859AD5-B894-4997-A2C0-1FFBDBDC76BA}" type="parTrans" cxnId="{11FBEE60-04CD-4249-9884-C6FBC6BFD07C}">
      <dgm:prSet/>
      <dgm:spPr/>
      <dgm:t>
        <a:bodyPr/>
        <a:lstStyle/>
        <a:p>
          <a:endParaRPr lang="en-US"/>
        </a:p>
      </dgm:t>
    </dgm:pt>
    <dgm:pt modelId="{5D7B7F03-A43A-40A4-B3E4-7A3B658AA072}" type="sibTrans" cxnId="{11FBEE60-04CD-4249-9884-C6FBC6BFD07C}">
      <dgm:prSet/>
      <dgm:spPr/>
      <dgm:t>
        <a:bodyPr/>
        <a:lstStyle/>
        <a:p>
          <a:endParaRPr lang="en-US"/>
        </a:p>
      </dgm:t>
    </dgm:pt>
    <dgm:pt modelId="{C96E1599-D60D-4FC4-A33B-D35E256AEC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3: Control Frame synchronization.</a:t>
          </a:r>
        </a:p>
      </dgm:t>
    </dgm:pt>
    <dgm:pt modelId="{0802E697-601A-416E-B974-9F9EB076BD9F}" type="parTrans" cxnId="{42526480-5C59-4CBA-B893-3F2152E740D6}">
      <dgm:prSet/>
      <dgm:spPr/>
      <dgm:t>
        <a:bodyPr/>
        <a:lstStyle/>
        <a:p>
          <a:endParaRPr lang="en-US"/>
        </a:p>
      </dgm:t>
    </dgm:pt>
    <dgm:pt modelId="{1BC5AB5D-0982-45B9-B20E-54610DFB5F5F}" type="sibTrans" cxnId="{42526480-5C59-4CBA-B893-3F2152E740D6}">
      <dgm:prSet/>
      <dgm:spPr/>
      <dgm:t>
        <a:bodyPr/>
        <a:lstStyle/>
        <a:p>
          <a:endParaRPr lang="en-US"/>
        </a:p>
      </dgm:t>
    </dgm:pt>
    <dgm:pt modelId="{5A733651-D79C-46BB-9FC8-BC3C721CFF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4: Reset Payload after each frame. </a:t>
          </a:r>
        </a:p>
      </dgm:t>
    </dgm:pt>
    <dgm:pt modelId="{86D0D040-8F49-4836-9A65-689D675FE528}" type="parTrans" cxnId="{CC85303A-EEE3-4449-9657-9EDC676820A7}">
      <dgm:prSet/>
      <dgm:spPr/>
      <dgm:t>
        <a:bodyPr/>
        <a:lstStyle/>
        <a:p>
          <a:endParaRPr lang="en-US"/>
        </a:p>
      </dgm:t>
    </dgm:pt>
    <dgm:pt modelId="{3B8027A2-FCDA-4BD6-884B-AD58DF3372F5}" type="sibTrans" cxnId="{CC85303A-EEE3-4449-9657-9EDC676820A7}">
      <dgm:prSet/>
      <dgm:spPr/>
      <dgm:t>
        <a:bodyPr/>
        <a:lstStyle/>
        <a:p>
          <a:endParaRPr lang="en-US"/>
        </a:p>
      </dgm:t>
    </dgm:pt>
    <dgm:pt modelId="{B8A901EA-6B81-41EF-A5C0-401AB64DE9BB}" type="pres">
      <dgm:prSet presAssocID="{620F17B6-BD36-46AB-9B51-59DF32AAB4B9}" presName="root" presStyleCnt="0">
        <dgm:presLayoutVars>
          <dgm:dir/>
          <dgm:resizeHandles val="exact"/>
        </dgm:presLayoutVars>
      </dgm:prSet>
      <dgm:spPr/>
    </dgm:pt>
    <dgm:pt modelId="{8890CBBC-7C44-49D2-84FF-4FE679F9DD44}" type="pres">
      <dgm:prSet presAssocID="{166829B1-A667-473A-BE55-E806C277835A}" presName="compNode" presStyleCnt="0"/>
      <dgm:spPr/>
    </dgm:pt>
    <dgm:pt modelId="{2900558B-F401-4CEC-A05B-62E59A2AFF56}" type="pres">
      <dgm:prSet presAssocID="{166829B1-A667-473A-BE55-E806C277835A}" presName="bgRect" presStyleLbl="bgShp" presStyleIdx="0" presStyleCnt="4"/>
      <dgm:spPr/>
    </dgm:pt>
    <dgm:pt modelId="{7A6DEAFD-A72D-46E8-8EF3-7A062232C464}" type="pres">
      <dgm:prSet presAssocID="{166829B1-A667-473A-BE55-E806C277835A}" presName="iconRect" presStyleLbl="node1" presStyleIdx="0" presStyleCnt="4"/>
      <dgm:spPr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CC613CF2-4608-44C0-B67D-325D7B147294}" type="pres">
      <dgm:prSet presAssocID="{166829B1-A667-473A-BE55-E806C277835A}" presName="spaceRect" presStyleCnt="0"/>
      <dgm:spPr/>
    </dgm:pt>
    <dgm:pt modelId="{ECB32006-91C5-41B3-B992-538BD4049CA4}" type="pres">
      <dgm:prSet presAssocID="{166829B1-A667-473A-BE55-E806C277835A}" presName="parTx" presStyleLbl="revTx" presStyleIdx="0" presStyleCnt="4">
        <dgm:presLayoutVars>
          <dgm:chMax val="0"/>
          <dgm:chPref val="0"/>
        </dgm:presLayoutVars>
      </dgm:prSet>
      <dgm:spPr/>
    </dgm:pt>
    <dgm:pt modelId="{F0304A45-7C19-41D0-A4F6-BEE7F3A1FBCD}" type="pres">
      <dgm:prSet presAssocID="{6711BF65-0862-4FA8-ABFB-3EBB9991F777}" presName="sibTrans" presStyleCnt="0"/>
      <dgm:spPr/>
    </dgm:pt>
    <dgm:pt modelId="{F56951B4-5A18-4E91-873F-036100F256A3}" type="pres">
      <dgm:prSet presAssocID="{E6904D12-1CC4-4D85-889E-19527CC17C21}" presName="compNode" presStyleCnt="0"/>
      <dgm:spPr/>
    </dgm:pt>
    <dgm:pt modelId="{957C8DC1-57B0-48A5-9F09-035998CE7B4F}" type="pres">
      <dgm:prSet presAssocID="{E6904D12-1CC4-4D85-889E-19527CC17C21}" presName="bgRect" presStyleLbl="bgShp" presStyleIdx="1" presStyleCnt="4"/>
      <dgm:spPr/>
    </dgm:pt>
    <dgm:pt modelId="{4316F5A4-8519-4BA2-BB11-DEF3C6D1E94E}" type="pres">
      <dgm:prSet presAssocID="{E6904D12-1CC4-4D85-889E-19527CC17C21}" presName="iconRect" presStyleLbl="node1" presStyleIdx="1" presStyleCnt="4"/>
      <dgm:spPr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51550527-C562-4F1B-9650-0E0116ADF814}" type="pres">
      <dgm:prSet presAssocID="{E6904D12-1CC4-4D85-889E-19527CC17C21}" presName="spaceRect" presStyleCnt="0"/>
      <dgm:spPr/>
    </dgm:pt>
    <dgm:pt modelId="{65D40B20-7134-4A9F-B302-4DF101A02E22}" type="pres">
      <dgm:prSet presAssocID="{E6904D12-1CC4-4D85-889E-19527CC17C21}" presName="parTx" presStyleLbl="revTx" presStyleIdx="1" presStyleCnt="4">
        <dgm:presLayoutVars>
          <dgm:chMax val="0"/>
          <dgm:chPref val="0"/>
        </dgm:presLayoutVars>
      </dgm:prSet>
      <dgm:spPr/>
    </dgm:pt>
    <dgm:pt modelId="{1EF2E9B5-5B0F-42BE-BBC5-544AB8C4860E}" type="pres">
      <dgm:prSet presAssocID="{5D7B7F03-A43A-40A4-B3E4-7A3B658AA072}" presName="sibTrans" presStyleCnt="0"/>
      <dgm:spPr/>
    </dgm:pt>
    <dgm:pt modelId="{2642CA58-CF04-45EF-865B-474A6230A992}" type="pres">
      <dgm:prSet presAssocID="{C96E1599-D60D-4FC4-A33B-D35E256AEC89}" presName="compNode" presStyleCnt="0"/>
      <dgm:spPr/>
    </dgm:pt>
    <dgm:pt modelId="{5572FFA3-5676-4731-BDA1-37B3EF39402A}" type="pres">
      <dgm:prSet presAssocID="{C96E1599-D60D-4FC4-A33B-D35E256AEC89}" presName="bgRect" presStyleLbl="bgShp" presStyleIdx="2" presStyleCnt="4"/>
      <dgm:spPr/>
    </dgm:pt>
    <dgm:pt modelId="{AFC4FE2E-280B-4AC9-A882-229D02BB3A48}" type="pres">
      <dgm:prSet presAssocID="{C96E1599-D60D-4FC4-A33B-D35E256AEC89}" presName="iconRect" presStyleLbl="node1" presStyleIdx="2" presStyleCnt="4"/>
      <dgm:spPr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0F7FD0E-64F6-4CA2-8E80-82C691018F6C}" type="pres">
      <dgm:prSet presAssocID="{C96E1599-D60D-4FC4-A33B-D35E256AEC89}" presName="spaceRect" presStyleCnt="0"/>
      <dgm:spPr/>
    </dgm:pt>
    <dgm:pt modelId="{0A907781-2BBE-4123-9ACE-D40188A76901}" type="pres">
      <dgm:prSet presAssocID="{C96E1599-D60D-4FC4-A33B-D35E256AEC89}" presName="parTx" presStyleLbl="revTx" presStyleIdx="2" presStyleCnt="4">
        <dgm:presLayoutVars>
          <dgm:chMax val="0"/>
          <dgm:chPref val="0"/>
        </dgm:presLayoutVars>
      </dgm:prSet>
      <dgm:spPr/>
    </dgm:pt>
    <dgm:pt modelId="{5DA6AA36-9D56-4D3D-A487-D46341FB5FCF}" type="pres">
      <dgm:prSet presAssocID="{1BC5AB5D-0982-45B9-B20E-54610DFB5F5F}" presName="sibTrans" presStyleCnt="0"/>
      <dgm:spPr/>
    </dgm:pt>
    <dgm:pt modelId="{84374722-B70E-4081-91C7-973B3E4966D0}" type="pres">
      <dgm:prSet presAssocID="{5A733651-D79C-46BB-9FC8-BC3C721CFFE4}" presName="compNode" presStyleCnt="0"/>
      <dgm:spPr/>
    </dgm:pt>
    <dgm:pt modelId="{EA6652BD-FD7D-43B8-8C80-882F595AF454}" type="pres">
      <dgm:prSet presAssocID="{5A733651-D79C-46BB-9FC8-BC3C721CFFE4}" presName="bgRect" presStyleLbl="bgShp" presStyleIdx="3" presStyleCnt="4"/>
      <dgm:spPr/>
    </dgm:pt>
    <dgm:pt modelId="{DE15E7B7-0FA5-46D1-AF80-FF8453FCCCC1}" type="pres">
      <dgm:prSet presAssocID="{5A733651-D79C-46BB-9FC8-BC3C721CFFE4}" presName="iconRect" presStyleLbl="node1" presStyleIdx="3" presStyleCnt="4"/>
      <dgm:spPr>
        <a:blipFill rotWithShape="1"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F615D561-F4C2-46E5-87A2-B73E97FD99A2}" type="pres">
      <dgm:prSet presAssocID="{5A733651-D79C-46BB-9FC8-BC3C721CFFE4}" presName="spaceRect" presStyleCnt="0"/>
      <dgm:spPr/>
    </dgm:pt>
    <dgm:pt modelId="{7D860B18-1FC3-44B6-AD51-0A49004402D5}" type="pres">
      <dgm:prSet presAssocID="{5A733651-D79C-46BB-9FC8-BC3C721CFFE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BC9C212-ED7B-4966-947A-075B2B7C6C92}" type="presOf" srcId="{C96E1599-D60D-4FC4-A33B-D35E256AEC89}" destId="{0A907781-2BBE-4123-9ACE-D40188A76901}" srcOrd="0" destOrd="0" presId="urn:microsoft.com/office/officeart/2018/2/layout/IconVerticalSolidList"/>
    <dgm:cxn modelId="{CC85303A-EEE3-4449-9657-9EDC676820A7}" srcId="{620F17B6-BD36-46AB-9B51-59DF32AAB4B9}" destId="{5A733651-D79C-46BB-9FC8-BC3C721CFFE4}" srcOrd="3" destOrd="0" parTransId="{86D0D040-8F49-4836-9A65-689D675FE528}" sibTransId="{3B8027A2-FCDA-4BD6-884B-AD58DF3372F5}"/>
    <dgm:cxn modelId="{46287B3C-044A-4B51-BAF2-919F498FB5BE}" type="presOf" srcId="{E6904D12-1CC4-4D85-889E-19527CC17C21}" destId="{65D40B20-7134-4A9F-B302-4DF101A02E22}" srcOrd="0" destOrd="0" presId="urn:microsoft.com/office/officeart/2018/2/layout/IconVerticalSolidList"/>
    <dgm:cxn modelId="{11FBEE60-04CD-4249-9884-C6FBC6BFD07C}" srcId="{620F17B6-BD36-46AB-9B51-59DF32AAB4B9}" destId="{E6904D12-1CC4-4D85-889E-19527CC17C21}" srcOrd="1" destOrd="0" parTransId="{6A859AD5-B894-4997-A2C0-1FFBDBDC76BA}" sibTransId="{5D7B7F03-A43A-40A4-B3E4-7A3B658AA072}"/>
    <dgm:cxn modelId="{B43FF364-725C-44A6-A87B-1EC6BAD86E84}" type="presOf" srcId="{166829B1-A667-473A-BE55-E806C277835A}" destId="{ECB32006-91C5-41B3-B992-538BD4049CA4}" srcOrd="0" destOrd="0" presId="urn:microsoft.com/office/officeart/2018/2/layout/IconVerticalSolidList"/>
    <dgm:cxn modelId="{42526480-5C59-4CBA-B893-3F2152E740D6}" srcId="{620F17B6-BD36-46AB-9B51-59DF32AAB4B9}" destId="{C96E1599-D60D-4FC4-A33B-D35E256AEC89}" srcOrd="2" destOrd="0" parTransId="{0802E697-601A-416E-B974-9F9EB076BD9F}" sibTransId="{1BC5AB5D-0982-45B9-B20E-54610DFB5F5F}"/>
    <dgm:cxn modelId="{6FB07595-1AF8-42C2-9320-7B05871A7A4A}" type="presOf" srcId="{620F17B6-BD36-46AB-9B51-59DF32AAB4B9}" destId="{B8A901EA-6B81-41EF-A5C0-401AB64DE9BB}" srcOrd="0" destOrd="0" presId="urn:microsoft.com/office/officeart/2018/2/layout/IconVerticalSolidList"/>
    <dgm:cxn modelId="{6F68B5AC-BE23-4A29-ADFE-729C74A99B6B}" type="presOf" srcId="{5A733651-D79C-46BB-9FC8-BC3C721CFFE4}" destId="{7D860B18-1FC3-44B6-AD51-0A49004402D5}" srcOrd="0" destOrd="0" presId="urn:microsoft.com/office/officeart/2018/2/layout/IconVerticalSolidList"/>
    <dgm:cxn modelId="{FF4F31B4-3BC9-4AFB-B843-C59093BCB30A}" srcId="{620F17B6-BD36-46AB-9B51-59DF32AAB4B9}" destId="{166829B1-A667-473A-BE55-E806C277835A}" srcOrd="0" destOrd="0" parTransId="{6BF0AFBD-152F-486C-A485-99031B7514ED}" sibTransId="{6711BF65-0862-4FA8-ABFB-3EBB9991F777}"/>
    <dgm:cxn modelId="{875B0F20-FC84-437A-A524-4B23D97A1E54}" type="presParOf" srcId="{B8A901EA-6B81-41EF-A5C0-401AB64DE9BB}" destId="{8890CBBC-7C44-49D2-84FF-4FE679F9DD44}" srcOrd="0" destOrd="0" presId="urn:microsoft.com/office/officeart/2018/2/layout/IconVerticalSolidList"/>
    <dgm:cxn modelId="{421C4BDD-C131-46C5-9CFC-735FC9DE081E}" type="presParOf" srcId="{8890CBBC-7C44-49D2-84FF-4FE679F9DD44}" destId="{2900558B-F401-4CEC-A05B-62E59A2AFF56}" srcOrd="0" destOrd="0" presId="urn:microsoft.com/office/officeart/2018/2/layout/IconVerticalSolidList"/>
    <dgm:cxn modelId="{F174DE5F-2754-42CC-802D-62C0296D816E}" type="presParOf" srcId="{8890CBBC-7C44-49D2-84FF-4FE679F9DD44}" destId="{7A6DEAFD-A72D-46E8-8EF3-7A062232C464}" srcOrd="1" destOrd="0" presId="urn:microsoft.com/office/officeart/2018/2/layout/IconVerticalSolidList"/>
    <dgm:cxn modelId="{F6A6777F-E234-4300-A884-8CE90309B5FE}" type="presParOf" srcId="{8890CBBC-7C44-49D2-84FF-4FE679F9DD44}" destId="{CC613CF2-4608-44C0-B67D-325D7B147294}" srcOrd="2" destOrd="0" presId="urn:microsoft.com/office/officeart/2018/2/layout/IconVerticalSolidList"/>
    <dgm:cxn modelId="{42B5DC20-7FE1-46C1-B7D1-CD6D51E22B9E}" type="presParOf" srcId="{8890CBBC-7C44-49D2-84FF-4FE679F9DD44}" destId="{ECB32006-91C5-41B3-B992-538BD4049CA4}" srcOrd="3" destOrd="0" presId="urn:microsoft.com/office/officeart/2018/2/layout/IconVerticalSolidList"/>
    <dgm:cxn modelId="{1A8F9014-DA98-4EC4-ADF6-81D45D61F5A1}" type="presParOf" srcId="{B8A901EA-6B81-41EF-A5C0-401AB64DE9BB}" destId="{F0304A45-7C19-41D0-A4F6-BEE7F3A1FBCD}" srcOrd="1" destOrd="0" presId="urn:microsoft.com/office/officeart/2018/2/layout/IconVerticalSolidList"/>
    <dgm:cxn modelId="{532869C1-46F0-40BF-9113-37DF58766E04}" type="presParOf" srcId="{B8A901EA-6B81-41EF-A5C0-401AB64DE9BB}" destId="{F56951B4-5A18-4E91-873F-036100F256A3}" srcOrd="2" destOrd="0" presId="urn:microsoft.com/office/officeart/2018/2/layout/IconVerticalSolidList"/>
    <dgm:cxn modelId="{70891A23-ABBE-461D-8EE3-CD5CFADB86A3}" type="presParOf" srcId="{F56951B4-5A18-4E91-873F-036100F256A3}" destId="{957C8DC1-57B0-48A5-9F09-035998CE7B4F}" srcOrd="0" destOrd="0" presId="urn:microsoft.com/office/officeart/2018/2/layout/IconVerticalSolidList"/>
    <dgm:cxn modelId="{8D203F0F-6B56-4915-A841-91379C81323C}" type="presParOf" srcId="{F56951B4-5A18-4E91-873F-036100F256A3}" destId="{4316F5A4-8519-4BA2-BB11-DEF3C6D1E94E}" srcOrd="1" destOrd="0" presId="urn:microsoft.com/office/officeart/2018/2/layout/IconVerticalSolidList"/>
    <dgm:cxn modelId="{D4873CF2-F97E-499F-B807-5717E5C9C0A6}" type="presParOf" srcId="{F56951B4-5A18-4E91-873F-036100F256A3}" destId="{51550527-C562-4F1B-9650-0E0116ADF814}" srcOrd="2" destOrd="0" presId="urn:microsoft.com/office/officeart/2018/2/layout/IconVerticalSolidList"/>
    <dgm:cxn modelId="{9889294F-4CEC-4057-B167-C676B48BE21E}" type="presParOf" srcId="{F56951B4-5A18-4E91-873F-036100F256A3}" destId="{65D40B20-7134-4A9F-B302-4DF101A02E22}" srcOrd="3" destOrd="0" presId="urn:microsoft.com/office/officeart/2018/2/layout/IconVerticalSolidList"/>
    <dgm:cxn modelId="{64677C07-BCC5-486A-A289-5BEA4C5FD9AC}" type="presParOf" srcId="{B8A901EA-6B81-41EF-A5C0-401AB64DE9BB}" destId="{1EF2E9B5-5B0F-42BE-BBC5-544AB8C4860E}" srcOrd="3" destOrd="0" presId="urn:microsoft.com/office/officeart/2018/2/layout/IconVerticalSolidList"/>
    <dgm:cxn modelId="{04E1481F-E22C-422E-87D9-ADC736F12782}" type="presParOf" srcId="{B8A901EA-6B81-41EF-A5C0-401AB64DE9BB}" destId="{2642CA58-CF04-45EF-865B-474A6230A992}" srcOrd="4" destOrd="0" presId="urn:microsoft.com/office/officeart/2018/2/layout/IconVerticalSolidList"/>
    <dgm:cxn modelId="{EFFEE43B-0C03-41B0-A9AD-E29D186378E7}" type="presParOf" srcId="{2642CA58-CF04-45EF-865B-474A6230A992}" destId="{5572FFA3-5676-4731-BDA1-37B3EF39402A}" srcOrd="0" destOrd="0" presId="urn:microsoft.com/office/officeart/2018/2/layout/IconVerticalSolidList"/>
    <dgm:cxn modelId="{1AA9FDD4-7C34-4FF2-A8D2-772440E61CCA}" type="presParOf" srcId="{2642CA58-CF04-45EF-865B-474A6230A992}" destId="{AFC4FE2E-280B-4AC9-A882-229D02BB3A48}" srcOrd="1" destOrd="0" presId="urn:microsoft.com/office/officeart/2018/2/layout/IconVerticalSolidList"/>
    <dgm:cxn modelId="{DDDE7F2E-A665-497A-B712-7CB7F3982471}" type="presParOf" srcId="{2642CA58-CF04-45EF-865B-474A6230A992}" destId="{70F7FD0E-64F6-4CA2-8E80-82C691018F6C}" srcOrd="2" destOrd="0" presId="urn:microsoft.com/office/officeart/2018/2/layout/IconVerticalSolidList"/>
    <dgm:cxn modelId="{F10B83C2-6DF7-486C-A650-57133DE9C7ED}" type="presParOf" srcId="{2642CA58-CF04-45EF-865B-474A6230A992}" destId="{0A907781-2BBE-4123-9ACE-D40188A76901}" srcOrd="3" destOrd="0" presId="urn:microsoft.com/office/officeart/2018/2/layout/IconVerticalSolidList"/>
    <dgm:cxn modelId="{E76E010B-C3A1-41FB-A9FD-DD0E2E84231D}" type="presParOf" srcId="{B8A901EA-6B81-41EF-A5C0-401AB64DE9BB}" destId="{5DA6AA36-9D56-4D3D-A487-D46341FB5FCF}" srcOrd="5" destOrd="0" presId="urn:microsoft.com/office/officeart/2018/2/layout/IconVerticalSolidList"/>
    <dgm:cxn modelId="{52D5D6A2-B50D-40A0-A687-E03F8AB735D4}" type="presParOf" srcId="{B8A901EA-6B81-41EF-A5C0-401AB64DE9BB}" destId="{84374722-B70E-4081-91C7-973B3E4966D0}" srcOrd="6" destOrd="0" presId="urn:microsoft.com/office/officeart/2018/2/layout/IconVerticalSolidList"/>
    <dgm:cxn modelId="{547E4EF5-E25F-4E95-96F2-B0B29D9E91AB}" type="presParOf" srcId="{84374722-B70E-4081-91C7-973B3E4966D0}" destId="{EA6652BD-FD7D-43B8-8C80-882F595AF454}" srcOrd="0" destOrd="0" presId="urn:microsoft.com/office/officeart/2018/2/layout/IconVerticalSolidList"/>
    <dgm:cxn modelId="{3E9EE25F-DB5D-46DA-974C-6D6E46E965B0}" type="presParOf" srcId="{84374722-B70E-4081-91C7-973B3E4966D0}" destId="{DE15E7B7-0FA5-46D1-AF80-FF8453FCCCC1}" srcOrd="1" destOrd="0" presId="urn:microsoft.com/office/officeart/2018/2/layout/IconVerticalSolidList"/>
    <dgm:cxn modelId="{E805B6C0-4376-4EDD-8474-8A496D6D7219}" type="presParOf" srcId="{84374722-B70E-4081-91C7-973B3E4966D0}" destId="{F615D561-F4C2-46E5-87A2-B73E97FD99A2}" srcOrd="2" destOrd="0" presId="urn:microsoft.com/office/officeart/2018/2/layout/IconVerticalSolidList"/>
    <dgm:cxn modelId="{85077D85-E43C-4C46-AC7C-C61F19D58965}" type="presParOf" srcId="{84374722-B70E-4081-91C7-973B3E4966D0}" destId="{7D860B18-1FC3-44B6-AD51-0A49004402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0F17B6-BD36-46AB-9B51-59DF32AAB4B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6829B1-A667-473A-BE55-E806C27783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1: Inject error and drive it to scoreboard</a:t>
          </a:r>
        </a:p>
      </dgm:t>
    </dgm:pt>
    <dgm:pt modelId="{6BF0AFBD-152F-486C-A485-99031B7514ED}" type="parTrans" cxnId="{FF4F31B4-3BC9-4AFB-B843-C59093BCB30A}">
      <dgm:prSet/>
      <dgm:spPr/>
      <dgm:t>
        <a:bodyPr/>
        <a:lstStyle/>
        <a:p>
          <a:endParaRPr lang="en-US"/>
        </a:p>
      </dgm:t>
    </dgm:pt>
    <dgm:pt modelId="{6711BF65-0862-4FA8-ABFB-3EBB9991F777}" type="sibTrans" cxnId="{FF4F31B4-3BC9-4AFB-B843-C59093BCB30A}">
      <dgm:prSet/>
      <dgm:spPr/>
      <dgm:t>
        <a:bodyPr/>
        <a:lstStyle/>
        <a:p>
          <a:endParaRPr lang="en-US"/>
        </a:p>
      </dgm:t>
    </dgm:pt>
    <dgm:pt modelId="{E6904D12-1CC4-4D85-889E-19527CC17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2: Frame synchronization. </a:t>
          </a:r>
        </a:p>
      </dgm:t>
    </dgm:pt>
    <dgm:pt modelId="{6A859AD5-B894-4997-A2C0-1FFBDBDC76BA}" type="parTrans" cxnId="{11FBEE60-04CD-4249-9884-C6FBC6BFD07C}">
      <dgm:prSet/>
      <dgm:spPr/>
      <dgm:t>
        <a:bodyPr/>
        <a:lstStyle/>
        <a:p>
          <a:endParaRPr lang="en-US"/>
        </a:p>
      </dgm:t>
    </dgm:pt>
    <dgm:pt modelId="{5D7B7F03-A43A-40A4-B3E4-7A3B658AA072}" type="sibTrans" cxnId="{11FBEE60-04CD-4249-9884-C6FBC6BFD07C}">
      <dgm:prSet/>
      <dgm:spPr/>
      <dgm:t>
        <a:bodyPr/>
        <a:lstStyle/>
        <a:p>
          <a:endParaRPr lang="en-US"/>
        </a:p>
      </dgm:t>
    </dgm:pt>
    <dgm:pt modelId="{C96E1599-D60D-4FC4-A33B-D35E256AEC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3: Control Frame synchronization.</a:t>
          </a:r>
        </a:p>
      </dgm:t>
    </dgm:pt>
    <dgm:pt modelId="{0802E697-601A-416E-B974-9F9EB076BD9F}" type="parTrans" cxnId="{42526480-5C59-4CBA-B893-3F2152E740D6}">
      <dgm:prSet/>
      <dgm:spPr/>
      <dgm:t>
        <a:bodyPr/>
        <a:lstStyle/>
        <a:p>
          <a:endParaRPr lang="en-US"/>
        </a:p>
      </dgm:t>
    </dgm:pt>
    <dgm:pt modelId="{1BC5AB5D-0982-45B9-B20E-54610DFB5F5F}" type="sibTrans" cxnId="{42526480-5C59-4CBA-B893-3F2152E740D6}">
      <dgm:prSet/>
      <dgm:spPr/>
      <dgm:t>
        <a:bodyPr/>
        <a:lstStyle/>
        <a:p>
          <a:endParaRPr lang="en-US"/>
        </a:p>
      </dgm:t>
    </dgm:pt>
    <dgm:pt modelId="{5A733651-D79C-46BB-9FC8-BC3C721CFF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4: Reset Payload after each frame. </a:t>
          </a:r>
        </a:p>
      </dgm:t>
    </dgm:pt>
    <dgm:pt modelId="{86D0D040-8F49-4836-9A65-689D675FE528}" type="parTrans" cxnId="{CC85303A-EEE3-4449-9657-9EDC676820A7}">
      <dgm:prSet/>
      <dgm:spPr/>
      <dgm:t>
        <a:bodyPr/>
        <a:lstStyle/>
        <a:p>
          <a:endParaRPr lang="en-US"/>
        </a:p>
      </dgm:t>
    </dgm:pt>
    <dgm:pt modelId="{3B8027A2-FCDA-4BD6-884B-AD58DF3372F5}" type="sibTrans" cxnId="{CC85303A-EEE3-4449-9657-9EDC676820A7}">
      <dgm:prSet/>
      <dgm:spPr/>
      <dgm:t>
        <a:bodyPr/>
        <a:lstStyle/>
        <a:p>
          <a:endParaRPr lang="en-US"/>
        </a:p>
      </dgm:t>
    </dgm:pt>
    <dgm:pt modelId="{B8A901EA-6B81-41EF-A5C0-401AB64DE9BB}" type="pres">
      <dgm:prSet presAssocID="{620F17B6-BD36-46AB-9B51-59DF32AAB4B9}" presName="root" presStyleCnt="0">
        <dgm:presLayoutVars>
          <dgm:dir/>
          <dgm:resizeHandles val="exact"/>
        </dgm:presLayoutVars>
      </dgm:prSet>
      <dgm:spPr/>
    </dgm:pt>
    <dgm:pt modelId="{8890CBBC-7C44-49D2-84FF-4FE679F9DD44}" type="pres">
      <dgm:prSet presAssocID="{166829B1-A667-473A-BE55-E806C277835A}" presName="compNode" presStyleCnt="0"/>
      <dgm:spPr/>
    </dgm:pt>
    <dgm:pt modelId="{2900558B-F401-4CEC-A05B-62E59A2AFF56}" type="pres">
      <dgm:prSet presAssocID="{166829B1-A667-473A-BE55-E806C277835A}" presName="bgRect" presStyleLbl="bgShp" presStyleIdx="0" presStyleCnt="4"/>
      <dgm:spPr/>
    </dgm:pt>
    <dgm:pt modelId="{7A6DEAFD-A72D-46E8-8EF3-7A062232C464}" type="pres">
      <dgm:prSet presAssocID="{166829B1-A667-473A-BE55-E806C277835A}" presName="iconRect" presStyleLbl="node1" presStyleIdx="0" presStyleCnt="4"/>
      <dgm:spPr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CC613CF2-4608-44C0-B67D-325D7B147294}" type="pres">
      <dgm:prSet presAssocID="{166829B1-A667-473A-BE55-E806C277835A}" presName="spaceRect" presStyleCnt="0"/>
      <dgm:spPr/>
    </dgm:pt>
    <dgm:pt modelId="{ECB32006-91C5-41B3-B992-538BD4049CA4}" type="pres">
      <dgm:prSet presAssocID="{166829B1-A667-473A-BE55-E806C277835A}" presName="parTx" presStyleLbl="revTx" presStyleIdx="0" presStyleCnt="4">
        <dgm:presLayoutVars>
          <dgm:chMax val="0"/>
          <dgm:chPref val="0"/>
        </dgm:presLayoutVars>
      </dgm:prSet>
      <dgm:spPr/>
    </dgm:pt>
    <dgm:pt modelId="{F0304A45-7C19-41D0-A4F6-BEE7F3A1FBCD}" type="pres">
      <dgm:prSet presAssocID="{6711BF65-0862-4FA8-ABFB-3EBB9991F777}" presName="sibTrans" presStyleCnt="0"/>
      <dgm:spPr/>
    </dgm:pt>
    <dgm:pt modelId="{F56951B4-5A18-4E91-873F-036100F256A3}" type="pres">
      <dgm:prSet presAssocID="{E6904D12-1CC4-4D85-889E-19527CC17C21}" presName="compNode" presStyleCnt="0"/>
      <dgm:spPr/>
    </dgm:pt>
    <dgm:pt modelId="{957C8DC1-57B0-48A5-9F09-035998CE7B4F}" type="pres">
      <dgm:prSet presAssocID="{E6904D12-1CC4-4D85-889E-19527CC17C21}" presName="bgRect" presStyleLbl="bgShp" presStyleIdx="1" presStyleCnt="4"/>
      <dgm:spPr/>
    </dgm:pt>
    <dgm:pt modelId="{4316F5A4-8519-4BA2-BB11-DEF3C6D1E94E}" type="pres">
      <dgm:prSet presAssocID="{E6904D12-1CC4-4D85-889E-19527CC17C21}" presName="iconRect" presStyleLbl="node1" presStyleIdx="1" presStyleCnt="4"/>
      <dgm:spPr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51550527-C562-4F1B-9650-0E0116ADF814}" type="pres">
      <dgm:prSet presAssocID="{E6904D12-1CC4-4D85-889E-19527CC17C21}" presName="spaceRect" presStyleCnt="0"/>
      <dgm:spPr/>
    </dgm:pt>
    <dgm:pt modelId="{65D40B20-7134-4A9F-B302-4DF101A02E22}" type="pres">
      <dgm:prSet presAssocID="{E6904D12-1CC4-4D85-889E-19527CC17C21}" presName="parTx" presStyleLbl="revTx" presStyleIdx="1" presStyleCnt="4">
        <dgm:presLayoutVars>
          <dgm:chMax val="0"/>
          <dgm:chPref val="0"/>
        </dgm:presLayoutVars>
      </dgm:prSet>
      <dgm:spPr/>
    </dgm:pt>
    <dgm:pt modelId="{1EF2E9B5-5B0F-42BE-BBC5-544AB8C4860E}" type="pres">
      <dgm:prSet presAssocID="{5D7B7F03-A43A-40A4-B3E4-7A3B658AA072}" presName="sibTrans" presStyleCnt="0"/>
      <dgm:spPr/>
    </dgm:pt>
    <dgm:pt modelId="{2642CA58-CF04-45EF-865B-474A6230A992}" type="pres">
      <dgm:prSet presAssocID="{C96E1599-D60D-4FC4-A33B-D35E256AEC89}" presName="compNode" presStyleCnt="0"/>
      <dgm:spPr/>
    </dgm:pt>
    <dgm:pt modelId="{5572FFA3-5676-4731-BDA1-37B3EF39402A}" type="pres">
      <dgm:prSet presAssocID="{C96E1599-D60D-4FC4-A33B-D35E256AEC89}" presName="bgRect" presStyleLbl="bgShp" presStyleIdx="2" presStyleCnt="4"/>
      <dgm:spPr/>
    </dgm:pt>
    <dgm:pt modelId="{AFC4FE2E-280B-4AC9-A882-229D02BB3A48}" type="pres">
      <dgm:prSet presAssocID="{C96E1599-D60D-4FC4-A33B-D35E256AEC89}" presName="iconRect" presStyleLbl="node1" presStyleIdx="2" presStyleCnt="4"/>
      <dgm:spPr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0F7FD0E-64F6-4CA2-8E80-82C691018F6C}" type="pres">
      <dgm:prSet presAssocID="{C96E1599-D60D-4FC4-A33B-D35E256AEC89}" presName="spaceRect" presStyleCnt="0"/>
      <dgm:spPr/>
    </dgm:pt>
    <dgm:pt modelId="{0A907781-2BBE-4123-9ACE-D40188A76901}" type="pres">
      <dgm:prSet presAssocID="{C96E1599-D60D-4FC4-A33B-D35E256AEC89}" presName="parTx" presStyleLbl="revTx" presStyleIdx="2" presStyleCnt="4">
        <dgm:presLayoutVars>
          <dgm:chMax val="0"/>
          <dgm:chPref val="0"/>
        </dgm:presLayoutVars>
      </dgm:prSet>
      <dgm:spPr/>
    </dgm:pt>
    <dgm:pt modelId="{5DA6AA36-9D56-4D3D-A487-D46341FB5FCF}" type="pres">
      <dgm:prSet presAssocID="{1BC5AB5D-0982-45B9-B20E-54610DFB5F5F}" presName="sibTrans" presStyleCnt="0"/>
      <dgm:spPr/>
    </dgm:pt>
    <dgm:pt modelId="{84374722-B70E-4081-91C7-973B3E4966D0}" type="pres">
      <dgm:prSet presAssocID="{5A733651-D79C-46BB-9FC8-BC3C721CFFE4}" presName="compNode" presStyleCnt="0"/>
      <dgm:spPr/>
    </dgm:pt>
    <dgm:pt modelId="{EA6652BD-FD7D-43B8-8C80-882F595AF454}" type="pres">
      <dgm:prSet presAssocID="{5A733651-D79C-46BB-9FC8-BC3C721CFFE4}" presName="bgRect" presStyleLbl="bgShp" presStyleIdx="3" presStyleCnt="4"/>
      <dgm:spPr/>
    </dgm:pt>
    <dgm:pt modelId="{DE15E7B7-0FA5-46D1-AF80-FF8453FCCCC1}" type="pres">
      <dgm:prSet presAssocID="{5A733651-D79C-46BB-9FC8-BC3C721CFFE4}" presName="iconRect" presStyleLbl="node1" presStyleIdx="3" presStyleCnt="4"/>
      <dgm:spPr>
        <a:blipFill rotWithShape="1"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F615D561-F4C2-46E5-87A2-B73E97FD99A2}" type="pres">
      <dgm:prSet presAssocID="{5A733651-D79C-46BB-9FC8-BC3C721CFFE4}" presName="spaceRect" presStyleCnt="0"/>
      <dgm:spPr/>
    </dgm:pt>
    <dgm:pt modelId="{7D860B18-1FC3-44B6-AD51-0A49004402D5}" type="pres">
      <dgm:prSet presAssocID="{5A733651-D79C-46BB-9FC8-BC3C721CFFE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6139038-6EDE-418C-B27F-9E4273C9CF08}" type="presOf" srcId="{5A733651-D79C-46BB-9FC8-BC3C721CFFE4}" destId="{7D860B18-1FC3-44B6-AD51-0A49004402D5}" srcOrd="0" destOrd="0" presId="urn:microsoft.com/office/officeart/2018/2/layout/IconVerticalSolidList"/>
    <dgm:cxn modelId="{CC85303A-EEE3-4449-9657-9EDC676820A7}" srcId="{620F17B6-BD36-46AB-9B51-59DF32AAB4B9}" destId="{5A733651-D79C-46BB-9FC8-BC3C721CFFE4}" srcOrd="3" destOrd="0" parTransId="{86D0D040-8F49-4836-9A65-689D675FE528}" sibTransId="{3B8027A2-FCDA-4BD6-884B-AD58DF3372F5}"/>
    <dgm:cxn modelId="{11FBEE60-04CD-4249-9884-C6FBC6BFD07C}" srcId="{620F17B6-BD36-46AB-9B51-59DF32AAB4B9}" destId="{E6904D12-1CC4-4D85-889E-19527CC17C21}" srcOrd="1" destOrd="0" parTransId="{6A859AD5-B894-4997-A2C0-1FFBDBDC76BA}" sibTransId="{5D7B7F03-A43A-40A4-B3E4-7A3B658AA072}"/>
    <dgm:cxn modelId="{42526480-5C59-4CBA-B893-3F2152E740D6}" srcId="{620F17B6-BD36-46AB-9B51-59DF32AAB4B9}" destId="{C96E1599-D60D-4FC4-A33B-D35E256AEC89}" srcOrd="2" destOrd="0" parTransId="{0802E697-601A-416E-B974-9F9EB076BD9F}" sibTransId="{1BC5AB5D-0982-45B9-B20E-54610DFB5F5F}"/>
    <dgm:cxn modelId="{1F10178A-45E0-479E-A9DC-DA00243EE235}" type="presOf" srcId="{620F17B6-BD36-46AB-9B51-59DF32AAB4B9}" destId="{B8A901EA-6B81-41EF-A5C0-401AB64DE9BB}" srcOrd="0" destOrd="0" presId="urn:microsoft.com/office/officeart/2018/2/layout/IconVerticalSolidList"/>
    <dgm:cxn modelId="{C7EA1592-A213-41BC-B61D-EFD75621700D}" type="presOf" srcId="{C96E1599-D60D-4FC4-A33B-D35E256AEC89}" destId="{0A907781-2BBE-4123-9ACE-D40188A76901}" srcOrd="0" destOrd="0" presId="urn:microsoft.com/office/officeart/2018/2/layout/IconVerticalSolidList"/>
    <dgm:cxn modelId="{2F6FABAD-BAEC-4374-81F3-D014FFD93A89}" type="presOf" srcId="{166829B1-A667-473A-BE55-E806C277835A}" destId="{ECB32006-91C5-41B3-B992-538BD4049CA4}" srcOrd="0" destOrd="0" presId="urn:microsoft.com/office/officeart/2018/2/layout/IconVerticalSolidList"/>
    <dgm:cxn modelId="{FF4F31B4-3BC9-4AFB-B843-C59093BCB30A}" srcId="{620F17B6-BD36-46AB-9B51-59DF32AAB4B9}" destId="{166829B1-A667-473A-BE55-E806C277835A}" srcOrd="0" destOrd="0" parTransId="{6BF0AFBD-152F-486C-A485-99031B7514ED}" sibTransId="{6711BF65-0862-4FA8-ABFB-3EBB9991F777}"/>
    <dgm:cxn modelId="{7393CEE2-127A-4FC0-B807-E54662680380}" type="presOf" srcId="{E6904D12-1CC4-4D85-889E-19527CC17C21}" destId="{65D40B20-7134-4A9F-B302-4DF101A02E22}" srcOrd="0" destOrd="0" presId="urn:microsoft.com/office/officeart/2018/2/layout/IconVerticalSolidList"/>
    <dgm:cxn modelId="{FD524A77-999C-4741-8418-7E762E51C938}" type="presParOf" srcId="{B8A901EA-6B81-41EF-A5C0-401AB64DE9BB}" destId="{8890CBBC-7C44-49D2-84FF-4FE679F9DD44}" srcOrd="0" destOrd="0" presId="urn:microsoft.com/office/officeart/2018/2/layout/IconVerticalSolidList"/>
    <dgm:cxn modelId="{CFF848F4-26C1-4E4C-92E8-B6F44E237CAF}" type="presParOf" srcId="{8890CBBC-7C44-49D2-84FF-4FE679F9DD44}" destId="{2900558B-F401-4CEC-A05B-62E59A2AFF56}" srcOrd="0" destOrd="0" presId="urn:microsoft.com/office/officeart/2018/2/layout/IconVerticalSolidList"/>
    <dgm:cxn modelId="{E577D38C-4CDD-4137-883D-125FA231F58F}" type="presParOf" srcId="{8890CBBC-7C44-49D2-84FF-4FE679F9DD44}" destId="{7A6DEAFD-A72D-46E8-8EF3-7A062232C464}" srcOrd="1" destOrd="0" presId="urn:microsoft.com/office/officeart/2018/2/layout/IconVerticalSolidList"/>
    <dgm:cxn modelId="{B94DB546-EEC3-477D-8FF7-2353C0E87663}" type="presParOf" srcId="{8890CBBC-7C44-49D2-84FF-4FE679F9DD44}" destId="{CC613CF2-4608-44C0-B67D-325D7B147294}" srcOrd="2" destOrd="0" presId="urn:microsoft.com/office/officeart/2018/2/layout/IconVerticalSolidList"/>
    <dgm:cxn modelId="{842033F7-B2FE-4263-AEF5-0229D383CE58}" type="presParOf" srcId="{8890CBBC-7C44-49D2-84FF-4FE679F9DD44}" destId="{ECB32006-91C5-41B3-B992-538BD4049CA4}" srcOrd="3" destOrd="0" presId="urn:microsoft.com/office/officeart/2018/2/layout/IconVerticalSolidList"/>
    <dgm:cxn modelId="{1D704008-BAA7-4601-B828-467E5C5A11E9}" type="presParOf" srcId="{B8A901EA-6B81-41EF-A5C0-401AB64DE9BB}" destId="{F0304A45-7C19-41D0-A4F6-BEE7F3A1FBCD}" srcOrd="1" destOrd="0" presId="urn:microsoft.com/office/officeart/2018/2/layout/IconVerticalSolidList"/>
    <dgm:cxn modelId="{FEA2138D-3792-4BB4-B5B8-444847C9C47F}" type="presParOf" srcId="{B8A901EA-6B81-41EF-A5C0-401AB64DE9BB}" destId="{F56951B4-5A18-4E91-873F-036100F256A3}" srcOrd="2" destOrd="0" presId="urn:microsoft.com/office/officeart/2018/2/layout/IconVerticalSolidList"/>
    <dgm:cxn modelId="{7F84FB6C-E54A-4FF4-AFDA-BF7862011F98}" type="presParOf" srcId="{F56951B4-5A18-4E91-873F-036100F256A3}" destId="{957C8DC1-57B0-48A5-9F09-035998CE7B4F}" srcOrd="0" destOrd="0" presId="urn:microsoft.com/office/officeart/2018/2/layout/IconVerticalSolidList"/>
    <dgm:cxn modelId="{280082BA-5AE4-4942-AC57-677A1BFA0BC3}" type="presParOf" srcId="{F56951B4-5A18-4E91-873F-036100F256A3}" destId="{4316F5A4-8519-4BA2-BB11-DEF3C6D1E94E}" srcOrd="1" destOrd="0" presId="urn:microsoft.com/office/officeart/2018/2/layout/IconVerticalSolidList"/>
    <dgm:cxn modelId="{79483CD3-85EC-482B-A8F6-7C1232C22E35}" type="presParOf" srcId="{F56951B4-5A18-4E91-873F-036100F256A3}" destId="{51550527-C562-4F1B-9650-0E0116ADF814}" srcOrd="2" destOrd="0" presId="urn:microsoft.com/office/officeart/2018/2/layout/IconVerticalSolidList"/>
    <dgm:cxn modelId="{54CA7664-E0AA-4F68-9989-BB3AED192C10}" type="presParOf" srcId="{F56951B4-5A18-4E91-873F-036100F256A3}" destId="{65D40B20-7134-4A9F-B302-4DF101A02E22}" srcOrd="3" destOrd="0" presId="urn:microsoft.com/office/officeart/2018/2/layout/IconVerticalSolidList"/>
    <dgm:cxn modelId="{703E4C3C-00F2-4ED2-A766-B38FFB676B46}" type="presParOf" srcId="{B8A901EA-6B81-41EF-A5C0-401AB64DE9BB}" destId="{1EF2E9B5-5B0F-42BE-BBC5-544AB8C4860E}" srcOrd="3" destOrd="0" presId="urn:microsoft.com/office/officeart/2018/2/layout/IconVerticalSolidList"/>
    <dgm:cxn modelId="{BF5E671A-3723-46C5-BAFB-D10FE91048B6}" type="presParOf" srcId="{B8A901EA-6B81-41EF-A5C0-401AB64DE9BB}" destId="{2642CA58-CF04-45EF-865B-474A6230A992}" srcOrd="4" destOrd="0" presId="urn:microsoft.com/office/officeart/2018/2/layout/IconVerticalSolidList"/>
    <dgm:cxn modelId="{5D4376D9-A355-4803-BC0A-DB58F4F66061}" type="presParOf" srcId="{2642CA58-CF04-45EF-865B-474A6230A992}" destId="{5572FFA3-5676-4731-BDA1-37B3EF39402A}" srcOrd="0" destOrd="0" presId="urn:microsoft.com/office/officeart/2018/2/layout/IconVerticalSolidList"/>
    <dgm:cxn modelId="{26270632-4447-4F07-83D1-79C0D09A801D}" type="presParOf" srcId="{2642CA58-CF04-45EF-865B-474A6230A992}" destId="{AFC4FE2E-280B-4AC9-A882-229D02BB3A48}" srcOrd="1" destOrd="0" presId="urn:microsoft.com/office/officeart/2018/2/layout/IconVerticalSolidList"/>
    <dgm:cxn modelId="{A52F011A-B62E-472F-B738-219F3782EEEA}" type="presParOf" srcId="{2642CA58-CF04-45EF-865B-474A6230A992}" destId="{70F7FD0E-64F6-4CA2-8E80-82C691018F6C}" srcOrd="2" destOrd="0" presId="urn:microsoft.com/office/officeart/2018/2/layout/IconVerticalSolidList"/>
    <dgm:cxn modelId="{5DECE72A-FCD9-431B-B846-64E25F698319}" type="presParOf" srcId="{2642CA58-CF04-45EF-865B-474A6230A992}" destId="{0A907781-2BBE-4123-9ACE-D40188A76901}" srcOrd="3" destOrd="0" presId="urn:microsoft.com/office/officeart/2018/2/layout/IconVerticalSolidList"/>
    <dgm:cxn modelId="{37E973C2-B655-4A89-B621-DDCCB64CAA96}" type="presParOf" srcId="{B8A901EA-6B81-41EF-A5C0-401AB64DE9BB}" destId="{5DA6AA36-9D56-4D3D-A487-D46341FB5FCF}" srcOrd="5" destOrd="0" presId="urn:microsoft.com/office/officeart/2018/2/layout/IconVerticalSolidList"/>
    <dgm:cxn modelId="{6BE98B1F-5BD5-41BF-BA6A-3A44E1DFCF8E}" type="presParOf" srcId="{B8A901EA-6B81-41EF-A5C0-401AB64DE9BB}" destId="{84374722-B70E-4081-91C7-973B3E4966D0}" srcOrd="6" destOrd="0" presId="urn:microsoft.com/office/officeart/2018/2/layout/IconVerticalSolidList"/>
    <dgm:cxn modelId="{89E2AD59-7546-4B31-B81D-D5AB8E881132}" type="presParOf" srcId="{84374722-B70E-4081-91C7-973B3E4966D0}" destId="{EA6652BD-FD7D-43B8-8C80-882F595AF454}" srcOrd="0" destOrd="0" presId="urn:microsoft.com/office/officeart/2018/2/layout/IconVerticalSolidList"/>
    <dgm:cxn modelId="{436A55A1-D9E7-459D-A29C-12E73F53B5EB}" type="presParOf" srcId="{84374722-B70E-4081-91C7-973B3E4966D0}" destId="{DE15E7B7-0FA5-46D1-AF80-FF8453FCCCC1}" srcOrd="1" destOrd="0" presId="urn:microsoft.com/office/officeart/2018/2/layout/IconVerticalSolidList"/>
    <dgm:cxn modelId="{7E457C2B-1ED4-4136-B557-C3345D153E14}" type="presParOf" srcId="{84374722-B70E-4081-91C7-973B3E4966D0}" destId="{F615D561-F4C2-46E5-87A2-B73E97FD99A2}" srcOrd="2" destOrd="0" presId="urn:microsoft.com/office/officeart/2018/2/layout/IconVerticalSolidList"/>
    <dgm:cxn modelId="{D9D99C31-F8A0-49D0-B404-7704479C47F4}" type="presParOf" srcId="{84374722-B70E-4081-91C7-973B3E4966D0}" destId="{7D860B18-1FC3-44B6-AD51-0A49004402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00558B-F401-4CEC-A05B-62E59A2AFF56}">
      <dsp:nvSpPr>
        <dsp:cNvPr id="0" name=""/>
        <dsp:cNvSpPr/>
      </dsp:nvSpPr>
      <dsp:spPr>
        <a:xfrm>
          <a:off x="0" y="1469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DEAFD-A72D-46E8-8EF3-7A062232C464}">
      <dsp:nvSpPr>
        <dsp:cNvPr id="0" name=""/>
        <dsp:cNvSpPr/>
      </dsp:nvSpPr>
      <dsp:spPr>
        <a:xfrm>
          <a:off x="225364" y="169096"/>
          <a:ext cx="409752" cy="409752"/>
        </a:xfrm>
        <a:prstGeom prst="rect">
          <a:avLst/>
        </a:prstGeom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32006-91C5-41B3-B992-538BD4049CA4}">
      <dsp:nvSpPr>
        <dsp:cNvPr id="0" name=""/>
        <dsp:cNvSpPr/>
      </dsp:nvSpPr>
      <dsp:spPr>
        <a:xfrm>
          <a:off x="860480" y="1469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1: Inject error and drive it to scoreboard</a:t>
          </a:r>
        </a:p>
      </dsp:txBody>
      <dsp:txXfrm>
        <a:off x="860480" y="1469"/>
        <a:ext cx="3886606" cy="745005"/>
      </dsp:txXfrm>
    </dsp:sp>
    <dsp:sp modelId="{957C8DC1-57B0-48A5-9F09-035998CE7B4F}">
      <dsp:nvSpPr>
        <dsp:cNvPr id="0" name=""/>
        <dsp:cNvSpPr/>
      </dsp:nvSpPr>
      <dsp:spPr>
        <a:xfrm>
          <a:off x="0" y="932726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6F5A4-8519-4BA2-BB11-DEF3C6D1E94E}">
      <dsp:nvSpPr>
        <dsp:cNvPr id="0" name=""/>
        <dsp:cNvSpPr/>
      </dsp:nvSpPr>
      <dsp:spPr>
        <a:xfrm>
          <a:off x="225364" y="1100352"/>
          <a:ext cx="409752" cy="409752"/>
        </a:xfrm>
        <a:prstGeom prst="rect">
          <a:avLst/>
        </a:prstGeom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40B20-7134-4A9F-B302-4DF101A02E22}">
      <dsp:nvSpPr>
        <dsp:cNvPr id="0" name=""/>
        <dsp:cNvSpPr/>
      </dsp:nvSpPr>
      <dsp:spPr>
        <a:xfrm>
          <a:off x="860480" y="932726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2: Frame synchronization. </a:t>
          </a:r>
        </a:p>
      </dsp:txBody>
      <dsp:txXfrm>
        <a:off x="860480" y="932726"/>
        <a:ext cx="3886606" cy="745005"/>
      </dsp:txXfrm>
    </dsp:sp>
    <dsp:sp modelId="{5572FFA3-5676-4731-BDA1-37B3EF39402A}">
      <dsp:nvSpPr>
        <dsp:cNvPr id="0" name=""/>
        <dsp:cNvSpPr/>
      </dsp:nvSpPr>
      <dsp:spPr>
        <a:xfrm>
          <a:off x="0" y="1863982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4FE2E-280B-4AC9-A882-229D02BB3A48}">
      <dsp:nvSpPr>
        <dsp:cNvPr id="0" name=""/>
        <dsp:cNvSpPr/>
      </dsp:nvSpPr>
      <dsp:spPr>
        <a:xfrm>
          <a:off x="225364" y="2031608"/>
          <a:ext cx="409752" cy="409752"/>
        </a:xfrm>
        <a:prstGeom prst="rect">
          <a:avLst/>
        </a:prstGeom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07781-2BBE-4123-9ACE-D40188A76901}">
      <dsp:nvSpPr>
        <dsp:cNvPr id="0" name=""/>
        <dsp:cNvSpPr/>
      </dsp:nvSpPr>
      <dsp:spPr>
        <a:xfrm>
          <a:off x="860480" y="1863982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3: Control Frame synchronization.</a:t>
          </a:r>
        </a:p>
      </dsp:txBody>
      <dsp:txXfrm>
        <a:off x="860480" y="1863982"/>
        <a:ext cx="3886606" cy="745005"/>
      </dsp:txXfrm>
    </dsp:sp>
    <dsp:sp modelId="{EA6652BD-FD7D-43B8-8C80-882F595AF454}">
      <dsp:nvSpPr>
        <dsp:cNvPr id="0" name=""/>
        <dsp:cNvSpPr/>
      </dsp:nvSpPr>
      <dsp:spPr>
        <a:xfrm>
          <a:off x="0" y="2795238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5E7B7-0FA5-46D1-AF80-FF8453FCCCC1}">
      <dsp:nvSpPr>
        <dsp:cNvPr id="0" name=""/>
        <dsp:cNvSpPr/>
      </dsp:nvSpPr>
      <dsp:spPr>
        <a:xfrm>
          <a:off x="225364" y="2962865"/>
          <a:ext cx="409752" cy="409752"/>
        </a:xfrm>
        <a:prstGeom prst="rect">
          <a:avLst/>
        </a:prstGeom>
        <a:blipFill rotWithShape="1"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60B18-1FC3-44B6-AD51-0A49004402D5}">
      <dsp:nvSpPr>
        <dsp:cNvPr id="0" name=""/>
        <dsp:cNvSpPr/>
      </dsp:nvSpPr>
      <dsp:spPr>
        <a:xfrm>
          <a:off x="860480" y="2795238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4: Reset Payload after each frame. </a:t>
          </a:r>
        </a:p>
      </dsp:txBody>
      <dsp:txXfrm>
        <a:off x="860480" y="2795238"/>
        <a:ext cx="3886606" cy="7450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00558B-F401-4CEC-A05B-62E59A2AFF56}">
      <dsp:nvSpPr>
        <dsp:cNvPr id="0" name=""/>
        <dsp:cNvSpPr/>
      </dsp:nvSpPr>
      <dsp:spPr>
        <a:xfrm>
          <a:off x="0" y="1469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DEAFD-A72D-46E8-8EF3-7A062232C464}">
      <dsp:nvSpPr>
        <dsp:cNvPr id="0" name=""/>
        <dsp:cNvSpPr/>
      </dsp:nvSpPr>
      <dsp:spPr>
        <a:xfrm>
          <a:off x="225364" y="169096"/>
          <a:ext cx="409752" cy="409752"/>
        </a:xfrm>
        <a:prstGeom prst="rect">
          <a:avLst/>
        </a:prstGeom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32006-91C5-41B3-B992-538BD4049CA4}">
      <dsp:nvSpPr>
        <dsp:cNvPr id="0" name=""/>
        <dsp:cNvSpPr/>
      </dsp:nvSpPr>
      <dsp:spPr>
        <a:xfrm>
          <a:off x="860480" y="1469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1: Inject error and drive it to scoreboard</a:t>
          </a:r>
        </a:p>
      </dsp:txBody>
      <dsp:txXfrm>
        <a:off x="860480" y="1469"/>
        <a:ext cx="3886606" cy="745005"/>
      </dsp:txXfrm>
    </dsp:sp>
    <dsp:sp modelId="{957C8DC1-57B0-48A5-9F09-035998CE7B4F}">
      <dsp:nvSpPr>
        <dsp:cNvPr id="0" name=""/>
        <dsp:cNvSpPr/>
      </dsp:nvSpPr>
      <dsp:spPr>
        <a:xfrm>
          <a:off x="0" y="932726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6F5A4-8519-4BA2-BB11-DEF3C6D1E94E}">
      <dsp:nvSpPr>
        <dsp:cNvPr id="0" name=""/>
        <dsp:cNvSpPr/>
      </dsp:nvSpPr>
      <dsp:spPr>
        <a:xfrm>
          <a:off x="225364" y="1100352"/>
          <a:ext cx="409752" cy="409752"/>
        </a:xfrm>
        <a:prstGeom prst="rect">
          <a:avLst/>
        </a:prstGeom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40B20-7134-4A9F-B302-4DF101A02E22}">
      <dsp:nvSpPr>
        <dsp:cNvPr id="0" name=""/>
        <dsp:cNvSpPr/>
      </dsp:nvSpPr>
      <dsp:spPr>
        <a:xfrm>
          <a:off x="860480" y="932726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2: Frame synchronization. </a:t>
          </a:r>
        </a:p>
      </dsp:txBody>
      <dsp:txXfrm>
        <a:off x="860480" y="932726"/>
        <a:ext cx="3886606" cy="745005"/>
      </dsp:txXfrm>
    </dsp:sp>
    <dsp:sp modelId="{5572FFA3-5676-4731-BDA1-37B3EF39402A}">
      <dsp:nvSpPr>
        <dsp:cNvPr id="0" name=""/>
        <dsp:cNvSpPr/>
      </dsp:nvSpPr>
      <dsp:spPr>
        <a:xfrm>
          <a:off x="0" y="1863982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4FE2E-280B-4AC9-A882-229D02BB3A48}">
      <dsp:nvSpPr>
        <dsp:cNvPr id="0" name=""/>
        <dsp:cNvSpPr/>
      </dsp:nvSpPr>
      <dsp:spPr>
        <a:xfrm>
          <a:off x="225364" y="2031608"/>
          <a:ext cx="409752" cy="409752"/>
        </a:xfrm>
        <a:prstGeom prst="rect">
          <a:avLst/>
        </a:prstGeom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07781-2BBE-4123-9ACE-D40188A76901}">
      <dsp:nvSpPr>
        <dsp:cNvPr id="0" name=""/>
        <dsp:cNvSpPr/>
      </dsp:nvSpPr>
      <dsp:spPr>
        <a:xfrm>
          <a:off x="860480" y="1863982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3: Control Frame synchronization.</a:t>
          </a:r>
        </a:p>
      </dsp:txBody>
      <dsp:txXfrm>
        <a:off x="860480" y="1863982"/>
        <a:ext cx="3886606" cy="745005"/>
      </dsp:txXfrm>
    </dsp:sp>
    <dsp:sp modelId="{EA6652BD-FD7D-43B8-8C80-882F595AF454}">
      <dsp:nvSpPr>
        <dsp:cNvPr id="0" name=""/>
        <dsp:cNvSpPr/>
      </dsp:nvSpPr>
      <dsp:spPr>
        <a:xfrm>
          <a:off x="0" y="2795238"/>
          <a:ext cx="4747087" cy="745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5E7B7-0FA5-46D1-AF80-FF8453FCCCC1}">
      <dsp:nvSpPr>
        <dsp:cNvPr id="0" name=""/>
        <dsp:cNvSpPr/>
      </dsp:nvSpPr>
      <dsp:spPr>
        <a:xfrm>
          <a:off x="225364" y="2962865"/>
          <a:ext cx="409752" cy="409752"/>
        </a:xfrm>
        <a:prstGeom prst="rect">
          <a:avLst/>
        </a:prstGeom>
        <a:blipFill rotWithShape="1"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60B18-1FC3-44B6-AD51-0A49004402D5}">
      <dsp:nvSpPr>
        <dsp:cNvPr id="0" name=""/>
        <dsp:cNvSpPr/>
      </dsp:nvSpPr>
      <dsp:spPr>
        <a:xfrm>
          <a:off x="860480" y="2795238"/>
          <a:ext cx="3886606" cy="745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846" tIns="78846" rIns="78846" bIns="7884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4: Reset Payload after each frame. </a:t>
          </a:r>
        </a:p>
      </dsp:txBody>
      <dsp:txXfrm>
        <a:off x="860480" y="2795238"/>
        <a:ext cx="3886606" cy="7450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A3E78-71CB-49EF-BD36-528443EEC716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5BC6E-0E2C-4EF2-8073-69543CF37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56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980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81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796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729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086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938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885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727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975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542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027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9310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103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146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91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002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074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819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122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460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517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470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7697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908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574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5665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467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f6abbe5ae3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g3f6abbe5a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f6abbe5ae3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g3f6abbe5a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30094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14082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1591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08672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88795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44085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4225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1047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Google Shape;11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5477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8224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4011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735C-4CAE-93F9-E66B-09A176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04F72-A4A4-3AF0-A2D6-15BD3DA28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CD0A2-2C23-4244-B1A3-C70B819B7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FE846-E080-0B2C-A3DE-C32405467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5302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9752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6899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259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667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3023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881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025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5434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4242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2603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7870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5790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41180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3011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4518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9704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95145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0899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5BC6E-0E2C-4EF2-8073-69543CF3779E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16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305B5-34F7-5690-9818-FD9AEFFE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05E5C-67EF-4EF0-B48C-54BCDCB7FF21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CC9CEE-1CA1-09D7-4A58-4C2759EC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E8350-B64A-32B7-09B9-EE39793F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94822372-27B5-495E-ACA8-BFA8F945A6A4}" type="slidenum">
              <a:rPr lang="en-US" smtClean="0"/>
              <a:pPr/>
              <a:t>‹#›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3516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CABBE-74BF-4E42-A411-884030A1A72B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9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A1E70-D229-4848-A6D9-0A0BF19C08A7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2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6AFA-19D8-4AD4-96B7-C97C4CF80531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51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6E2F-5FB2-4CDD-8A7F-BC0C2CDADEAE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A71E-EF56-4CFB-94FD-7274907CCFEF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1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8215-3A3B-4F04-A5CE-5575217FFB8C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9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DBAA-D625-4060-B99A-1C8253CEA145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9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EF1C-888E-42C7-BBBE-358DEE7B0C29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2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F5A6-70FC-451E-936B-D085E39A3D13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DD9F5-5F03-4DA6-9514-921C59C474BE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44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671D-C0BD-4B4A-A04F-4EE81FD43AD7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8599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12F55-BA44-4D17-82C0-904C94820A50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8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18FE7-7AF4-4B18-9EF5-72ECAC6361BF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4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20353-7B02-4DE2-BBA4-BD71DA8B65C8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09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D844C-7C68-4D24-A23C-A2EA365BEB6C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23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A4BB-02A1-4804-BCD1-BCBED8EFED1A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64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07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908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909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0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1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2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3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4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5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6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7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8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9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80640" tIns="45000" rIns="806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-44640" rIns="0" bIns="-44640" anchor="t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1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1560" tIns="45000" rIns="615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2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3440" tIns="45000" rIns="734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3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1280" tIns="45000" rIns="712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4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880" tIns="45000" rIns="568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5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6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7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8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42480" tIns="45000" rIns="42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9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0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1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2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3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4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5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36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937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8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9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0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1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2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3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4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5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6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1141560" y="1110240"/>
            <a:ext cx="990540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</a:p>
        </p:txBody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  <p:sp>
        <p:nvSpPr>
          <p:cNvPr id="949" name="PlaceHolder 3"/>
          <p:cNvSpPr>
            <a:spLocks noGrp="1"/>
          </p:cNvSpPr>
          <p:nvPr>
            <p:ph type="body"/>
          </p:nvPr>
        </p:nvSpPr>
        <p:spPr>
          <a:xfrm>
            <a:off x="364140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  <p:sp>
        <p:nvSpPr>
          <p:cNvPr id="950" name="PlaceHolder 4"/>
          <p:cNvSpPr>
            <a:spLocks noGrp="1"/>
          </p:cNvSpPr>
          <p:nvPr>
            <p:ph type="ftr" idx="55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51" name="PlaceHolder 5"/>
          <p:cNvSpPr>
            <a:spLocks noGrp="1"/>
          </p:cNvSpPr>
          <p:nvPr>
            <p:ph type="sldNum" idx="56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52" name="PlaceHolder 6"/>
          <p:cNvSpPr>
            <a:spLocks noGrp="1"/>
          </p:cNvSpPr>
          <p:nvPr>
            <p:ph type="dt" idx="57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EDD7BE-8851-4CED-8339-CB76BF4D2F74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8/10/2026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993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0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48C86-F860-48AD-AB30-B049C47337F2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BE200F-B27A-4E27-B67B-04C847CA763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8/10/2026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865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23803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3641400" y="2249640"/>
            <a:ext cx="23803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E943B-02CA-415A-8435-74E6CC15A1ED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DF74F9-E28F-4C72-91B4-AA82710DD0C6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8/10/2026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815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0" name="PlaceHolder 2"/>
          <p:cNvSpPr>
            <a:spLocks noGrp="1"/>
          </p:cNvSpPr>
          <p:nvPr>
            <p:ph type="subTitle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48C86-F860-48AD-AB30-B049C47337F2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526CD-76F5-4E25-A92F-3C5755DF6D6E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8/10/2026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843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3600" b="0" u="none" strike="noStrike" cap="all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1141560" y="2249640"/>
            <a:ext cx="23803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3641400" y="2249640"/>
            <a:ext cx="2380320" cy="35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4"/>
          </p:nvPr>
        </p:nvSpPr>
        <p:spPr/>
        <p:txBody>
          <a:bodyPr/>
          <a:lstStyle>
            <a:lvl1pPr>
              <a:defRPr sz="3200"/>
            </a:lvl1pPr>
          </a:lstStyle>
          <a:p>
            <a:pPr>
              <a:defRPr/>
            </a:pPr>
            <a:fld id="{357E943B-02CA-415A-8435-74E6CC15A1ED}" type="slidenum">
              <a:rPr lang="en-GB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en-GB" sz="3200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29880-8F86-400A-87FE-2FBFC75B213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8/10/2026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4145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62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863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864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5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6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7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8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9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0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1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2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3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4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80640" tIns="45000" rIns="806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5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-44640" rIns="0" bIns="-44640" anchor="t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6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1560" tIns="45000" rIns="615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7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3440" tIns="45000" rIns="734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8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1280" tIns="45000" rIns="712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9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880" tIns="45000" rIns="568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0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1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2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3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42480" tIns="45000" rIns="42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4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5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6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7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8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9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0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891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892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3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4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5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6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7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8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9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0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1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02" name="PlaceHolder 1"/>
          <p:cNvSpPr>
            <a:spLocks noGrp="1"/>
          </p:cNvSpPr>
          <p:nvPr>
            <p:ph type="title"/>
          </p:nvPr>
        </p:nvSpPr>
        <p:spPr>
          <a:xfrm>
            <a:off x="1141560" y="1110240"/>
            <a:ext cx="990540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</a:p>
        </p:txBody>
      </p:sp>
      <p:sp>
        <p:nvSpPr>
          <p:cNvPr id="903" name="PlaceHolder 2"/>
          <p:cNvSpPr>
            <a:spLocks noGrp="1"/>
          </p:cNvSpPr>
          <p:nvPr>
            <p:ph type="ftr" idx="52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sldNum" idx="53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CBB512E9-7364-4288-B2F9-A6D9CA46E892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05" name="PlaceHolder 4"/>
          <p:cNvSpPr>
            <a:spLocks noGrp="1"/>
          </p:cNvSpPr>
          <p:nvPr>
            <p:ph type="dt" idx="54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EAD775-2044-49A0-9DBB-4D65259394D5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8/10/2026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1542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07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908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909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0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1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2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3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4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5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6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7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8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9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80640" tIns="45000" rIns="806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0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-44640" rIns="0" bIns="-44640" anchor="t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1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1560" tIns="45000" rIns="615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2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3440" tIns="45000" rIns="734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3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1280" tIns="45000" rIns="712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4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880" tIns="45000" rIns="568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5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6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7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8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42480" tIns="45000" rIns="42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9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0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1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2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3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4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5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36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937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8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9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0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1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2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3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4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5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6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1141560" y="1110240"/>
            <a:ext cx="990540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</a:p>
        </p:txBody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  <p:sp>
        <p:nvSpPr>
          <p:cNvPr id="949" name="PlaceHolder 3"/>
          <p:cNvSpPr>
            <a:spLocks noGrp="1"/>
          </p:cNvSpPr>
          <p:nvPr>
            <p:ph type="body"/>
          </p:nvPr>
        </p:nvSpPr>
        <p:spPr>
          <a:xfrm>
            <a:off x="364140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  <p:sp>
        <p:nvSpPr>
          <p:cNvPr id="950" name="PlaceHolder 4"/>
          <p:cNvSpPr>
            <a:spLocks noGrp="1"/>
          </p:cNvSpPr>
          <p:nvPr>
            <p:ph type="ftr" idx="55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51" name="PlaceHolder 5"/>
          <p:cNvSpPr>
            <a:spLocks noGrp="1"/>
          </p:cNvSpPr>
          <p:nvPr>
            <p:ph type="sldNum" idx="56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52" name="PlaceHolder 6"/>
          <p:cNvSpPr>
            <a:spLocks noGrp="1"/>
          </p:cNvSpPr>
          <p:nvPr>
            <p:ph type="dt" idx="57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87D6F4-E148-4890-82A0-14EB271E1261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8/10/2026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5382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Picture 2" descr="\\DROBO-FS\QuickDrops\JB\PPTX NG\Droplets\LightingOverlay.png"/>
          <p:cNvPicPr/>
          <p:nvPr/>
        </p:nvPicPr>
        <p:blipFill>
          <a:blip r:embed="rId2">
            <a:alphaModFix amt="30000"/>
          </a:blip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54" name="Group 7"/>
          <p:cNvGrpSpPr/>
          <p:nvPr/>
        </p:nvGrpSpPr>
        <p:grpSpPr>
          <a:xfrm>
            <a:off x="-14400" y="0"/>
            <a:ext cx="12053160" cy="6857280"/>
            <a:chOff x="-14400" y="0"/>
            <a:chExt cx="12053160" cy="6857280"/>
          </a:xfrm>
        </p:grpSpPr>
        <p:grpSp>
          <p:nvGrpSpPr>
            <p:cNvPr id="955" name="Group 8"/>
            <p:cNvGrpSpPr/>
            <p:nvPr/>
          </p:nvGrpSpPr>
          <p:grpSpPr>
            <a:xfrm>
              <a:off x="-14400" y="0"/>
              <a:ext cx="1220400" cy="6857280"/>
              <a:chOff x="-14400" y="0"/>
              <a:chExt cx="1220400" cy="6857280"/>
            </a:xfrm>
          </p:grpSpPr>
          <p:sp>
            <p:nvSpPr>
              <p:cNvPr id="909" name="Rectangle 5"/>
              <p:cNvSpPr/>
              <p:nvPr/>
            </p:nvSpPr>
            <p:spPr>
              <a:xfrm>
                <a:off x="114480" y="468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0" name="Freeform 6"/>
              <p:cNvSpPr/>
              <p:nvPr/>
            </p:nvSpPr>
            <p:spPr>
              <a:xfrm>
                <a:off x="33480" y="217656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1" name="Freeform 7"/>
              <p:cNvSpPr/>
              <p:nvPr/>
            </p:nvSpPr>
            <p:spPr>
              <a:xfrm>
                <a:off x="28440" y="4021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2" name="Freeform 8"/>
              <p:cNvSpPr/>
              <p:nvPr/>
            </p:nvSpPr>
            <p:spPr>
              <a:xfrm>
                <a:off x="200160" y="4680"/>
                <a:ext cx="369000" cy="181044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10440"/>
                  <a:gd name="textAreaBottom" fmla="*/ 1811160 h 181044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3" name="Freeform 9"/>
              <p:cNvSpPr/>
              <p:nvPr/>
            </p:nvSpPr>
            <p:spPr>
              <a:xfrm>
                <a:off x="503280" y="18018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4" name="Freeform 10"/>
              <p:cNvSpPr/>
              <p:nvPr/>
            </p:nvSpPr>
            <p:spPr>
              <a:xfrm>
                <a:off x="285840" y="4680"/>
                <a:ext cx="369000" cy="142956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429560"/>
                  <a:gd name="textAreaBottom" fmla="*/ 1430280 h 142956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5" name="Freeform 11"/>
              <p:cNvSpPr/>
              <p:nvPr/>
            </p:nvSpPr>
            <p:spPr>
              <a:xfrm>
                <a:off x="546120" y="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6" name="Freeform 12"/>
              <p:cNvSpPr/>
              <p:nvPr/>
            </p:nvSpPr>
            <p:spPr>
              <a:xfrm>
                <a:off x="588960" y="14209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7" name="Freeform 13"/>
              <p:cNvSpPr/>
              <p:nvPr/>
            </p:nvSpPr>
            <p:spPr>
              <a:xfrm>
                <a:off x="588960" y="9032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8" name="Freeform 14"/>
              <p:cNvSpPr/>
              <p:nvPr/>
            </p:nvSpPr>
            <p:spPr>
              <a:xfrm>
                <a:off x="641520" y="0"/>
                <a:ext cx="421560" cy="526320"/>
              </a:xfrm>
              <a:custGeom>
                <a:avLst/>
                <a:gdLst>
                  <a:gd name="textAreaLeft" fmla="*/ 0 w 421560"/>
                  <a:gd name="textAreaRight" fmla="*/ 422280 w 421560"/>
                  <a:gd name="textAreaTop" fmla="*/ 0 h 526320"/>
                  <a:gd name="textAreaBottom" fmla="*/ 527040 h 52632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9" name="Freeform 15"/>
              <p:cNvSpPr/>
              <p:nvPr/>
            </p:nvSpPr>
            <p:spPr>
              <a:xfrm>
                <a:off x="1020600" y="488880"/>
                <a:ext cx="161280" cy="146880"/>
              </a:xfrm>
              <a:custGeom>
                <a:avLst/>
                <a:gdLst>
                  <a:gd name="textAreaLeft" fmla="*/ 0 w 161280"/>
                  <a:gd name="textAreaRight" fmla="*/ 162000 w 16128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80640" tIns="45000" rIns="806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-44640" rIns="0" bIns="-44640" anchor="t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1" name="Freeform 17"/>
              <p:cNvSpPr/>
              <p:nvPr/>
            </p:nvSpPr>
            <p:spPr>
              <a:xfrm>
                <a:off x="9360" y="1801800"/>
                <a:ext cx="123120" cy="126360"/>
              </a:xfrm>
              <a:custGeom>
                <a:avLst/>
                <a:gdLst>
                  <a:gd name="textAreaLeft" fmla="*/ 0 w 123120"/>
                  <a:gd name="textAreaRight" fmla="*/ 123840 w 123120"/>
                  <a:gd name="textAreaTop" fmla="*/ 0 h 126360"/>
                  <a:gd name="textAreaBottom" fmla="*/ 127080 h 12636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1560" tIns="45000" rIns="615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2" name="Freeform 18"/>
              <p:cNvSpPr/>
              <p:nvPr/>
            </p:nvSpPr>
            <p:spPr>
              <a:xfrm>
                <a:off x="-9360" y="3549600"/>
                <a:ext cx="146880" cy="480240"/>
              </a:xfrm>
              <a:custGeom>
                <a:avLst/>
                <a:gdLst>
                  <a:gd name="textAreaLeft" fmla="*/ 0 w 146880"/>
                  <a:gd name="textAreaRight" fmla="*/ 147600 w 146880"/>
                  <a:gd name="textAreaTop" fmla="*/ 0 h 480240"/>
                  <a:gd name="textAreaBottom" fmla="*/ 480960 h 48024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3440" tIns="45000" rIns="7344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3" name="Freeform 19"/>
              <p:cNvSpPr/>
              <p:nvPr/>
            </p:nvSpPr>
            <p:spPr>
              <a:xfrm>
                <a:off x="128520" y="1382760"/>
                <a:ext cx="142200" cy="475560"/>
              </a:xfrm>
              <a:custGeom>
                <a:avLst/>
                <a:gdLst>
                  <a:gd name="textAreaLeft" fmla="*/ 0 w 142200"/>
                  <a:gd name="textAreaRight" fmla="*/ 142920 w 142200"/>
                  <a:gd name="textAreaTop" fmla="*/ 0 h 475560"/>
                  <a:gd name="textAreaBottom" fmla="*/ 476280 h 47556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1280" tIns="45000" rIns="712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4" name="Freeform 20"/>
              <p:cNvSpPr/>
              <p:nvPr/>
            </p:nvSpPr>
            <p:spPr>
              <a:xfrm>
                <a:off x="204840" y="1849320"/>
                <a:ext cx="113760" cy="107280"/>
              </a:xfrm>
              <a:custGeom>
                <a:avLst/>
                <a:gdLst>
                  <a:gd name="textAreaLeft" fmla="*/ 0 w 113760"/>
                  <a:gd name="textAreaRight" fmla="*/ 114480 w 113760"/>
                  <a:gd name="textAreaTop" fmla="*/ 0 h 107280"/>
                  <a:gd name="textAreaBottom" fmla="*/ 108000 h 10728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880" tIns="45000" rIns="568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5" name="Rectangle 21"/>
              <p:cNvSpPr/>
              <p:nvPr/>
            </p:nvSpPr>
            <p:spPr>
              <a:xfrm>
                <a:off x="133200" y="4662360"/>
                <a:ext cx="23040" cy="218052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6" name="Freeform 22"/>
              <p:cNvSpPr/>
              <p:nvPr/>
            </p:nvSpPr>
            <p:spPr>
              <a:xfrm>
                <a:off x="223920" y="5041800"/>
                <a:ext cx="369000" cy="1801080"/>
              </a:xfrm>
              <a:custGeom>
                <a:avLst/>
                <a:gdLst>
                  <a:gd name="textAreaLeft" fmla="*/ 0 w 369000"/>
                  <a:gd name="textAreaRight" fmla="*/ 369720 w 36900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7" name="Freeform 23"/>
              <p:cNvSpPr/>
              <p:nvPr/>
            </p:nvSpPr>
            <p:spPr>
              <a:xfrm>
                <a:off x="52560" y="4481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8" name="Freeform 24"/>
              <p:cNvSpPr/>
              <p:nvPr/>
            </p:nvSpPr>
            <p:spPr>
              <a:xfrm>
                <a:off x="-14400" y="5627520"/>
                <a:ext cx="84960" cy="1215360"/>
              </a:xfrm>
              <a:custGeom>
                <a:avLst/>
                <a:gdLst>
                  <a:gd name="textAreaLeft" fmla="*/ 0 w 84960"/>
                  <a:gd name="textAreaRight" fmla="*/ 85680 w 84960"/>
                  <a:gd name="textAreaTop" fmla="*/ 0 h 1215360"/>
                  <a:gd name="textAreaBottom" fmla="*/ 1216080 h 121536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42480" tIns="45000" rIns="42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29" name="Freeform 25"/>
              <p:cNvSpPr/>
              <p:nvPr/>
            </p:nvSpPr>
            <p:spPr>
              <a:xfrm>
                <a:off x="527040" y="486720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0" name="Freeform 26"/>
              <p:cNvSpPr/>
              <p:nvPr/>
            </p:nvSpPr>
            <p:spPr>
              <a:xfrm>
                <a:off x="309600" y="5423040"/>
                <a:ext cx="374040" cy="1424880"/>
              </a:xfrm>
              <a:custGeom>
                <a:avLst/>
                <a:gdLst>
                  <a:gd name="textAreaLeft" fmla="*/ 0 w 374040"/>
                  <a:gd name="textAreaRight" fmla="*/ 374760 w 374040"/>
                  <a:gd name="textAreaTop" fmla="*/ 0 h 1424880"/>
                  <a:gd name="textAreaBottom" fmla="*/ 1425600 h 142488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1" name="Freeform 27"/>
              <p:cNvSpPr/>
              <p:nvPr/>
            </p:nvSpPr>
            <p:spPr>
              <a:xfrm>
                <a:off x="569880" y="5945040"/>
                <a:ext cx="151560" cy="912240"/>
              </a:xfrm>
              <a:custGeom>
                <a:avLst/>
                <a:gdLst>
                  <a:gd name="textAreaLeft" fmla="*/ 0 w 151560"/>
                  <a:gd name="textAreaRight" fmla="*/ 152280 w 151560"/>
                  <a:gd name="textAreaTop" fmla="*/ 0 h 912240"/>
                  <a:gd name="textAreaBottom" fmla="*/ 912960 h 91224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5960" tIns="45000" rIns="7596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2" name="Freeform 28"/>
              <p:cNvSpPr/>
              <p:nvPr/>
            </p:nvSpPr>
            <p:spPr>
              <a:xfrm>
                <a:off x="612720" y="524664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3" name="Freeform 29"/>
              <p:cNvSpPr/>
              <p:nvPr/>
            </p:nvSpPr>
            <p:spPr>
              <a:xfrm>
                <a:off x="612720" y="5764320"/>
                <a:ext cx="189720" cy="18972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4" name="Freeform 30"/>
              <p:cNvSpPr/>
              <p:nvPr/>
            </p:nvSpPr>
            <p:spPr>
              <a:xfrm>
                <a:off x="669960" y="6330960"/>
                <a:ext cx="416880" cy="51696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6960"/>
                  <a:gd name="textAreaBottom" fmla="*/ 517680 h 51696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5" name="Freeform 31"/>
              <p:cNvSpPr/>
              <p:nvPr/>
            </p:nvSpPr>
            <p:spPr>
              <a:xfrm>
                <a:off x="1049400" y="6221520"/>
                <a:ext cx="156600" cy="14688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46880"/>
                  <a:gd name="textAreaBottom" fmla="*/ 147600 h 14688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57" name="Group 9"/>
            <p:cNvGrpSpPr/>
            <p:nvPr/>
          </p:nvGrpSpPr>
          <p:grpSpPr>
            <a:xfrm>
              <a:off x="11364840" y="0"/>
              <a:ext cx="673920" cy="6847920"/>
              <a:chOff x="11364840" y="0"/>
              <a:chExt cx="673920" cy="6847920"/>
            </a:xfrm>
          </p:grpSpPr>
          <p:sp>
            <p:nvSpPr>
              <p:cNvPr id="937" name="Freeform 32"/>
              <p:cNvSpPr/>
              <p:nvPr/>
            </p:nvSpPr>
            <p:spPr>
              <a:xfrm>
                <a:off x="11484000" y="0"/>
                <a:ext cx="416880" cy="511920"/>
              </a:xfrm>
              <a:custGeom>
                <a:avLst/>
                <a:gdLst>
                  <a:gd name="textAreaLeft" fmla="*/ 0 w 416880"/>
                  <a:gd name="textAreaRight" fmla="*/ 417600 w 416880"/>
                  <a:gd name="textAreaTop" fmla="*/ 0 h 511920"/>
                  <a:gd name="textAreaBottom" fmla="*/ 512640 h 51192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8" name="Freeform 33"/>
              <p:cNvSpPr/>
              <p:nvPr/>
            </p:nvSpPr>
            <p:spPr>
              <a:xfrm>
                <a:off x="11364840" y="474840"/>
                <a:ext cx="156600" cy="15156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1560"/>
                  <a:gd name="textAreaBottom" fmla="*/ 152280 h 15156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39" name="Freeform 34"/>
              <p:cNvSpPr/>
              <p:nvPr/>
            </p:nvSpPr>
            <p:spPr>
              <a:xfrm>
                <a:off x="11631600" y="1539720"/>
                <a:ext cx="188280" cy="18972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9720"/>
                  <a:gd name="textAreaBottom" fmla="*/ 190440 h 18972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0" name="Freeform 35"/>
              <p:cNvSpPr/>
              <p:nvPr/>
            </p:nvSpPr>
            <p:spPr>
              <a:xfrm>
                <a:off x="11531520" y="5694480"/>
                <a:ext cx="297720" cy="1153440"/>
              </a:xfrm>
              <a:custGeom>
                <a:avLst/>
                <a:gdLst>
                  <a:gd name="textAreaLeft" fmla="*/ 0 w 297720"/>
                  <a:gd name="textAreaRight" fmla="*/ 298440 w 297720"/>
                  <a:gd name="textAreaTop" fmla="*/ 0 h 1153440"/>
                  <a:gd name="textAreaBottom" fmla="*/ 1154160 h 115344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1" name="Freeform 36"/>
              <p:cNvSpPr/>
              <p:nvPr/>
            </p:nvSpPr>
            <p:spPr>
              <a:xfrm>
                <a:off x="11773080" y="5551560"/>
                <a:ext cx="156600" cy="154800"/>
              </a:xfrm>
              <a:custGeom>
                <a:avLst/>
                <a:gdLst>
                  <a:gd name="textAreaLeft" fmla="*/ 0 w 156600"/>
                  <a:gd name="textAreaRight" fmla="*/ 157320 w 156600"/>
                  <a:gd name="textAreaTop" fmla="*/ 0 h 154800"/>
                  <a:gd name="textAreaBottom" fmla="*/ 155520 h 15480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8480" tIns="45000" rIns="7848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2" name="Freeform 37"/>
              <p:cNvSpPr/>
              <p:nvPr/>
            </p:nvSpPr>
            <p:spPr>
              <a:xfrm>
                <a:off x="11711160" y="4680"/>
                <a:ext cx="304200" cy="1544040"/>
              </a:xfrm>
              <a:custGeom>
                <a:avLst/>
                <a:gdLst>
                  <a:gd name="textAreaLeft" fmla="*/ 0 w 304200"/>
                  <a:gd name="textAreaRight" fmla="*/ 304920 w 304200"/>
                  <a:gd name="textAreaTop" fmla="*/ 0 h 1544040"/>
                  <a:gd name="textAreaBottom" fmla="*/ 1544760 h 154404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3" name="Freeform 38"/>
              <p:cNvSpPr/>
              <p:nvPr/>
            </p:nvSpPr>
            <p:spPr>
              <a:xfrm>
                <a:off x="11636280" y="4867200"/>
                <a:ext cx="188280" cy="188280"/>
              </a:xfrm>
              <a:custGeom>
                <a:avLst/>
                <a:gdLst>
                  <a:gd name="textAreaLeft" fmla="*/ 0 w 188280"/>
                  <a:gd name="textAreaRight" fmla="*/ 189000 w 18828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4" name="Freeform 39"/>
              <p:cNvSpPr/>
              <p:nvPr/>
            </p:nvSpPr>
            <p:spPr>
              <a:xfrm>
                <a:off x="11441160" y="5046840"/>
                <a:ext cx="307080" cy="1801080"/>
              </a:xfrm>
              <a:custGeom>
                <a:avLst/>
                <a:gdLst>
                  <a:gd name="textAreaLeft" fmla="*/ 0 w 307080"/>
                  <a:gd name="textAreaRight" fmla="*/ 307800 w 307080"/>
                  <a:gd name="textAreaTop" fmla="*/ 0 h 1801080"/>
                  <a:gd name="textAreaBottom" fmla="*/ 1801800 h 180108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5" name="Freeform 40"/>
              <p:cNvSpPr/>
              <p:nvPr/>
            </p:nvSpPr>
            <p:spPr>
              <a:xfrm>
                <a:off x="11849040" y="6416640"/>
                <a:ext cx="189720" cy="188280"/>
              </a:xfrm>
              <a:custGeom>
                <a:avLst/>
                <a:gdLst>
                  <a:gd name="textAreaLeft" fmla="*/ 0 w 189720"/>
                  <a:gd name="textAreaRight" fmla="*/ 190440 w 189720"/>
                  <a:gd name="textAreaTop" fmla="*/ 0 h 188280"/>
                  <a:gd name="textAreaBottom" fmla="*/ 189000 h 1882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46" name="Rectangle 41"/>
              <p:cNvSpPr/>
              <p:nvPr/>
            </p:nvSpPr>
            <p:spPr>
              <a:xfrm>
                <a:off x="11939760" y="6595920"/>
                <a:ext cx="23040" cy="25164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45000" rIns="1152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1141560" y="1110240"/>
            <a:ext cx="9905400" cy="49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the title text format</a:t>
            </a:r>
          </a:p>
        </p:txBody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  <p:sp>
        <p:nvSpPr>
          <p:cNvPr id="960" name="PlaceHolder 3"/>
          <p:cNvSpPr>
            <a:spLocks noGrp="1"/>
          </p:cNvSpPr>
          <p:nvPr>
            <p:ph type="body"/>
          </p:nvPr>
        </p:nvSpPr>
        <p:spPr>
          <a:xfrm>
            <a:off x="3641400" y="2249640"/>
            <a:ext cx="2379960" cy="354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7pPr>
          </a:lstStyle>
          <a:p>
            <a:pPr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highlight>
                  <a:srgbClr val="EA7500"/>
                </a:highlight>
                <a:uFillTx/>
                <a:latin typeface="Tw Cen MT"/>
              </a:rPr>
              <a:t>Third Outline Level</a:t>
            </a:r>
          </a:p>
          <a:p>
            <a:pPr marL="1728000" lvl="3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  <p:sp>
        <p:nvSpPr>
          <p:cNvPr id="961" name="PlaceHolder 4"/>
          <p:cNvSpPr>
            <a:spLocks noGrp="1"/>
          </p:cNvSpPr>
          <p:nvPr>
            <p:ph type="ftr" idx="58"/>
          </p:nvPr>
        </p:nvSpPr>
        <p:spPr>
          <a:xfrm>
            <a:off x="1141560" y="5883120"/>
            <a:ext cx="62384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62" name="PlaceHolder 5"/>
          <p:cNvSpPr>
            <a:spLocks noGrp="1"/>
          </p:cNvSpPr>
          <p:nvPr>
            <p:ph type="sldNum" idx="59"/>
          </p:nvPr>
        </p:nvSpPr>
        <p:spPr>
          <a:xfrm>
            <a:off x="10276200" y="5883120"/>
            <a:ext cx="770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2FE15D71-B2D9-496E-ABA2-37761EE4C4BE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63" name="PlaceHolder 6"/>
          <p:cNvSpPr>
            <a:spLocks noGrp="1"/>
          </p:cNvSpPr>
          <p:nvPr>
            <p:ph type="dt" idx="60"/>
          </p:nvPr>
        </p:nvSpPr>
        <p:spPr>
          <a:xfrm>
            <a:off x="7457040" y="58831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87AF20-0926-4756-A3FF-B0D7A5EF7130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8/10/2026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85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CCA6E-609E-4605-967A-C43BBC03C60D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22372-27B5-495E-ACA8-BFA8F945A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2" descr="\\DROBO-FS\QuickDrops\JB\PPTX NG\Droplets\LightingOverlay.png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6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86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86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89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9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905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76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906" name="PlaceHolder 4"/>
          <p:cNvSpPr>
            <a:spLocks noGrp="1"/>
          </p:cNvSpPr>
          <p:nvPr>
            <p:ph type="dt" idx="52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DD029F-0A39-4916-9E72-4C579A19B344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8/10/2026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07" name="PlaceHolder 5"/>
          <p:cNvSpPr>
            <a:spLocks noGrp="1"/>
          </p:cNvSpPr>
          <p:nvPr>
            <p:ph type="ftr" idx="53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08" name="PlaceHolder 6"/>
          <p:cNvSpPr>
            <a:spLocks noGrp="1"/>
          </p:cNvSpPr>
          <p:nvPr>
            <p:ph type="sldNum" idx="54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4BCB0-0061-40DA-9D61-EC77FA7F5F67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74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2" descr="\\DROBO-FS\QuickDrops\JB\PPTX NG\Droplets\LightingOverlay.png"/>
          <p:cNvPicPr/>
          <p:nvPr/>
        </p:nvPicPr>
        <p:blipFill>
          <a:blip r:embed="rId4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63" name="Group 7"/>
          <p:cNvGrpSpPr/>
          <p:nvPr/>
        </p:nvGrpSpPr>
        <p:grpSpPr>
          <a:xfrm>
            <a:off x="-14400" y="0"/>
            <a:ext cx="12053520" cy="6857640"/>
            <a:chOff x="-14400" y="0"/>
            <a:chExt cx="12053520" cy="6857640"/>
          </a:xfrm>
        </p:grpSpPr>
        <p:grpSp>
          <p:nvGrpSpPr>
            <p:cNvPr id="864" name="Group 8"/>
            <p:cNvGrpSpPr/>
            <p:nvPr/>
          </p:nvGrpSpPr>
          <p:grpSpPr>
            <a:xfrm>
              <a:off x="-14400" y="0"/>
              <a:ext cx="1220760" cy="6857640"/>
              <a:chOff x="-14400" y="0"/>
              <a:chExt cx="1220760" cy="6857640"/>
            </a:xfrm>
          </p:grpSpPr>
          <p:sp>
            <p:nvSpPr>
              <p:cNvPr id="865" name="Rectangle 5"/>
              <p:cNvSpPr/>
              <p:nvPr/>
            </p:nvSpPr>
            <p:spPr>
              <a:xfrm>
                <a:off x="114480" y="468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6" name="Freeform 6"/>
              <p:cNvSpPr/>
              <p:nvPr/>
            </p:nvSpPr>
            <p:spPr>
              <a:xfrm>
                <a:off x="33480" y="217656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7" name="Freeform 7"/>
              <p:cNvSpPr/>
              <p:nvPr/>
            </p:nvSpPr>
            <p:spPr>
              <a:xfrm>
                <a:off x="28440" y="4021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8" name="Freeform 8"/>
              <p:cNvSpPr/>
              <p:nvPr/>
            </p:nvSpPr>
            <p:spPr>
              <a:xfrm>
                <a:off x="200160" y="4680"/>
                <a:ext cx="369360" cy="181080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10800"/>
                  <a:gd name="textAreaBottom" fmla="*/ 1811160 h 1810800"/>
                </a:gdLst>
                <a:ahLst/>
                <a:cxnLst/>
                <a:rect l="textAreaLeft" t="textAreaTop" r="textAreaRight" b="textAreaBottom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9" name="Freeform 9"/>
              <p:cNvSpPr/>
              <p:nvPr/>
            </p:nvSpPr>
            <p:spPr>
              <a:xfrm>
                <a:off x="503280" y="18018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0" name="Freeform 10"/>
              <p:cNvSpPr/>
              <p:nvPr/>
            </p:nvSpPr>
            <p:spPr>
              <a:xfrm>
                <a:off x="285840" y="4680"/>
                <a:ext cx="369360" cy="142992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429920"/>
                  <a:gd name="textAreaBottom" fmla="*/ 1430280 h 1429920"/>
                </a:gdLst>
                <a:ahLst/>
                <a:cxnLst/>
                <a:rect l="textAreaLeft" t="textAreaTop" r="textAreaRight" b="textAreaBottom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1" name="Freeform 11"/>
              <p:cNvSpPr/>
              <p:nvPr/>
            </p:nvSpPr>
            <p:spPr>
              <a:xfrm>
                <a:off x="546120" y="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2" name="Freeform 12"/>
              <p:cNvSpPr/>
              <p:nvPr/>
            </p:nvSpPr>
            <p:spPr>
              <a:xfrm>
                <a:off x="588960" y="14209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3" name="Freeform 13"/>
              <p:cNvSpPr/>
              <p:nvPr/>
            </p:nvSpPr>
            <p:spPr>
              <a:xfrm>
                <a:off x="588960" y="9032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4" name="Freeform 14"/>
              <p:cNvSpPr/>
              <p:nvPr/>
            </p:nvSpPr>
            <p:spPr>
              <a:xfrm>
                <a:off x="641520" y="0"/>
                <a:ext cx="421920" cy="526680"/>
              </a:xfrm>
              <a:custGeom>
                <a:avLst/>
                <a:gdLst>
                  <a:gd name="textAreaLeft" fmla="*/ 0 w 421920"/>
                  <a:gd name="textAreaRight" fmla="*/ 422280 w 421920"/>
                  <a:gd name="textAreaTop" fmla="*/ 0 h 526680"/>
                  <a:gd name="textAreaBottom" fmla="*/ 527040 h 526680"/>
                </a:gdLst>
                <a:ahLst/>
                <a:cxnLst/>
                <a:rect l="textAreaLeft" t="textAreaTop" r="textAreaRight" b="textAreaBottom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5" name="Freeform 15"/>
              <p:cNvSpPr/>
              <p:nvPr/>
            </p:nvSpPr>
            <p:spPr>
              <a:xfrm>
                <a:off x="1020600" y="488880"/>
                <a:ext cx="161640" cy="1472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6" name="Line 16"/>
              <p:cNvSpPr/>
              <p:nvPr/>
            </p:nvSpPr>
            <p:spPr>
              <a:xfrm>
                <a:off x="-4680" y="9360"/>
                <a:ext cx="360" cy="360"/>
              </a:xfrm>
              <a:prstGeom prst="line">
                <a:avLst/>
              </a:prstGeom>
              <a:ln w="15">
                <a:solidFill>
                  <a:srgbClr val="FFFFF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7" name="Freeform 17"/>
              <p:cNvSpPr/>
              <p:nvPr/>
            </p:nvSpPr>
            <p:spPr>
              <a:xfrm>
                <a:off x="9360" y="1801800"/>
                <a:ext cx="123480" cy="1267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8" name="Freeform 18"/>
              <p:cNvSpPr/>
              <p:nvPr/>
            </p:nvSpPr>
            <p:spPr>
              <a:xfrm>
                <a:off x="-9360" y="3549600"/>
                <a:ext cx="147240" cy="480600"/>
              </a:xfrm>
              <a:custGeom>
                <a:avLst/>
                <a:gdLst>
                  <a:gd name="textAreaLeft" fmla="*/ 0 w 147240"/>
                  <a:gd name="textAreaRight" fmla="*/ 147600 w 147240"/>
                  <a:gd name="textAreaTop" fmla="*/ 0 h 480600"/>
                  <a:gd name="textAreaBottom" fmla="*/ 480960 h 480600"/>
                </a:gdLst>
                <a:ahLst/>
                <a:cxnLst/>
                <a:rect l="textAreaLeft" t="textAreaTop" r="textAreaRight" b="textAreaBottom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9" name="Freeform 19"/>
              <p:cNvSpPr/>
              <p:nvPr/>
            </p:nvSpPr>
            <p:spPr>
              <a:xfrm>
                <a:off x="128520" y="1382760"/>
                <a:ext cx="142560" cy="475920"/>
              </a:xfrm>
              <a:custGeom>
                <a:avLst/>
                <a:gdLst>
                  <a:gd name="textAreaLeft" fmla="*/ 0 w 142560"/>
                  <a:gd name="textAreaRight" fmla="*/ 142920 w 142560"/>
                  <a:gd name="textAreaTop" fmla="*/ 0 h 475920"/>
                  <a:gd name="textAreaBottom" fmla="*/ 476280 h 475920"/>
                </a:gdLst>
                <a:ahLst/>
                <a:cxnLst/>
                <a:rect l="textAreaLeft" t="textAreaTop" r="textAreaRight" b="textAreaBottom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0" name="Freeform 20"/>
              <p:cNvSpPr/>
              <p:nvPr/>
            </p:nvSpPr>
            <p:spPr>
              <a:xfrm>
                <a:off x="204840" y="1849320"/>
                <a:ext cx="114120" cy="10764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1" name="Rectangle 21"/>
              <p:cNvSpPr/>
              <p:nvPr/>
            </p:nvSpPr>
            <p:spPr>
              <a:xfrm>
                <a:off x="133200" y="4662360"/>
                <a:ext cx="23400" cy="218088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2" name="Freeform 22"/>
              <p:cNvSpPr/>
              <p:nvPr/>
            </p:nvSpPr>
            <p:spPr>
              <a:xfrm>
                <a:off x="223920" y="5041800"/>
                <a:ext cx="369360" cy="1801440"/>
              </a:xfrm>
              <a:custGeom>
                <a:avLst/>
                <a:gdLst>
                  <a:gd name="textAreaLeft" fmla="*/ 0 w 369360"/>
                  <a:gd name="textAreaRight" fmla="*/ 369720 w 36936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3" name="Freeform 23"/>
              <p:cNvSpPr/>
              <p:nvPr/>
            </p:nvSpPr>
            <p:spPr>
              <a:xfrm>
                <a:off x="52560" y="4481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4" name="Freeform 24"/>
              <p:cNvSpPr/>
              <p:nvPr/>
            </p:nvSpPr>
            <p:spPr>
              <a:xfrm>
                <a:off x="-14400" y="5627520"/>
                <a:ext cx="85320" cy="12157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1215720"/>
                  <a:gd name="textAreaBottom" fmla="*/ 1216080 h 1215720"/>
                </a:gdLst>
                <a:ahLst/>
                <a:cxnLst/>
                <a:rect l="textAreaLeft" t="textAreaTop" r="textAreaRight" b="textAreaBottom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5" name="Freeform 25"/>
              <p:cNvSpPr/>
              <p:nvPr/>
            </p:nvSpPr>
            <p:spPr>
              <a:xfrm>
                <a:off x="527040" y="486720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6" name="Freeform 26"/>
              <p:cNvSpPr/>
              <p:nvPr/>
            </p:nvSpPr>
            <p:spPr>
              <a:xfrm>
                <a:off x="309600" y="5423040"/>
                <a:ext cx="374400" cy="1425240"/>
              </a:xfrm>
              <a:custGeom>
                <a:avLst/>
                <a:gdLst>
                  <a:gd name="textAreaLeft" fmla="*/ 0 w 374400"/>
                  <a:gd name="textAreaRight" fmla="*/ 374760 w 374400"/>
                  <a:gd name="textAreaTop" fmla="*/ 0 h 1425240"/>
                  <a:gd name="textAreaBottom" fmla="*/ 1425600 h 1425240"/>
                </a:gdLst>
                <a:ahLst/>
                <a:cxnLst/>
                <a:rect l="textAreaLeft" t="textAreaTop" r="textAreaRight" b="textAreaBottom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7" name="Freeform 27"/>
              <p:cNvSpPr/>
              <p:nvPr/>
            </p:nvSpPr>
            <p:spPr>
              <a:xfrm>
                <a:off x="569880" y="5945040"/>
                <a:ext cx="151920" cy="91260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912600"/>
                  <a:gd name="textAreaBottom" fmla="*/ 912960 h 912600"/>
                </a:gdLst>
                <a:ahLst/>
                <a:cxnLst/>
                <a:rect l="textAreaLeft" t="textAreaTop" r="textAreaRight" b="textAreaBottom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8" name="Freeform 28"/>
              <p:cNvSpPr/>
              <p:nvPr/>
            </p:nvSpPr>
            <p:spPr>
              <a:xfrm>
                <a:off x="612720" y="524664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9" name="Freeform 29"/>
              <p:cNvSpPr/>
              <p:nvPr/>
            </p:nvSpPr>
            <p:spPr>
              <a:xfrm>
                <a:off x="612720" y="5764320"/>
                <a:ext cx="190080" cy="19008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0" name="Freeform 30"/>
              <p:cNvSpPr/>
              <p:nvPr/>
            </p:nvSpPr>
            <p:spPr>
              <a:xfrm>
                <a:off x="669960" y="6330960"/>
                <a:ext cx="417240" cy="51732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7320"/>
                  <a:gd name="textAreaBottom" fmla="*/ 517680 h 517320"/>
                </a:gdLst>
                <a:ahLst/>
                <a:cxnLst/>
                <a:rect l="textAreaLeft" t="textAreaTop" r="textAreaRight" b="textAreaBottom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1" name="Freeform 31"/>
              <p:cNvSpPr/>
              <p:nvPr/>
            </p:nvSpPr>
            <p:spPr>
              <a:xfrm>
                <a:off x="1049400" y="6221520"/>
                <a:ext cx="156960" cy="14724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47240"/>
                  <a:gd name="textAreaBottom" fmla="*/ 147600 h 147240"/>
                </a:gdLst>
                <a:ahLst/>
                <a:cxnLst/>
                <a:rect l="textAreaLeft" t="textAreaTop" r="textAreaRight" b="textAreaBottom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/>
                  </a:gs>
                  <a:gs pos="100000">
                    <a:srgbClr val="40AF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892" name="Group 9"/>
            <p:cNvGrpSpPr/>
            <p:nvPr/>
          </p:nvGrpSpPr>
          <p:grpSpPr>
            <a:xfrm>
              <a:off x="11364840" y="0"/>
              <a:ext cx="674280" cy="6848280"/>
              <a:chOff x="11364840" y="0"/>
              <a:chExt cx="674280" cy="6848280"/>
            </a:xfrm>
          </p:grpSpPr>
          <p:sp>
            <p:nvSpPr>
              <p:cNvPr id="893" name="Freeform 32"/>
              <p:cNvSpPr/>
              <p:nvPr/>
            </p:nvSpPr>
            <p:spPr>
              <a:xfrm>
                <a:off x="11484000" y="0"/>
                <a:ext cx="417240" cy="512280"/>
              </a:xfrm>
              <a:custGeom>
                <a:avLst/>
                <a:gdLst>
                  <a:gd name="textAreaLeft" fmla="*/ 0 w 417240"/>
                  <a:gd name="textAreaRight" fmla="*/ 417600 w 417240"/>
                  <a:gd name="textAreaTop" fmla="*/ 0 h 512280"/>
                  <a:gd name="textAreaBottom" fmla="*/ 512640 h 512280"/>
                </a:gdLst>
                <a:ahLst/>
                <a:cxnLst/>
                <a:rect l="textAreaLeft" t="textAreaTop" r="textAreaRight" b="textAreaBottom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4" name="Freeform 33"/>
              <p:cNvSpPr/>
              <p:nvPr/>
            </p:nvSpPr>
            <p:spPr>
              <a:xfrm>
                <a:off x="11364840" y="4748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5" name="Freeform 34"/>
              <p:cNvSpPr/>
              <p:nvPr/>
            </p:nvSpPr>
            <p:spPr>
              <a:xfrm>
                <a:off x="11631600" y="1539720"/>
                <a:ext cx="188640" cy="19008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6" name="Freeform 35"/>
              <p:cNvSpPr/>
              <p:nvPr/>
            </p:nvSpPr>
            <p:spPr>
              <a:xfrm>
                <a:off x="11531520" y="5694480"/>
                <a:ext cx="298080" cy="1153800"/>
              </a:xfrm>
              <a:custGeom>
                <a:avLst/>
                <a:gdLst>
                  <a:gd name="textAreaLeft" fmla="*/ 0 w 298080"/>
                  <a:gd name="textAreaRight" fmla="*/ 298440 w 298080"/>
                  <a:gd name="textAreaTop" fmla="*/ 0 h 1153800"/>
                  <a:gd name="textAreaBottom" fmla="*/ 1154160 h 1153800"/>
                </a:gdLst>
                <a:ahLst/>
                <a:cxnLst/>
                <a:rect l="textAreaLeft" t="textAreaTop" r="textAreaRight" b="textAreaBottom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7" name="Freeform 36"/>
              <p:cNvSpPr/>
              <p:nvPr/>
            </p:nvSpPr>
            <p:spPr>
              <a:xfrm>
                <a:off x="11773080" y="5551560"/>
                <a:ext cx="156960" cy="15516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5160"/>
                  <a:gd name="textAreaBottom" fmla="*/ 155520 h 155160"/>
                </a:gdLst>
                <a:ahLst/>
                <a:cxnLst/>
                <a:rect l="textAreaLeft" t="textAreaTop" r="textAreaRight" b="textAreaBottom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8" name="Freeform 37"/>
              <p:cNvSpPr/>
              <p:nvPr/>
            </p:nvSpPr>
            <p:spPr>
              <a:xfrm>
                <a:off x="11711160" y="4680"/>
                <a:ext cx="304560" cy="15444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544400"/>
                  <a:gd name="textAreaBottom" fmla="*/ 1544760 h 1544400"/>
                </a:gdLst>
                <a:ahLst/>
                <a:cxnLst/>
                <a:rect l="textAreaLeft" t="textAreaTop" r="textAreaRight" b="textAreaBottom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9" name="Freeform 38"/>
              <p:cNvSpPr/>
              <p:nvPr/>
            </p:nvSpPr>
            <p:spPr>
              <a:xfrm>
                <a:off x="11636280" y="4867200"/>
                <a:ext cx="188640" cy="188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0" name="Freeform 39"/>
              <p:cNvSpPr/>
              <p:nvPr/>
            </p:nvSpPr>
            <p:spPr>
              <a:xfrm>
                <a:off x="11441160" y="5046840"/>
                <a:ext cx="307440" cy="1801440"/>
              </a:xfrm>
              <a:custGeom>
                <a:avLst/>
                <a:gdLst>
                  <a:gd name="textAreaLeft" fmla="*/ 0 w 307440"/>
                  <a:gd name="textAreaRight" fmla="*/ 307800 w 307440"/>
                  <a:gd name="textAreaTop" fmla="*/ 0 h 1801440"/>
                  <a:gd name="textAreaBottom" fmla="*/ 1801800 h 1801440"/>
                </a:gdLst>
                <a:ahLst/>
                <a:cxnLst/>
                <a:rect l="textAreaLeft" t="textAreaTop" r="textAreaRight" b="textAreaBottom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1" name="Freeform 40"/>
              <p:cNvSpPr/>
              <p:nvPr/>
            </p:nvSpPr>
            <p:spPr>
              <a:xfrm>
                <a:off x="11849040" y="6416640"/>
                <a:ext cx="190080" cy="18864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88640"/>
                  <a:gd name="textAreaBottom" fmla="*/ 189000 h 188640"/>
                </a:gdLst>
                <a:ahLst/>
                <a:cxnLst/>
                <a:rect l="textAreaLeft" t="textAreaTop" r="textAreaRight" b="textAreaBottom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2" name="Rectangle 41"/>
              <p:cNvSpPr/>
              <p:nvPr/>
            </p:nvSpPr>
            <p:spPr>
              <a:xfrm>
                <a:off x="11939760" y="6595920"/>
                <a:ext cx="23400" cy="252000"/>
              </a:xfrm>
              <a:prstGeom prst="rect">
                <a:avLst/>
              </a:prstGeom>
              <a:gradFill rotWithShape="0">
                <a:gsLst>
                  <a:gs pos="0">
                    <a:srgbClr val="000000">
                      <a:alpha val="80000"/>
                    </a:srgbClr>
                  </a:gs>
                  <a:gs pos="100000">
                    <a:srgbClr val="40AFFF">
                      <a:alpha val="60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1141560" y="618480"/>
            <a:ext cx="99057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>
                <a:solidFill>
                  <a:schemeClr val="dk1"/>
                </a:solidFill>
                <a:effectLst/>
                <a:uFillTx/>
                <a:latin typeface="Tw Cen MT"/>
              </a:rPr>
              <a:t>Click to edit Master title style</a:t>
            </a:r>
          </a:p>
        </p:txBody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1141560" y="2249640"/>
            <a:ext cx="487800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905" name="PlaceHolder 3"/>
          <p:cNvSpPr>
            <a:spLocks noGrp="1"/>
          </p:cNvSpPr>
          <p:nvPr>
            <p:ph type="body"/>
          </p:nvPr>
        </p:nvSpPr>
        <p:spPr>
          <a:xfrm>
            <a:off x="6172200" y="2249640"/>
            <a:ext cx="4874760" cy="35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6858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11430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16002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20574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125000"/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906" name="PlaceHolder 4"/>
          <p:cNvSpPr>
            <a:spLocks noGrp="1"/>
          </p:cNvSpPr>
          <p:nvPr>
            <p:ph type="dt" idx="52"/>
          </p:nvPr>
        </p:nvSpPr>
        <p:spPr>
          <a:xfrm>
            <a:off x="7457040" y="5883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EE81A1-A1E0-4938-8412-B6AD40422447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8/10/2026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07" name="PlaceHolder 5"/>
          <p:cNvSpPr>
            <a:spLocks noGrp="1"/>
          </p:cNvSpPr>
          <p:nvPr>
            <p:ph type="ftr" idx="53"/>
          </p:nvPr>
        </p:nvSpPr>
        <p:spPr>
          <a:xfrm>
            <a:off x="1141560" y="5883120"/>
            <a:ext cx="6238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908" name="PlaceHolder 6"/>
          <p:cNvSpPr>
            <a:spLocks noGrp="1"/>
          </p:cNvSpPr>
          <p:nvPr>
            <p:ph type="sldNum" idx="54"/>
          </p:nvPr>
        </p:nvSpPr>
        <p:spPr>
          <a:xfrm>
            <a:off x="10276200" y="5883120"/>
            <a:ext cx="770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w Cen M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4BCB0-0061-40DA-9D61-EC77FA7F5F67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348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011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8.png"/><Relationship Id="rId7" Type="http://schemas.openxmlformats.org/officeDocument/2006/relationships/slide" Target="slide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5.xml"/><Relationship Id="rId5" Type="http://schemas.openxmlformats.org/officeDocument/2006/relationships/slide" Target="slide10.xml"/><Relationship Id="rId10" Type="http://schemas.openxmlformats.org/officeDocument/2006/relationships/slide" Target="slide16.xml"/><Relationship Id="rId4" Type="http://schemas.openxmlformats.org/officeDocument/2006/relationships/slide" Target="slide11.xml"/><Relationship Id="rId9" Type="http://schemas.openxmlformats.org/officeDocument/2006/relationships/slide" Target="slide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microsoft.com/office/2007/relationships/diagramDrawing" Target="../diagrams/drawing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4.png"/><Relationship Id="rId9" Type="http://schemas.microsoft.com/office/2007/relationships/diagramDrawing" Target="../diagrams/drawing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B5C8-405A-48D6-972C-52AD239FF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1536" y="1483145"/>
            <a:ext cx="9077714" cy="238760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002060"/>
                </a:solidFill>
                <a:latin typeface="Bookman Old Style" panose="02050604050505020204" pitchFamily="18" charset="0"/>
              </a:rPr>
              <a:t>VERIFICATION OF Ethernet MAC LAYER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569803" y="4266483"/>
            <a:ext cx="6460887" cy="544846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Graduation Project Final Discussion</a:t>
            </a:r>
          </a:p>
          <a:p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40" y="278342"/>
            <a:ext cx="1148832" cy="17327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160" y="192200"/>
            <a:ext cx="1905000" cy="190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01CD9D-9D90-15A9-4D9D-9DDA552E1B0C}"/>
              </a:ext>
            </a:extLst>
          </p:cNvPr>
          <p:cNvSpPr txBox="1"/>
          <p:nvPr/>
        </p:nvSpPr>
        <p:spPr>
          <a:xfrm>
            <a:off x="2051536" y="5289431"/>
            <a:ext cx="10037213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GB" sz="2000" dirty="0">
                <a:latin typeface="Monotype Corsiva" panose="03010101010201010101" pitchFamily="66" charset="0"/>
              </a:rPr>
              <a:t>sponsored </a:t>
            </a:r>
            <a:r>
              <a:rPr lang="en-GB" sz="2000" dirty="0">
                <a:solidFill>
                  <a:schemeClr val="dk1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 By : </a:t>
            </a:r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PYRAMIDTECH</a:t>
            </a:r>
            <a:r>
              <a:rPr lang="en-GB" sz="2000" dirty="0">
                <a:solidFill>
                  <a:schemeClr val="dk1"/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                                         </a:t>
            </a:r>
            <a:r>
              <a:rPr lang="en-GB" sz="2000" b="0" u="none" strike="noStrike" cap="none" dirty="0">
                <a:solidFill>
                  <a:schemeClr val="dk1"/>
                </a:solidFill>
                <a:effectLst/>
                <a:uFillTx/>
                <a:latin typeface="Monotype Corsiva" panose="03010101010201010101" pitchFamily="66" charset="0"/>
                <a:cs typeface="Arial" panose="020B0604020202020204" pitchFamily="34" charset="0"/>
              </a:rPr>
              <a:t>DR</a:t>
            </a:r>
            <a:r>
              <a:rPr lang="en-GB" sz="2000" dirty="0">
                <a:solidFill>
                  <a:schemeClr val="dk1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.</a:t>
            </a:r>
            <a:r>
              <a:rPr lang="en-GB" sz="2000" b="0" u="none" strike="noStrike" cap="none" dirty="0">
                <a:solidFill>
                  <a:schemeClr val="dk1"/>
                </a:solidFill>
                <a:effectLst/>
                <a:uFillTx/>
                <a:latin typeface="Monotype Corsiva" panose="03010101010201010101" pitchFamily="66" charset="0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Ahmed Abou-Auf</a:t>
            </a: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							</a:t>
            </a:r>
            <a:r>
              <a:rPr lang="en-GB" sz="2000" dirty="0">
                <a:solidFill>
                  <a:schemeClr val="dk1"/>
                </a:solidFill>
                <a:latin typeface="Monotype Corsiva" panose="03010101010201010101" pitchFamily="66" charset="0"/>
                <a:cs typeface="Arial" panose="020B0604020202020204" pitchFamily="34" charset="0"/>
              </a:rPr>
              <a:t>     DR. </a:t>
            </a:r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Mostafa </a:t>
            </a:r>
            <a:r>
              <a:rPr lang="en-GB" sz="2000" dirty="0" err="1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Ghouneem</a:t>
            </a:r>
            <a:endParaRPr lang="en-GB" sz="2000" b="0" u="none" strike="noStrike" cap="none" dirty="0">
              <a:solidFill>
                <a:schemeClr val="bg2">
                  <a:lumMod val="50000"/>
                </a:schemeClr>
              </a:solidFill>
              <a:effectLst/>
              <a:uFillTx/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							   </a:t>
            </a:r>
            <a:r>
              <a:rPr lang="en-GB" sz="2000" dirty="0">
                <a:latin typeface="Monotype Corsiva" panose="03010101010201010101" pitchFamily="66" charset="0"/>
                <a:cs typeface="Arial" panose="020B0604020202020204" pitchFamily="34" charset="0"/>
              </a:rPr>
              <a:t>Eng.</a:t>
            </a:r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Bookman Old Style" panose="02050604050505020204" pitchFamily="18" charset="0"/>
                <a:cs typeface="Arial" panose="020B0604020202020204" pitchFamily="34" charset="0"/>
              </a:rPr>
              <a:t> ALI Maher</a:t>
            </a:r>
            <a:endParaRPr lang="en-US" sz="2000" b="0" u="none" strike="noStrike" cap="none" dirty="0">
              <a:solidFill>
                <a:schemeClr val="bg2">
                  <a:lumMod val="50000"/>
                </a:schemeClr>
              </a:solidFill>
              <a:effectLst/>
              <a:uFillTx/>
              <a:latin typeface="Bookman Old Style" panose="0205060405050502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20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1414318" y="398122"/>
            <a:ext cx="1056060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US" b="1" u="sng" dirty="0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</a:rPr>
              <a:t>Team members</a:t>
            </a:r>
            <a:endParaRPr lang="en-US" sz="3600" b="1" u="sng" strike="noStrike" cap="all" dirty="0">
              <a:solidFill>
                <a:schemeClr val="bg2">
                  <a:lumMod val="75000"/>
                </a:schemeClr>
              </a:solidFill>
              <a:effectLst/>
              <a:uFillTx/>
              <a:latin typeface="Baskerville Old Face" panose="02020602080505020303" pitchFamily="18" charset="0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862349" y="1950711"/>
            <a:ext cx="10402200" cy="393631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1001"/>
              </a:spcBef>
            </a:pPr>
            <a:r>
              <a:rPr lang="en-US" cap="none" dirty="0">
                <a:solidFill>
                  <a:srgbClr val="00206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Nada Yehia Elsayed </a:t>
            </a:r>
            <a:endParaRPr lang="ar-EG" cap="none" dirty="0">
              <a:solidFill>
                <a:srgbClr val="00206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1001"/>
              </a:spcBef>
            </a:pPr>
            <a:r>
              <a:rPr lang="en-US" cap="none" dirty="0">
                <a:solidFill>
                  <a:srgbClr val="00206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Mohammad Wael Monir</a:t>
            </a:r>
            <a:endParaRPr lang="ar-EG" cap="none" dirty="0">
              <a:solidFill>
                <a:srgbClr val="00206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cap="none" dirty="0">
                <a:solidFill>
                  <a:srgbClr val="00206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Mariam Hossam Abd-</a:t>
            </a:r>
            <a:r>
              <a:rPr lang="en-US" cap="none" dirty="0" err="1">
                <a:solidFill>
                  <a:srgbClr val="00206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Elghaffar</a:t>
            </a:r>
            <a:endParaRPr lang="en-US" cap="none" dirty="0">
              <a:solidFill>
                <a:srgbClr val="002060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ts val="1001"/>
              </a:spcBef>
            </a:pPr>
            <a:r>
              <a:rPr lang="en-US" cap="none" dirty="0">
                <a:solidFill>
                  <a:srgbClr val="002060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Muhammad Majid Abdul-Halim</a:t>
            </a:r>
          </a:p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</a:pPr>
            <a:r>
              <a:rPr lang="en-US" b="0" u="none" strike="noStrike" cap="none" dirty="0">
                <a:solidFill>
                  <a:srgbClr val="002060"/>
                </a:solidFill>
                <a:effectLst/>
                <a:uFillTx/>
                <a:latin typeface="Baskerville Old Face" panose="02020602080505020303" pitchFamily="18" charset="0"/>
                <a:cs typeface="Arial" panose="020B0604020202020204" pitchFamily="34" charset="0"/>
              </a:rPr>
              <a:t>Mounir Essam Mounir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10E93D-1514-5E2E-146F-49BA1AE11DBF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>
              <a:defRPr/>
            </a:pPr>
            <a:fld id="{357E943B-02CA-415A-8435-74E6CC15A1ED}" type="slidenum">
              <a:rPr lang="en-GB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</a:t>
            </a:fld>
            <a:endParaRPr lang="en-GB" sz="3200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98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1031358" y="398122"/>
            <a:ext cx="10943560" cy="147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agenda</a:t>
            </a:r>
            <a:endParaRPr lang="en-US" sz="3600" b="0" u="none" strike="noStrike" cap="all" dirty="0">
              <a:solidFill>
                <a:schemeClr val="bg2">
                  <a:lumMod val="50000"/>
                </a:schemeClr>
              </a:solidFill>
              <a:effectLst/>
              <a:uFillTx/>
              <a:latin typeface="Baskerville Old Face" panose="02020602080505020303" pitchFamily="18" charset="0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1255753" y="1950711"/>
            <a:ext cx="5123781" cy="393631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/>
          </a:bodyPr>
          <a:lstStyle/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Introduction to Ethernet Protocol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Ethernet MAC IP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Ethernet UVM Architecture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TX Operation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TX Verification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RX Operation</a:t>
            </a: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6851137" y="2035772"/>
            <a:ext cx="5123781" cy="457768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RX Verification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</a:rPr>
              <a:t>Control Verification</a:t>
            </a:r>
            <a:endParaRPr lang="en-US" sz="2800" cap="none" dirty="0">
              <a:solidFill>
                <a:prstClr val="black"/>
              </a:solidFill>
              <a:latin typeface="Baskerville Old Face" panose="02020602080505020303" pitchFamily="18" charset="0"/>
              <a:ea typeface="+mn-ea"/>
              <a:cs typeface="+mn-cs"/>
            </a:endParaRP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</a:rPr>
              <a:t>MII Operation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</a:rPr>
              <a:t>MII </a:t>
            </a: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Verification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Code Coverage</a:t>
            </a:r>
          </a:p>
          <a:p>
            <a:pPr marL="342900" indent="-342900">
              <a:lnSpc>
                <a:spcPct val="120000"/>
              </a:lnSpc>
              <a:spcBef>
                <a:spcPts val="1001"/>
              </a:spcBef>
              <a:buFont typeface="Wingdings" panose="05000000000000000000" pitchFamily="2" charset="2"/>
              <a:buChar char="Ø"/>
            </a:pPr>
            <a: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  <a:t>Future work</a:t>
            </a:r>
            <a:br>
              <a:rPr lang="en-US" sz="2800" cap="none" dirty="0">
                <a:solidFill>
                  <a:prstClr val="black"/>
                </a:solidFill>
                <a:latin typeface="Baskerville Old Face" panose="02020602080505020303" pitchFamily="18" charset="0"/>
                <a:ea typeface="+mn-ea"/>
                <a:cs typeface="+mn-cs"/>
              </a:rPr>
            </a:br>
            <a:endParaRPr lang="en-US" sz="2800" cap="none" dirty="0">
              <a:solidFill>
                <a:prstClr val="black"/>
              </a:solidFill>
              <a:latin typeface="Baskerville Old Face" panose="02020602080505020303" pitchFamily="18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73BBF-361D-64AB-F7C1-E1DB04BA1C54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>
              <a:defRPr/>
            </a:pPr>
            <a:fld id="{357E943B-02CA-415A-8435-74E6CC15A1ED}" type="slidenum">
              <a:rPr lang="en-GB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3</a:t>
            </a:fld>
            <a:endParaRPr lang="en-GB" sz="3200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15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192" y="2567516"/>
            <a:ext cx="6919782" cy="1862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INTRODUCTION TO ETHERNET Protocol</a:t>
            </a:r>
            <a:br>
              <a:rPr lang="en-US" sz="4000" dirty="0">
                <a:latin typeface="Times New Roman"/>
                <a:cs typeface="Times New Roman"/>
              </a:rPr>
            </a:b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7B55C-F213-3E1B-E3D8-37955CD0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4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9818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671" y="170648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Introduction to Ethernet</a:t>
            </a:r>
            <a:endParaRPr lang="en-US" sz="3600" cap="none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8066" y="1396256"/>
            <a:ext cx="10465869" cy="4377055"/>
          </a:xfrm>
        </p:spPr>
        <p:txBody>
          <a:bodyPr>
            <a:normAutofit/>
          </a:bodyPr>
          <a:lstStyle/>
          <a:p>
            <a:r>
              <a:rPr lang="en-US" b="1" dirty="0">
                <a:latin typeface="Baskerville Old Face" panose="02020602080505020303" pitchFamily="18" charset="0"/>
              </a:rPr>
              <a:t>Ethernet</a:t>
            </a:r>
            <a:r>
              <a:rPr lang="en-US" dirty="0">
                <a:latin typeface="Baskerville Old Face" panose="02020602080505020303" pitchFamily="18" charset="0"/>
              </a:rPr>
              <a:t> is the most widely used wired </a:t>
            </a:r>
            <a:r>
              <a:rPr lang="en-US" b="1" dirty="0">
                <a:latin typeface="Baskerville Old Face" panose="02020602080505020303" pitchFamily="18" charset="0"/>
              </a:rPr>
              <a:t>Local Area Network (LAN) </a:t>
            </a:r>
            <a:r>
              <a:rPr lang="en-US" dirty="0">
                <a:latin typeface="Baskerville Old Face" panose="02020602080505020303" pitchFamily="18" charset="0"/>
              </a:rPr>
              <a:t>technology, standardized by </a:t>
            </a:r>
            <a:r>
              <a:rPr lang="en-US" b="1" dirty="0">
                <a:latin typeface="Baskerville Old Face" panose="02020602080505020303" pitchFamily="18" charset="0"/>
              </a:rPr>
              <a:t>IEEE 802.3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</a:p>
          <a:p>
            <a:r>
              <a:rPr lang="en-US" b="1" dirty="0">
                <a:latin typeface="Baskerville Old Face" panose="02020602080505020303" pitchFamily="18" charset="0"/>
              </a:rPr>
              <a:t>Key Features:</a:t>
            </a:r>
            <a:endParaRPr lang="en-US" dirty="0">
              <a:latin typeface="Baskerville Old Face" panose="02020602080505020303" pitchFamily="18" charset="0"/>
            </a:endParaRPr>
          </a:p>
          <a:p>
            <a:pPr lvl="1"/>
            <a:r>
              <a:rPr lang="en-US" dirty="0">
                <a:latin typeface="Baskerville Old Face" panose="02020602080505020303" pitchFamily="18" charset="0"/>
              </a:rPr>
              <a:t>Operates at the </a:t>
            </a:r>
            <a:r>
              <a:rPr lang="en-US" b="1" dirty="0">
                <a:latin typeface="Baskerville Old Face" panose="02020602080505020303" pitchFamily="18" charset="0"/>
              </a:rPr>
              <a:t>Physical (Layer 1)</a:t>
            </a:r>
            <a:r>
              <a:rPr lang="en-US" dirty="0">
                <a:latin typeface="Baskerville Old Face" panose="02020602080505020303" pitchFamily="18" charset="0"/>
              </a:rPr>
              <a:t> and </a:t>
            </a:r>
            <a:r>
              <a:rPr lang="en-US" b="1" dirty="0">
                <a:latin typeface="Baskerville Old Face" panose="02020602080505020303" pitchFamily="18" charset="0"/>
              </a:rPr>
              <a:t>Data Link (Layer 2)</a:t>
            </a:r>
            <a:r>
              <a:rPr lang="en-US" dirty="0">
                <a:latin typeface="Baskerville Old Face" panose="02020602080505020303" pitchFamily="18" charset="0"/>
              </a:rPr>
              <a:t> of the OSI model.</a:t>
            </a:r>
          </a:p>
          <a:p>
            <a:pPr lvl="1"/>
            <a:r>
              <a:rPr lang="en-US" dirty="0">
                <a:latin typeface="Baskerville Old Face" panose="02020602080505020303" pitchFamily="18" charset="0"/>
              </a:rPr>
              <a:t>Supports multiple data rates, including </a:t>
            </a:r>
            <a:r>
              <a:rPr lang="en-US" b="1" dirty="0">
                <a:latin typeface="Baskerville Old Face" panose="02020602080505020303" pitchFamily="18" charset="0"/>
              </a:rPr>
              <a:t>10 Mbps, 100 Mbps, 1 </a:t>
            </a:r>
            <a:r>
              <a:rPr lang="en-US" b="1" dirty="0" err="1">
                <a:latin typeface="Baskerville Old Face" panose="02020602080505020303" pitchFamily="18" charset="0"/>
              </a:rPr>
              <a:t>Gbps</a:t>
            </a:r>
            <a:r>
              <a:rPr lang="en-US" b="1" dirty="0">
                <a:latin typeface="Baskerville Old Face" panose="02020602080505020303" pitchFamily="18" charset="0"/>
              </a:rPr>
              <a:t>,</a:t>
            </a:r>
            <a:r>
              <a:rPr lang="en-US" dirty="0">
                <a:latin typeface="Baskerville Old Face" panose="02020602080505020303" pitchFamily="18" charset="0"/>
              </a:rPr>
              <a:t> and higher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Baskerville Old Face" panose="02020602080505020303" pitchFamily="18" charset="0"/>
            </a:endParaRPr>
          </a:p>
          <a:p>
            <a:endParaRPr lang="en-US" dirty="0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671" y="4293609"/>
            <a:ext cx="4506092" cy="2452422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24" y="4300348"/>
            <a:ext cx="4338735" cy="244568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5392A-4925-0B69-2FF5-3C9E6D6B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5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4961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771" y="2399914"/>
            <a:ext cx="6919782" cy="1862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Ethernet MAC IP</a:t>
            </a:r>
            <a:br>
              <a:rPr lang="en-US" sz="4000" dirty="0">
                <a:latin typeface="Times New Roman"/>
                <a:cs typeface="Times New Roman"/>
              </a:rPr>
            </a:b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682D6-E0A9-0169-C176-D82C5498E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46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214" y="309732"/>
            <a:ext cx="10802932" cy="1478570"/>
          </a:xfrm>
        </p:spPr>
        <p:txBody>
          <a:bodyPr>
            <a:normAutofit/>
          </a:bodyPr>
          <a:lstStyle/>
          <a:p>
            <a:r>
              <a:rPr lang="en-US" sz="3600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MAC 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4131" y="1660746"/>
            <a:ext cx="5107450" cy="4548667"/>
          </a:xfrm>
        </p:spPr>
        <p:txBody>
          <a:bodyPr>
            <a:normAutofit fontScale="92500"/>
          </a:bodyPr>
          <a:lstStyle/>
          <a:p>
            <a:pPr lvl="1"/>
            <a:r>
              <a:rPr lang="en-US" sz="2800" dirty="0">
                <a:latin typeface="Bookman Old Style" panose="02050604050505020204" pitchFamily="18" charset="0"/>
              </a:rPr>
              <a:t>The Ethernet MAC is the lower sublayer of Layer 2 that interfaces higher-layer protocols with the Ethernet physical layer.</a:t>
            </a:r>
          </a:p>
          <a:p>
            <a:pPr marL="457200" lvl="1" indent="0">
              <a:buNone/>
            </a:pPr>
            <a:endParaRPr lang="en-US" sz="2800" dirty="0">
              <a:latin typeface="Bookman Old Style" panose="02050604050505020204" pitchFamily="18" charset="0"/>
            </a:endParaRPr>
          </a:p>
          <a:p>
            <a:pPr lvl="1"/>
            <a:r>
              <a:rPr lang="en-US" sz="2800" dirty="0">
                <a:latin typeface="Bookman Old Style" panose="02050604050505020204" pitchFamily="18" charset="0"/>
              </a:rPr>
              <a:t>This project verifies the open-source Ethernet MAC IP</a:t>
            </a:r>
            <a:r>
              <a:rPr lang="ar-EG" sz="2800" dirty="0">
                <a:latin typeface="Bookman Old Style" panose="02050604050505020204" pitchFamily="18" charset="0"/>
              </a:rPr>
              <a:t> </a:t>
            </a:r>
            <a:r>
              <a:rPr lang="en-US" sz="2800" dirty="0">
                <a:latin typeface="Bookman Old Style" panose="02050604050505020204" pitchFamily="18" charset="0"/>
              </a:rPr>
              <a:t>from </a:t>
            </a:r>
            <a:r>
              <a:rPr lang="en-US" sz="2800" dirty="0" err="1">
                <a:latin typeface="Bookman Old Style" panose="02050604050505020204" pitchFamily="18" charset="0"/>
              </a:rPr>
              <a:t>OpenCores</a:t>
            </a:r>
            <a:r>
              <a:rPr lang="en-US" sz="2800" dirty="0">
                <a:latin typeface="Bookman Old Style" panose="02050604050505020204" pitchFamily="18" charset="0"/>
              </a:rPr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" t="7407" r="3348" b="5142"/>
          <a:stretch/>
        </p:blipFill>
        <p:spPr>
          <a:xfrm>
            <a:off x="5518298" y="1199584"/>
            <a:ext cx="6673702" cy="53651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2D44A-6053-27B8-507F-3E3B619B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5028" y="6026850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7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06692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7570" y="2199204"/>
            <a:ext cx="6919782" cy="1862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Ethernet UVM Architecture</a:t>
            </a: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E3516-7477-EBD1-D003-DCF785F7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80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17" y="98459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UVM Architecture</a:t>
            </a:r>
            <a:b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</a:br>
            <a:endParaRPr lang="en-US" cap="none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2483" y="1488731"/>
            <a:ext cx="10705427" cy="7319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295" y="1137339"/>
            <a:ext cx="9279802" cy="5622202"/>
          </a:xfrm>
          <a:prstGeom prst="rect">
            <a:avLst/>
          </a:prstGeom>
        </p:spPr>
      </p:pic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2301289" y="4218717"/>
            <a:ext cx="1792586" cy="851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Rectangle 3">
            <a:hlinkClick r:id="rId5" action="ppaction://hlinksldjump"/>
          </p:cNvPr>
          <p:cNvSpPr/>
          <p:nvPr/>
        </p:nvSpPr>
        <p:spPr>
          <a:xfrm>
            <a:off x="2269602" y="3185690"/>
            <a:ext cx="1855961" cy="880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hlinkClick r:id="rId6" action="ppaction://hlinksldjump"/>
          </p:cNvPr>
          <p:cNvSpPr/>
          <p:nvPr/>
        </p:nvSpPr>
        <p:spPr>
          <a:xfrm>
            <a:off x="2301289" y="5187637"/>
            <a:ext cx="1855961" cy="795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Rectangle 7">
            <a:hlinkClick r:id="rId7" action="ppaction://hlinksldjump"/>
          </p:cNvPr>
          <p:cNvSpPr/>
          <p:nvPr/>
        </p:nvSpPr>
        <p:spPr>
          <a:xfrm>
            <a:off x="6774808" y="3232087"/>
            <a:ext cx="1901227" cy="787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Rectangle 8">
            <a:hlinkClick r:id="rId8" action="ppaction://hlinksldjump"/>
          </p:cNvPr>
          <p:cNvSpPr/>
          <p:nvPr/>
        </p:nvSpPr>
        <p:spPr>
          <a:xfrm>
            <a:off x="6774807" y="4263985"/>
            <a:ext cx="1901227" cy="7604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Rectangle 9">
            <a:hlinkClick r:id="rId9" action="ppaction://hlinksldjump"/>
          </p:cNvPr>
          <p:cNvSpPr/>
          <p:nvPr/>
        </p:nvSpPr>
        <p:spPr>
          <a:xfrm>
            <a:off x="6774808" y="5195031"/>
            <a:ext cx="1901227" cy="795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Rectangle 10">
            <a:hlinkClick r:id="rId10" action="ppaction://hlinksldjump"/>
          </p:cNvPr>
          <p:cNvSpPr/>
          <p:nvPr/>
        </p:nvSpPr>
        <p:spPr>
          <a:xfrm>
            <a:off x="4529235" y="5355529"/>
            <a:ext cx="1855961" cy="795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AC625EE-94D7-606E-BC99-EB7978AC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0414" y="5968160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9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98214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UVM Components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1539585" y="2335576"/>
            <a:ext cx="5081811" cy="365147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latin typeface="Bookman Old Style" panose="02050604050505020204" pitchFamily="18" charset="0"/>
              </a:rPr>
              <a:t>Models the external memory that the DUT accesses via its WISHBONE master port. </a:t>
            </a:r>
          </a:p>
          <a:p>
            <a:r>
              <a:rPr lang="en-US" dirty="0">
                <a:latin typeface="Bookman Old Style" panose="02050604050505020204" pitchFamily="18" charset="0"/>
              </a:rPr>
              <a:t>The DUT initiates every transaction.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 txBox="1">
            <a:spLocks/>
          </p:cNvSpPr>
          <p:nvPr/>
        </p:nvSpPr>
        <p:spPr>
          <a:xfrm>
            <a:off x="1141413" y="2110195"/>
            <a:ext cx="5479636" cy="731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Wishbone Master Agent (Reactive)</a:t>
            </a:r>
          </a:p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6" name="Picture 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752" y="2335576"/>
            <a:ext cx="4282235" cy="24253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46EB3-0758-E04B-5B54-F7CDE733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10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73493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306" y="606495"/>
            <a:ext cx="9905998" cy="1478570"/>
          </a:xfrm>
        </p:spPr>
        <p:txBody>
          <a:bodyPr/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UVM Components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5" name="Content Placeholder 4">
            <a:hlinkClick r:id="rId3" action="ppaction://hlinksldjump"/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816" y="2224009"/>
            <a:ext cx="4447177" cy="2632248"/>
          </a:xfrm>
        </p:spPr>
      </p:pic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1730305" y="2366702"/>
            <a:ext cx="5214068" cy="3504462"/>
          </a:xfrm>
        </p:spPr>
        <p:txBody>
          <a:bodyPr>
            <a:normAutofit/>
          </a:bodyPr>
          <a:lstStyle/>
          <a:p>
            <a:endParaRPr lang="en-US" b="1" dirty="0">
              <a:latin typeface="Bookman Old Style" panose="02050604050505020204" pitchFamily="18" charset="0"/>
            </a:endParaRPr>
          </a:p>
          <a:p>
            <a:r>
              <a:rPr lang="en-US" dirty="0">
                <a:latin typeface="Bookman Old Style" panose="02050604050505020204" pitchFamily="18" charset="0"/>
              </a:rPr>
              <a:t>Models the host processor (RISC/CPU) that configures the MAC. </a:t>
            </a:r>
          </a:p>
          <a:p>
            <a:pPr lvl="0"/>
            <a:r>
              <a:rPr lang="en-US" dirty="0">
                <a:latin typeface="Bookman Old Style" panose="02050604050505020204" pitchFamily="18" charset="0"/>
              </a:rPr>
              <a:t>The </a:t>
            </a:r>
            <a:r>
              <a:rPr lang="en-US" dirty="0" err="1">
                <a:latin typeface="Bookman Old Style" panose="02050604050505020204" pitchFamily="18" charset="0"/>
              </a:rPr>
              <a:t>testbench</a:t>
            </a:r>
            <a:r>
              <a:rPr lang="en-US" dirty="0">
                <a:latin typeface="Bookman Old Style" panose="02050604050505020204" pitchFamily="18" charset="0"/>
              </a:rPr>
              <a:t> initiates all transactions.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 txBox="1">
            <a:spLocks/>
          </p:cNvSpPr>
          <p:nvPr/>
        </p:nvSpPr>
        <p:spPr>
          <a:xfrm>
            <a:off x="1123306" y="2225813"/>
            <a:ext cx="5479636" cy="731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 </a:t>
            </a:r>
            <a:r>
              <a:rPr kumimoji="0" lang="en-US" sz="59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Wishbone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 Slave Agent (Active)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55E76-9889-3057-64E2-17A8DB96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11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15315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UVM Components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1692472" y="2258101"/>
            <a:ext cx="5214068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  <a:p>
            <a:r>
              <a:rPr lang="en-US" dirty="0">
                <a:latin typeface="Bookman Old Style" panose="02050604050505020204" pitchFamily="18" charset="0"/>
              </a:rPr>
              <a:t>Simulates the </a:t>
            </a:r>
            <a:r>
              <a:rPr lang="en-US" b="1" dirty="0">
                <a:latin typeface="Bookman Old Style" panose="02050604050505020204" pitchFamily="18" charset="0"/>
              </a:rPr>
              <a:t>Ethernet PHY transmitter interface</a:t>
            </a:r>
            <a:r>
              <a:rPr lang="en-US" dirty="0">
                <a:latin typeface="Bookman Old Style" panose="02050604050505020204" pitchFamily="18" charset="0"/>
              </a:rPr>
              <a:t>. </a:t>
            </a:r>
          </a:p>
          <a:p>
            <a:r>
              <a:rPr lang="en-US" dirty="0">
                <a:latin typeface="Bookman Old Style" panose="02050604050505020204" pitchFamily="18" charset="0"/>
              </a:rPr>
              <a:t>Includes a monitor to capture transmitted frames by the DUT.</a:t>
            </a: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 txBox="1">
            <a:spLocks/>
          </p:cNvSpPr>
          <p:nvPr/>
        </p:nvSpPr>
        <p:spPr>
          <a:xfrm>
            <a:off x="1236276" y="2097088"/>
            <a:ext cx="4637901" cy="731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 MII Tx Agent (Active)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11" name="Content Placeholder 10">
            <a:hlinkClick r:id="rId3" action="ppaction://hlinksldjump"/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303" y="2056432"/>
            <a:ext cx="4637901" cy="27451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28572-C173-F438-386E-40C2ECCA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12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1415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468385" y="2814826"/>
            <a:ext cx="487838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</a:rPr>
              <a:t>Simulates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</a:rPr>
              <a:t>Ethernet PHY receiver interface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</a:rPr>
              <a:t>Sends Ethernet frames to the DUT through the MII RX interface.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 txBox="1">
            <a:spLocks/>
          </p:cNvSpPr>
          <p:nvPr/>
        </p:nvSpPr>
        <p:spPr>
          <a:xfrm>
            <a:off x="1143001" y="2082871"/>
            <a:ext cx="4778471" cy="731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 MII Rx Agent </a:t>
            </a:r>
            <a:r>
              <a:rPr lang="en-US" sz="11200" b="1" dirty="0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</a:rPr>
              <a:t>(</a:t>
            </a:r>
            <a:r>
              <a:rPr kumimoji="0" lang="en-US" sz="1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Active)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7" name="Picture 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439" y="2091570"/>
            <a:ext cx="4533868" cy="26835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6B47441-F29E-1D1A-BD09-1F359BBFFE3C}"/>
              </a:ext>
            </a:extLst>
          </p:cNvPr>
          <p:cNvSpPr txBox="1">
            <a:spLocks/>
          </p:cNvSpPr>
          <p:nvPr/>
        </p:nvSpPr>
        <p:spPr>
          <a:xfrm>
            <a:off x="1143001" y="604301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UVM Components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8B6B63-49D4-E7C1-C85A-70B4A90A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13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05679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hlinkClick r:id="rId3" action="ppaction://hlinksldjump"/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708" y="2238518"/>
            <a:ext cx="4261581" cy="2522395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UVM Components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1418244" y="2651549"/>
            <a:ext cx="4875211" cy="3541714"/>
          </a:xfrm>
        </p:spPr>
        <p:txBody>
          <a:bodyPr>
            <a:norm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Models the PHY chip on the MDIO management interface. </a:t>
            </a:r>
          </a:p>
          <a:p>
            <a:r>
              <a:rPr lang="en-US" dirty="0">
                <a:latin typeface="Bookman Old Style" panose="02050604050505020204" pitchFamily="18" charset="0"/>
              </a:rPr>
              <a:t>Initiates all MII management transactions for configuration and status read of the physical device.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 txBox="1">
            <a:spLocks/>
          </p:cNvSpPr>
          <p:nvPr/>
        </p:nvSpPr>
        <p:spPr>
          <a:xfrm>
            <a:off x="1141413" y="2097088"/>
            <a:ext cx="3823113" cy="731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 MDIO Agent </a:t>
            </a:r>
            <a:r>
              <a:rPr lang="en-US" sz="11200" b="1" dirty="0">
                <a:solidFill>
                  <a:schemeClr val="bg2">
                    <a:lumMod val="75000"/>
                  </a:schemeClr>
                </a:solidFill>
                <a:latin typeface="Baskerville Old Face" panose="02020602080505020303" pitchFamily="18" charset="0"/>
              </a:rPr>
              <a:t>(</a:t>
            </a:r>
            <a:r>
              <a:rPr kumimoji="0" lang="en-US" sz="1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Active)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EEA3F-B25D-8A3F-4D65-B69F95BE2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14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74806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Ethernet UVM Components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1502614" y="2097088"/>
            <a:ext cx="5580986" cy="3541714"/>
          </a:xfrm>
        </p:spPr>
        <p:txBody>
          <a:bodyPr>
            <a:normAutofit/>
          </a:bodyPr>
          <a:lstStyle/>
          <a:p>
            <a:endParaRPr lang="en-US" dirty="0">
              <a:latin typeface="Bookman Old Style" panose="02050604050505020204" pitchFamily="18" charset="0"/>
            </a:endParaRPr>
          </a:p>
          <a:p>
            <a:r>
              <a:rPr lang="en-US" dirty="0">
                <a:latin typeface="Bookman Old Style" panose="02050604050505020204" pitchFamily="18" charset="0"/>
              </a:rPr>
              <a:t>Controls the RST_I signal to the DUT independently of any other sequence. </a:t>
            </a:r>
          </a:p>
          <a:p>
            <a:r>
              <a:rPr lang="en-US" dirty="0">
                <a:latin typeface="Bookman Old Style" panose="02050604050505020204" pitchFamily="18" charset="0"/>
              </a:rPr>
              <a:t>Drives RST_I high/low for programmable durations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 txBox="1">
            <a:spLocks/>
          </p:cNvSpPr>
          <p:nvPr/>
        </p:nvSpPr>
        <p:spPr>
          <a:xfrm>
            <a:off x="1054092" y="1987338"/>
            <a:ext cx="3823113" cy="731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Baskerville Old Face" panose="02020602080505020303" pitchFamily="18" charset="0"/>
              </a:rPr>
              <a:t> Reset Agent (Active)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12" name="Content Placeholder 11">
            <a:hlinkClick r:id="rId3" action="ppaction://hlinksldjump"/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824" y="2353315"/>
            <a:ext cx="3902044" cy="242769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EA900-F168-3370-AB1A-7F2107DB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15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64117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Register Abstraction Layer (RAL)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</a:br>
            <a:endParaRPr lang="en-US" dirty="0">
              <a:solidFill>
                <a:schemeClr val="bg2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09" y="2459664"/>
            <a:ext cx="4878389" cy="2301249"/>
          </a:xfrm>
        </p:spPr>
        <p:txBody>
          <a:bodyPr/>
          <a:lstStyle/>
          <a:p>
            <a:r>
              <a:rPr lang="en-US" sz="2000" dirty="0">
                <a:latin typeface="Bookman Old Style" panose="02050604050505020204" pitchFamily="18" charset="0"/>
              </a:rPr>
              <a:t>RAL provides an easy and organized way to access and verify DUT registers and buffer descriptors.</a:t>
            </a:r>
          </a:p>
        </p:txBody>
      </p:sp>
      <p:pic>
        <p:nvPicPr>
          <p:cNvPr id="7" name="Content Placeholder 6">
            <a:hlinkClick r:id="rId3" action="ppaction://hlinksldjump"/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42" b="40778"/>
          <a:stretch/>
        </p:blipFill>
        <p:spPr>
          <a:xfrm>
            <a:off x="6172203" y="1967338"/>
            <a:ext cx="5026936" cy="364296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941E1-277C-6790-BCD2-95C98B66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16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8586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22" y="2728267"/>
            <a:ext cx="6919782" cy="107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TX Operation</a:t>
            </a: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2B994-0C8F-5262-48F1-E4339BFF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16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348" y="246120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Basic frame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1505" y="1469714"/>
            <a:ext cx="10402455" cy="48449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70" y="1641576"/>
            <a:ext cx="9096636" cy="46730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39343-D855-6E92-EB72-AA7B1ABD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406" y="5949523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18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55461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955" y="106326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Half Duplex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1505" y="1469714"/>
            <a:ext cx="10402455" cy="48449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955" y="1423274"/>
            <a:ext cx="9437235" cy="479368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1892A-1559-ABF4-4006-0999C6AC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9031" y="5851835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19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30827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22" y="2728267"/>
            <a:ext cx="6919782" cy="107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TX Verification</a:t>
            </a: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F0CBB-0E09-D335-0977-00663961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97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11" y="480037"/>
            <a:ext cx="10561060" cy="78004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Verification Plan</a:t>
            </a:r>
            <a:endParaRPr lang="en-US" sz="3600" cap="none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1505" y="1469714"/>
            <a:ext cx="10774942" cy="48449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1404511" y="1469714"/>
            <a:ext cx="9152979" cy="4016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Bookman Old Style" panose="02050604050505020204" pitchFamily="18" charset="0"/>
              </a:rPr>
              <a:t>We put test plan for testing this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Bookman Old Style" panose="02050604050505020204" pitchFamily="18" charset="0"/>
              </a:rPr>
              <a:t>All TX configurations (full/half duplex CRC, PAD,</a:t>
            </a:r>
            <a:r>
              <a:rPr lang="en-AE" dirty="0">
                <a:latin typeface="Bookman Old Style" panose="02050604050505020204" pitchFamily="18" charset="0"/>
              </a:rPr>
              <a:t>…etc)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E" dirty="0">
                <a:latin typeface="Bookman Old Style" panose="02050604050505020204" pitchFamily="18" charset="0"/>
              </a:rPr>
              <a:t>Interframe gap time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E" dirty="0">
                <a:latin typeface="Bookman Old Style" panose="02050604050505020204" pitchFamily="18" charset="0"/>
              </a:rPr>
              <a:t>Corner cases (Limits of frame length, retry count,…etc)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E" dirty="0">
                <a:latin typeface="Bookman Old Style" panose="02050604050505020204" pitchFamily="18" charset="0"/>
              </a:rPr>
              <a:t>Errors (Huge frame, Underrun,…etc)</a:t>
            </a:r>
          </a:p>
          <a:p>
            <a:pPr marL="0" indent="0">
              <a:buNone/>
            </a:pPr>
            <a:r>
              <a:rPr lang="en-AE" b="1" dirty="0">
                <a:latin typeface="Bookman Old Style" panose="02050604050505020204" pitchFamily="18" charset="0"/>
              </a:rPr>
              <a:t> 30</a:t>
            </a:r>
            <a:r>
              <a:rPr lang="en-AE" dirty="0">
                <a:latin typeface="Bookman Old Style" panose="02050604050505020204" pitchFamily="18" charset="0"/>
              </a:rPr>
              <a:t> Constraint randomized test cases</a:t>
            </a: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1026" name="Picture 2" descr="How Test Plan Makes The Project More Complet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9" r="42519" b="5265"/>
          <a:stretch/>
        </p:blipFill>
        <p:spPr bwMode="auto">
          <a:xfrm>
            <a:off x="8239554" y="4146699"/>
            <a:ext cx="2431979" cy="216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D2793-5141-9AA9-C5A0-D2D86F61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406" y="5872641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21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82291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151" y="0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Verification Architecture</a:t>
            </a:r>
            <a:endParaRPr lang="en-US" sz="3600" cap="none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953" y="1158947"/>
            <a:ext cx="6879266" cy="54100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845DC-2B9A-7DEC-1B77-EA1DAD84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22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20088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253" y="0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TX Scoreboard</a:t>
            </a:r>
            <a:endParaRPr lang="en-US" sz="3600" cap="none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963" y="1340345"/>
            <a:ext cx="9247008" cy="5198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C1D99-B428-7E54-4E18-C0D01F77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23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81472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940" y="0"/>
            <a:ext cx="10561060" cy="1478570"/>
          </a:xfrm>
        </p:spPr>
        <p:txBody>
          <a:bodyPr>
            <a:normAutofit/>
          </a:bodyPr>
          <a:lstStyle/>
          <a:p>
            <a:r>
              <a:rPr lang="en-US" sz="3600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Bugs &amp; Functional Coverage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24" t="13544" r="61850" b="15613"/>
          <a:stretch/>
        </p:blipFill>
        <p:spPr>
          <a:xfrm>
            <a:off x="1727477" y="4331297"/>
            <a:ext cx="8915186" cy="701749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35247" y="3672834"/>
            <a:ext cx="4878389" cy="6584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sz="2800" dirty="0"/>
              <a:t>Functional Coverage</a:t>
            </a:r>
            <a:endParaRPr lang="en-US" dirty="0"/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330"/>
          <a:stretch/>
        </p:blipFill>
        <p:spPr>
          <a:xfrm>
            <a:off x="1727477" y="1571282"/>
            <a:ext cx="8915186" cy="13564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B3EF-5B72-9374-BF77-DC9261CF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24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31009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22" y="2728267"/>
            <a:ext cx="6919782" cy="107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RX Operation</a:t>
            </a: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2B994-0C8F-5262-48F1-E4339BFF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822372-27B5-495E-ACA8-BFA8F945A6A4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076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348" y="246120"/>
            <a:ext cx="10561060" cy="147857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Basic Frame Reception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1505" y="1469714"/>
            <a:ext cx="10402455" cy="48449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39343-D855-6E92-EB72-AA7B1ABD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406" y="5949523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26</a:t>
            </a:fld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24AC9-36CD-44DC-AADF-6F582CEA2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348" y="1282961"/>
            <a:ext cx="9277207" cy="476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36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22" y="2728267"/>
            <a:ext cx="6919782" cy="107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 err="1">
                <a:latin typeface="Times New Roman"/>
                <a:cs typeface="Times New Roman"/>
              </a:rPr>
              <a:t>rX</a:t>
            </a:r>
            <a:r>
              <a:rPr lang="en-US" sz="4000" b="1" dirty="0">
                <a:latin typeface="Times New Roman"/>
                <a:cs typeface="Times New Roman"/>
              </a:rPr>
              <a:t> Verification</a:t>
            </a: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A0E9A-BAC1-17AE-D1D5-3E4630E8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46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139FB8E-4CF3-43B9-8972-B1743B7C7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017687"/>
              </p:ext>
            </p:extLst>
          </p:nvPr>
        </p:nvGraphicFramePr>
        <p:xfrm>
          <a:off x="381000" y="2194260"/>
          <a:ext cx="1156716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4509602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88261921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54894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5617091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88585234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6590163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514171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841786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3692285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2551448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2192198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01050047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161179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5374056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1798743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84718897"/>
                    </a:ext>
                  </a:extLst>
                </a:gridCol>
              </a:tblGrid>
              <a:tr h="731520">
                <a:tc gridSpan="15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Reserved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37744">
                    <a:solidFill>
                      <a:srgbClr val="DEDE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RECSMALL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0238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34217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6B4026-A189-46C9-97D7-6B8D3F8CE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391901"/>
              </p:ext>
            </p:extLst>
          </p:nvPr>
        </p:nvGraphicFramePr>
        <p:xfrm>
          <a:off x="243840" y="3657900"/>
          <a:ext cx="11776925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5037">
                  <a:extLst>
                    <a:ext uri="{9D8B030D-6E8A-4147-A177-3AD203B41FA5}">
                      <a16:colId xmlns:a16="http://schemas.microsoft.com/office/drawing/2014/main" val="2479533271"/>
                    </a:ext>
                  </a:extLst>
                </a:gridCol>
                <a:gridCol w="755037">
                  <a:extLst>
                    <a:ext uri="{9D8B030D-6E8A-4147-A177-3AD203B41FA5}">
                      <a16:colId xmlns:a16="http://schemas.microsoft.com/office/drawing/2014/main" val="2977716097"/>
                    </a:ext>
                  </a:extLst>
                </a:gridCol>
                <a:gridCol w="794077">
                  <a:extLst>
                    <a:ext uri="{9D8B030D-6E8A-4147-A177-3AD203B41FA5}">
                      <a16:colId xmlns:a16="http://schemas.microsoft.com/office/drawing/2014/main" val="1726656685"/>
                    </a:ext>
                  </a:extLst>
                </a:gridCol>
                <a:gridCol w="1037690">
                  <a:extLst>
                    <a:ext uri="{9D8B030D-6E8A-4147-A177-3AD203B41FA5}">
                      <a16:colId xmlns:a16="http://schemas.microsoft.com/office/drawing/2014/main" val="364983381"/>
                    </a:ext>
                  </a:extLst>
                </a:gridCol>
                <a:gridCol w="955497">
                  <a:extLst>
                    <a:ext uri="{9D8B030D-6E8A-4147-A177-3AD203B41FA5}">
                      <a16:colId xmlns:a16="http://schemas.microsoft.com/office/drawing/2014/main" val="1711520907"/>
                    </a:ext>
                  </a:extLst>
                </a:gridCol>
                <a:gridCol w="678094">
                  <a:extLst>
                    <a:ext uri="{9D8B030D-6E8A-4147-A177-3AD203B41FA5}">
                      <a16:colId xmlns:a16="http://schemas.microsoft.com/office/drawing/2014/main" val="3372338142"/>
                    </a:ext>
                  </a:extLst>
                </a:gridCol>
                <a:gridCol w="924674">
                  <a:extLst>
                    <a:ext uri="{9D8B030D-6E8A-4147-A177-3AD203B41FA5}">
                      <a16:colId xmlns:a16="http://schemas.microsoft.com/office/drawing/2014/main" val="679986951"/>
                    </a:ext>
                  </a:extLst>
                </a:gridCol>
                <a:gridCol w="911380">
                  <a:extLst>
                    <a:ext uri="{9D8B030D-6E8A-4147-A177-3AD203B41FA5}">
                      <a16:colId xmlns:a16="http://schemas.microsoft.com/office/drawing/2014/main" val="3593978331"/>
                    </a:ext>
                  </a:extLst>
                </a:gridCol>
                <a:gridCol w="958604">
                  <a:extLst>
                    <a:ext uri="{9D8B030D-6E8A-4147-A177-3AD203B41FA5}">
                      <a16:colId xmlns:a16="http://schemas.microsoft.com/office/drawing/2014/main" val="157755662"/>
                    </a:ext>
                  </a:extLst>
                </a:gridCol>
                <a:gridCol w="431427">
                  <a:extLst>
                    <a:ext uri="{9D8B030D-6E8A-4147-A177-3AD203B41FA5}">
                      <a16:colId xmlns:a16="http://schemas.microsoft.com/office/drawing/2014/main" val="2099664561"/>
                    </a:ext>
                  </a:extLst>
                </a:gridCol>
                <a:gridCol w="523982">
                  <a:extLst>
                    <a:ext uri="{9D8B030D-6E8A-4147-A177-3AD203B41FA5}">
                      <a16:colId xmlns:a16="http://schemas.microsoft.com/office/drawing/2014/main" val="171664526"/>
                    </a:ext>
                  </a:extLst>
                </a:gridCol>
                <a:gridCol w="509853">
                  <a:extLst>
                    <a:ext uri="{9D8B030D-6E8A-4147-A177-3AD203B41FA5}">
                      <a16:colId xmlns:a16="http://schemas.microsoft.com/office/drawing/2014/main" val="831979722"/>
                    </a:ext>
                  </a:extLst>
                </a:gridCol>
                <a:gridCol w="540235">
                  <a:extLst>
                    <a:ext uri="{9D8B030D-6E8A-4147-A177-3AD203B41FA5}">
                      <a16:colId xmlns:a16="http://schemas.microsoft.com/office/drawing/2014/main" val="1715994184"/>
                    </a:ext>
                  </a:extLst>
                </a:gridCol>
                <a:gridCol w="727342">
                  <a:extLst>
                    <a:ext uri="{9D8B030D-6E8A-4147-A177-3AD203B41FA5}">
                      <a16:colId xmlns:a16="http://schemas.microsoft.com/office/drawing/2014/main" val="2613012186"/>
                    </a:ext>
                  </a:extLst>
                </a:gridCol>
                <a:gridCol w="647271">
                  <a:extLst>
                    <a:ext uri="{9D8B030D-6E8A-4147-A177-3AD203B41FA5}">
                      <a16:colId xmlns:a16="http://schemas.microsoft.com/office/drawing/2014/main" val="684590132"/>
                    </a:ext>
                  </a:extLst>
                </a:gridCol>
                <a:gridCol w="626725">
                  <a:extLst>
                    <a:ext uri="{9D8B030D-6E8A-4147-A177-3AD203B41FA5}">
                      <a16:colId xmlns:a16="http://schemas.microsoft.com/office/drawing/2014/main" val="403635597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PAD</a:t>
                      </a:r>
                    </a:p>
                  </a:txBody>
                  <a:tcPr marT="2743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HUGEN</a:t>
                      </a:r>
                    </a:p>
                  </a:txBody>
                  <a:tcPr marT="274320"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CRCEN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DLYCRCEN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Reserved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FULLD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EXDFREN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NOBCKOF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LOOPBCK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IFG</a:t>
                      </a:r>
                    </a:p>
                  </a:txBody>
                  <a:tcPr marT="27432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</a:t>
                      </a:r>
                    </a:p>
                  </a:txBody>
                  <a:tcPr marT="274320">
                    <a:solidFill>
                      <a:schemeClr val="accent3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IAM</a:t>
                      </a:r>
                    </a:p>
                  </a:txBody>
                  <a:tcPr marT="274320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</a:t>
                      </a:r>
                    </a:p>
                  </a:txBody>
                  <a:tcPr marT="274320"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NOP</a:t>
                      </a:r>
                      <a:r>
                        <a:rPr lang="en-US" sz="12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</a:t>
                      </a:r>
                    </a:p>
                  </a:txBody>
                  <a:tcPr marT="274320"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TXEN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RXEN</a:t>
                      </a:r>
                    </a:p>
                  </a:txBody>
                  <a:tcPr marT="2743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5686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9922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243430B-CE4F-46E1-879B-FD5166EE59BE}"/>
              </a:ext>
            </a:extLst>
          </p:cNvPr>
          <p:cNvSpPr txBox="1"/>
          <p:nvPr/>
        </p:nvSpPr>
        <p:spPr>
          <a:xfrm>
            <a:off x="975360" y="516305"/>
            <a:ext cx="1097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cap="none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Configuration Registers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2B56A-61FF-445D-8EA8-C550EF7631C5}"/>
              </a:ext>
            </a:extLst>
          </p:cNvPr>
          <p:cNvSpPr txBox="1"/>
          <p:nvPr/>
        </p:nvSpPr>
        <p:spPr>
          <a:xfrm>
            <a:off x="1464128" y="1297440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sz="3200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MODER Register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39343-D855-6E92-EB72-AA7B1ABD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406" y="5949523"/>
            <a:ext cx="771089" cy="365125"/>
          </a:xfrm>
        </p:spPr>
        <p:txBody>
          <a:bodyPr/>
          <a:lstStyle/>
          <a:p>
            <a:r>
              <a:rPr lang="en-US" sz="3200" dirty="0"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8"/>
          <p:cNvSpPr txBox="1"/>
          <p:nvPr/>
        </p:nvSpPr>
        <p:spPr>
          <a:xfrm>
            <a:off x="1267912" y="335280"/>
            <a:ext cx="105612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sz="3600" cap="none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RX </a:t>
            </a:r>
            <a:r>
              <a:rPr lang="en-US" sz="3600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Buffer Descriptor</a:t>
            </a:r>
            <a:endParaRPr sz="3600" cap="none" dirty="0">
              <a:solidFill>
                <a:srgbClr val="00376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B0B8AD-8083-46CB-8297-F5D2639C0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19108"/>
              </p:ext>
            </p:extLst>
          </p:nvPr>
        </p:nvGraphicFramePr>
        <p:xfrm>
          <a:off x="495478" y="1995145"/>
          <a:ext cx="11205985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646">
                  <a:extLst>
                    <a:ext uri="{9D8B030D-6E8A-4147-A177-3AD203B41FA5}">
                      <a16:colId xmlns:a16="http://schemas.microsoft.com/office/drawing/2014/main" val="80483142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1165773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14616287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31010571"/>
                    </a:ext>
                  </a:extLst>
                </a:gridCol>
                <a:gridCol w="1141379">
                  <a:extLst>
                    <a:ext uri="{9D8B030D-6E8A-4147-A177-3AD203B41FA5}">
                      <a16:colId xmlns:a16="http://schemas.microsoft.com/office/drawing/2014/main" val="405422846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9526091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81479024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19492297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2545628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508417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85515053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0671172"/>
                    </a:ext>
                  </a:extLst>
                </a:gridCol>
                <a:gridCol w="699778">
                  <a:extLst>
                    <a:ext uri="{9D8B030D-6E8A-4147-A177-3AD203B41FA5}">
                      <a16:colId xmlns:a16="http://schemas.microsoft.com/office/drawing/2014/main" val="3665962445"/>
                    </a:ext>
                  </a:extLst>
                </a:gridCol>
                <a:gridCol w="580382">
                  <a:extLst>
                    <a:ext uri="{9D8B030D-6E8A-4147-A177-3AD203B41FA5}">
                      <a16:colId xmlns:a16="http://schemas.microsoft.com/office/drawing/2014/main" val="391987857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IRQ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Reserved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27432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9286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31:16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12:9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11620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50268B-F862-4EEE-BF0B-449EBC0EC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348608"/>
              </p:ext>
            </p:extLst>
          </p:nvPr>
        </p:nvGraphicFramePr>
        <p:xfrm>
          <a:off x="495478" y="3767758"/>
          <a:ext cx="11205985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05985">
                  <a:extLst>
                    <a:ext uri="{9D8B030D-6E8A-4147-A177-3AD203B41FA5}">
                      <a16:colId xmlns:a16="http://schemas.microsoft.com/office/drawing/2014/main" val="1962694188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RXPNT [31:0] – Pointer to buffer in memory</a:t>
                      </a:r>
                    </a:p>
                  </a:txBody>
                  <a:tcPr marT="27432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529128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39343-D855-6E92-EB72-AA7B1ABD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5768" y="6024826"/>
            <a:ext cx="771089" cy="365125"/>
          </a:xfrm>
        </p:spPr>
        <p:txBody>
          <a:bodyPr/>
          <a:lstStyle/>
          <a:p>
            <a:r>
              <a:rPr lang="en-US" sz="3200" dirty="0"/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8"/>
          <p:cNvSpPr txBox="1"/>
          <p:nvPr/>
        </p:nvSpPr>
        <p:spPr>
          <a:xfrm>
            <a:off x="1267912" y="335280"/>
            <a:ext cx="105612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sz="3600" cap="none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Verification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6D588-2984-435B-9723-43EC88DF949E}"/>
              </a:ext>
            </a:extLst>
          </p:cNvPr>
          <p:cNvSpPr txBox="1"/>
          <p:nvPr/>
        </p:nvSpPr>
        <p:spPr>
          <a:xfrm>
            <a:off x="1385748" y="1495231"/>
            <a:ext cx="10325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All RX MODER configurations </a:t>
            </a:r>
          </a:p>
          <a:p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(PRO, BRO, IAM, HUGEN, RECSMALL, RXEN).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Address Recognition &amp; Filtering combinations </a:t>
            </a:r>
          </a:p>
          <a:p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(Exact Match, Unicast Miss, Broadcast, and Multicast Hash).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Corner cases &amp; Frame Boundaries </a:t>
            </a:r>
          </a:p>
          <a:p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(MINFL logic with RECSMALL, MAXFL truncation vs. Jumbo frames).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Error Injection &amp; Robustness Testing </a:t>
            </a:r>
          </a:p>
          <a:p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(Single-bit/Multi-bit MAC address mismatches, Byte Reversal).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Extensive Constrained-random test sequences to cross-cover all feature combinations.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E3DCB1-CB95-433F-826B-36E455E1DE80}"/>
              </a:ext>
            </a:extLst>
          </p:cNvPr>
          <p:cNvSpPr txBox="1"/>
          <p:nvPr/>
        </p:nvSpPr>
        <p:spPr>
          <a:xfrm>
            <a:off x="933236" y="1125899"/>
            <a:ext cx="10325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developed a comprehensive test plan targeting these RX features: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39343-D855-6E92-EB72-AA7B1ABD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4253" y="6019547"/>
            <a:ext cx="771089" cy="365125"/>
          </a:xfrm>
        </p:spPr>
        <p:txBody>
          <a:bodyPr/>
          <a:lstStyle/>
          <a:p>
            <a:r>
              <a:rPr lang="en-US" sz="32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1469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4"/>
          <p:cNvSpPr txBox="1">
            <a:spLocks noGrp="1"/>
          </p:cNvSpPr>
          <p:nvPr>
            <p:ph type="title"/>
          </p:nvPr>
        </p:nvSpPr>
        <p:spPr>
          <a:xfrm>
            <a:off x="815470" y="489037"/>
            <a:ext cx="10561060" cy="77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RX ARCHITECTURE</a:t>
            </a:r>
            <a:endParaRPr sz="3600" cap="none" dirty="0">
              <a:solidFill>
                <a:srgbClr val="00376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D957C-F0D3-4828-9A62-96314C13B560}"/>
              </a:ext>
            </a:extLst>
          </p:cNvPr>
          <p:cNvSpPr/>
          <p:nvPr/>
        </p:nvSpPr>
        <p:spPr>
          <a:xfrm>
            <a:off x="1831016" y="2014152"/>
            <a:ext cx="1637629" cy="1245302"/>
          </a:xfrm>
          <a:prstGeom prst="roundRect">
            <a:avLst/>
          </a:prstGeom>
          <a:solidFill>
            <a:srgbClr val="D5E8D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3AC40-B0F5-4F1A-9236-7457A43D1A68}"/>
              </a:ext>
            </a:extLst>
          </p:cNvPr>
          <p:cNvSpPr/>
          <p:nvPr/>
        </p:nvSpPr>
        <p:spPr>
          <a:xfrm>
            <a:off x="3608172" y="2014151"/>
            <a:ext cx="3361039" cy="1232935"/>
          </a:xfrm>
          <a:prstGeom prst="roundRect">
            <a:avLst/>
          </a:prstGeom>
          <a:solidFill>
            <a:schemeClr val="accent3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4FA60-2D6F-4804-AB0B-66C528449FC3}"/>
              </a:ext>
            </a:extLst>
          </p:cNvPr>
          <p:cNvSpPr/>
          <p:nvPr/>
        </p:nvSpPr>
        <p:spPr>
          <a:xfrm>
            <a:off x="7153624" y="2014151"/>
            <a:ext cx="3361039" cy="1232935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6DF994-4CBD-4520-AB04-9E39E4CD83F7}"/>
              </a:ext>
            </a:extLst>
          </p:cNvPr>
          <p:cNvSpPr/>
          <p:nvPr/>
        </p:nvSpPr>
        <p:spPr>
          <a:xfrm>
            <a:off x="1891119" y="3509504"/>
            <a:ext cx="8658934" cy="5045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Rx Scoreboard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E0A13-53BE-4A20-A938-74FF519EAECB}"/>
              </a:ext>
            </a:extLst>
          </p:cNvPr>
          <p:cNvSpPr/>
          <p:nvPr/>
        </p:nvSpPr>
        <p:spPr>
          <a:xfrm>
            <a:off x="4293030" y="4228433"/>
            <a:ext cx="3750589" cy="1625724"/>
          </a:xfrm>
          <a:prstGeom prst="roundRect">
            <a:avLst/>
          </a:prstGeom>
          <a:solidFill>
            <a:srgbClr val="FFE6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F10473-81DC-4AED-8416-8B7858EB033B}"/>
              </a:ext>
            </a:extLst>
          </p:cNvPr>
          <p:cNvSpPr/>
          <p:nvPr/>
        </p:nvSpPr>
        <p:spPr>
          <a:xfrm>
            <a:off x="1831016" y="1391645"/>
            <a:ext cx="1637629" cy="504545"/>
          </a:xfrm>
          <a:prstGeom prst="roundRect">
            <a:avLst/>
          </a:prstGeom>
          <a:solidFill>
            <a:srgbClr val="60A917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Registers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675643-DC01-4077-A789-DDA9A2603263}"/>
              </a:ext>
            </a:extLst>
          </p:cNvPr>
          <p:cNvSpPr/>
          <p:nvPr/>
        </p:nvSpPr>
        <p:spPr>
          <a:xfrm>
            <a:off x="3608173" y="1391644"/>
            <a:ext cx="3361039" cy="492061"/>
          </a:xfrm>
          <a:prstGeom prst="roundRect">
            <a:avLst/>
          </a:prstGeom>
          <a:solidFill>
            <a:srgbClr val="1BA1E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Buffer Descriptor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A212F-7959-4409-98FF-73F01BD0892E}"/>
              </a:ext>
            </a:extLst>
          </p:cNvPr>
          <p:cNvSpPr/>
          <p:nvPr/>
        </p:nvSpPr>
        <p:spPr>
          <a:xfrm>
            <a:off x="7192909" y="1391643"/>
            <a:ext cx="3321754" cy="492062"/>
          </a:xfrm>
          <a:prstGeom prst="roundRect">
            <a:avLst/>
          </a:prstGeom>
          <a:solidFill>
            <a:srgbClr val="E514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DMA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4F44B4-107F-4C75-A2EB-63AED5B88B23}"/>
              </a:ext>
            </a:extLst>
          </p:cNvPr>
          <p:cNvSpPr/>
          <p:nvPr/>
        </p:nvSpPr>
        <p:spPr>
          <a:xfrm>
            <a:off x="4293029" y="5939255"/>
            <a:ext cx="3750589" cy="286645"/>
          </a:xfrm>
          <a:prstGeom prst="roundRect">
            <a:avLst/>
          </a:prstGeom>
          <a:solidFill>
            <a:srgbClr val="FA68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2E78D-BAA1-48AC-B55F-DC76250B3722}"/>
              </a:ext>
            </a:extLst>
          </p:cNvPr>
          <p:cNvSpPr txBox="1"/>
          <p:nvPr/>
        </p:nvSpPr>
        <p:spPr>
          <a:xfrm>
            <a:off x="3851206" y="2075673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Slave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E44B9-972F-4523-8436-8C0E32E0F6B0}"/>
              </a:ext>
            </a:extLst>
          </p:cNvPr>
          <p:cNvSpPr txBox="1"/>
          <p:nvPr/>
        </p:nvSpPr>
        <p:spPr>
          <a:xfrm>
            <a:off x="7281621" y="2099740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Master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CAD4-4016-404C-BEBA-1FE59F82E2FE}"/>
              </a:ext>
            </a:extLst>
          </p:cNvPr>
          <p:cNvSpPr txBox="1"/>
          <p:nvPr/>
        </p:nvSpPr>
        <p:spPr>
          <a:xfrm>
            <a:off x="4466782" y="5352921"/>
            <a:ext cx="2569427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MII Rx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83D6C-7614-4861-AD76-2AFF3DC47277}"/>
              </a:ext>
            </a:extLst>
          </p:cNvPr>
          <p:cNvSpPr/>
          <p:nvPr/>
        </p:nvSpPr>
        <p:spPr>
          <a:xfrm>
            <a:off x="3727972" y="253899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Driver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72D59-AC39-4BA6-8013-DE0086BE3259}"/>
              </a:ext>
            </a:extLst>
          </p:cNvPr>
          <p:cNvSpPr/>
          <p:nvPr/>
        </p:nvSpPr>
        <p:spPr>
          <a:xfrm>
            <a:off x="5323703" y="2538995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A022-AF6C-44C9-A3A3-714148F84B56}"/>
              </a:ext>
            </a:extLst>
          </p:cNvPr>
          <p:cNvSpPr/>
          <p:nvPr/>
        </p:nvSpPr>
        <p:spPr>
          <a:xfrm>
            <a:off x="7290239" y="2537246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Driver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EAB7F-D94C-4EF6-AA2A-943C089CDBDA}"/>
              </a:ext>
            </a:extLst>
          </p:cNvPr>
          <p:cNvSpPr/>
          <p:nvPr/>
        </p:nvSpPr>
        <p:spPr>
          <a:xfrm>
            <a:off x="8872336" y="2542649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Monitor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999F5C-9F90-4A50-88C3-2D99F9FAF203}"/>
              </a:ext>
            </a:extLst>
          </p:cNvPr>
          <p:cNvSpPr/>
          <p:nvPr/>
        </p:nvSpPr>
        <p:spPr>
          <a:xfrm>
            <a:off x="6333943" y="4449502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Driver</a:t>
            </a:r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699533BA-D13C-40ED-B6F5-67823B7A5A43}"/>
              </a:ext>
            </a:extLst>
          </p:cNvPr>
          <p:cNvSpPr/>
          <p:nvPr/>
        </p:nvSpPr>
        <p:spPr>
          <a:xfrm>
            <a:off x="6027814" y="345004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CD6CDD5-5425-462E-9372-2ECF2B8B6A30}"/>
              </a:ext>
            </a:extLst>
          </p:cNvPr>
          <p:cNvSpPr/>
          <p:nvPr/>
        </p:nvSpPr>
        <p:spPr>
          <a:xfrm>
            <a:off x="6026726" y="318274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53E5CDE-35E4-445D-AEE4-6CB6A0CB40AA}"/>
              </a:ext>
            </a:extLst>
          </p:cNvPr>
          <p:cNvSpPr/>
          <p:nvPr/>
        </p:nvSpPr>
        <p:spPr>
          <a:xfrm>
            <a:off x="6027813" y="297644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059A75-A40E-4E82-90FC-1BBD7BB82839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6100198" y="3107226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06380F-A530-477C-BDF1-25A09CEC9DA4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6100198" y="3313520"/>
            <a:ext cx="1088" cy="13652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A8CBAE7D-036A-49BC-9B26-D853F0420304}"/>
              </a:ext>
            </a:extLst>
          </p:cNvPr>
          <p:cNvSpPr/>
          <p:nvPr/>
        </p:nvSpPr>
        <p:spPr>
          <a:xfrm>
            <a:off x="9566944" y="3447859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ACABA3E1-62D0-4C54-B6DA-8038B66C6A96}"/>
              </a:ext>
            </a:extLst>
          </p:cNvPr>
          <p:cNvSpPr/>
          <p:nvPr/>
        </p:nvSpPr>
        <p:spPr>
          <a:xfrm>
            <a:off x="9566945" y="3182544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B21AB59E-183B-4A8B-825A-FE66EF7C3E61}"/>
              </a:ext>
            </a:extLst>
          </p:cNvPr>
          <p:cNvSpPr/>
          <p:nvPr/>
        </p:nvSpPr>
        <p:spPr>
          <a:xfrm>
            <a:off x="9568032" y="297625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EABDA6-A6F6-4F9B-901A-C05EF81BE085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 flipH="1">
            <a:off x="9640417" y="3107028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128A3A-576F-42C9-9B54-C5A4335AAA6B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flipH="1">
            <a:off x="9640416" y="3313322"/>
            <a:ext cx="1" cy="134537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Rectangle: Top Corners One Rounded and One Snipped 1153">
            <a:extLst>
              <a:ext uri="{FF2B5EF4-FFF2-40B4-BE49-F238E27FC236}">
                <a16:creationId xmlns:a16="http://schemas.microsoft.com/office/drawing/2014/main" id="{D9A5B53D-8C0A-47E7-BC4F-64D2AD0E53A9}"/>
              </a:ext>
            </a:extLst>
          </p:cNvPr>
          <p:cNvSpPr/>
          <p:nvPr/>
        </p:nvSpPr>
        <p:spPr>
          <a:xfrm>
            <a:off x="6941980" y="6366162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04F8C3-F38D-4904-B854-C10C5DFA255A}"/>
              </a:ext>
            </a:extLst>
          </p:cNvPr>
          <p:cNvSpPr txBox="1"/>
          <p:nvPr/>
        </p:nvSpPr>
        <p:spPr>
          <a:xfrm>
            <a:off x="5400262" y="6352228"/>
            <a:ext cx="188136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Ethernet Frame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2C77858-871C-4A70-BAFB-9FCFB021CAC4}"/>
              </a:ext>
            </a:extLst>
          </p:cNvPr>
          <p:cNvSpPr/>
          <p:nvPr/>
        </p:nvSpPr>
        <p:spPr>
          <a:xfrm>
            <a:off x="4564037" y="446090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Monitor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93EAEDE5-FE2F-47AB-A2CE-8584603FEFAC}"/>
              </a:ext>
            </a:extLst>
          </p:cNvPr>
          <p:cNvSpPr/>
          <p:nvPr/>
        </p:nvSpPr>
        <p:spPr>
          <a:xfrm>
            <a:off x="5258646" y="439551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D01B820C-2B2B-4027-A8D3-E18EDB7A67EB}"/>
              </a:ext>
            </a:extLst>
          </p:cNvPr>
          <p:cNvSpPr/>
          <p:nvPr/>
        </p:nvSpPr>
        <p:spPr>
          <a:xfrm>
            <a:off x="5258646" y="416352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82172C0A-FE7B-4F20-B753-0C4439B80E44}"/>
              </a:ext>
            </a:extLst>
          </p:cNvPr>
          <p:cNvSpPr/>
          <p:nvPr/>
        </p:nvSpPr>
        <p:spPr>
          <a:xfrm>
            <a:off x="5260006" y="394818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6BA9BF-7113-4050-82C3-7A443A4B56D3}"/>
              </a:ext>
            </a:extLst>
          </p:cNvPr>
          <p:cNvCxnSpPr>
            <a:stCxn id="60" idx="2"/>
            <a:endCxn id="59" idx="0"/>
          </p:cNvCxnSpPr>
          <p:nvPr/>
        </p:nvCxnSpPr>
        <p:spPr>
          <a:xfrm flipH="1">
            <a:off x="5332118" y="4078960"/>
            <a:ext cx="1360" cy="84562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5BAEDD-482F-4E92-BA6A-BEF11C783379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5332118" y="4294300"/>
            <a:ext cx="0" cy="101218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838114E-D5A5-4817-8A99-711440406BE4}"/>
              </a:ext>
            </a:extLst>
          </p:cNvPr>
          <p:cNvSpPr/>
          <p:nvPr/>
        </p:nvSpPr>
        <p:spPr>
          <a:xfrm>
            <a:off x="6337999" y="523887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Sequencer</a:t>
            </a:r>
          </a:p>
        </p:txBody>
      </p:sp>
      <p:sp>
        <p:nvSpPr>
          <p:cNvPr id="1171" name="Flowchart: Connector 1170">
            <a:extLst>
              <a:ext uri="{FF2B5EF4-FFF2-40B4-BE49-F238E27FC236}">
                <a16:creationId xmlns:a16="http://schemas.microsoft.com/office/drawing/2014/main" id="{94805C6E-558B-4A5E-89F0-2737179F2AFC}"/>
              </a:ext>
            </a:extLst>
          </p:cNvPr>
          <p:cNvSpPr/>
          <p:nvPr/>
        </p:nvSpPr>
        <p:spPr>
          <a:xfrm>
            <a:off x="7002233" y="5180904"/>
            <a:ext cx="139347" cy="139561"/>
          </a:xfrm>
          <a:prstGeom prst="flowChartConnector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9F5B76E6-622D-4C56-A039-8CE957FC3476}"/>
              </a:ext>
            </a:extLst>
          </p:cNvPr>
          <p:cNvSpPr/>
          <p:nvPr/>
        </p:nvSpPr>
        <p:spPr>
          <a:xfrm>
            <a:off x="7014277" y="4902668"/>
            <a:ext cx="115261" cy="1218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D225CC55-4F4F-4FE5-ABAC-1E448A4ACA35}"/>
              </a:ext>
            </a:extLst>
          </p:cNvPr>
          <p:cNvCxnSpPr>
            <a:cxnSpLocks/>
            <a:stCxn id="1171" idx="0"/>
            <a:endCxn id="1172" idx="2"/>
          </p:cNvCxnSpPr>
          <p:nvPr/>
        </p:nvCxnSpPr>
        <p:spPr>
          <a:xfrm flipV="1">
            <a:off x="7071907" y="5024491"/>
            <a:ext cx="1" cy="156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5ECDC9B-359E-4C1E-8399-64973DC924CC}"/>
              </a:ext>
            </a:extLst>
          </p:cNvPr>
          <p:cNvSpPr/>
          <p:nvPr/>
        </p:nvSpPr>
        <p:spPr>
          <a:xfrm>
            <a:off x="9373194" y="4264099"/>
            <a:ext cx="188668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DUT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A41AF1-0E89-48E1-AE1A-A7B7DC3B422D}"/>
              </a:ext>
            </a:extLst>
          </p:cNvPr>
          <p:cNvSpPr/>
          <p:nvPr/>
        </p:nvSpPr>
        <p:spPr>
          <a:xfrm>
            <a:off x="8705683" y="4264098"/>
            <a:ext cx="3333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if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1712BCE1-915C-4417-9909-45573F91ABB4}"/>
              </a:ext>
            </a:extLst>
          </p:cNvPr>
          <p:cNvCxnSpPr/>
          <p:nvPr/>
        </p:nvCxnSpPr>
        <p:spPr>
          <a:xfrm>
            <a:off x="7809874" y="4700923"/>
            <a:ext cx="895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D4B91016-A201-4AE3-8CC7-2DB5FE66FFFC}"/>
              </a:ext>
            </a:extLst>
          </p:cNvPr>
          <p:cNvCxnSpPr>
            <a:cxnSpLocks/>
            <a:stCxn id="85" idx="3"/>
            <a:endCxn id="1176" idx="1"/>
          </p:cNvCxnSpPr>
          <p:nvPr/>
        </p:nvCxnSpPr>
        <p:spPr>
          <a:xfrm>
            <a:off x="9038988" y="5076761"/>
            <a:ext cx="33420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16536" y="6082577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31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0500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4"/>
          <p:cNvSpPr txBox="1">
            <a:spLocks noGrp="1"/>
          </p:cNvSpPr>
          <p:nvPr>
            <p:ph type="title"/>
          </p:nvPr>
        </p:nvSpPr>
        <p:spPr>
          <a:xfrm>
            <a:off x="815470" y="489037"/>
            <a:ext cx="10561060" cy="77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RX ARCHITECTURE</a:t>
            </a:r>
            <a:endParaRPr sz="3600" cap="none" dirty="0">
              <a:solidFill>
                <a:srgbClr val="00376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D957C-F0D3-4828-9A62-96314C13B560}"/>
              </a:ext>
            </a:extLst>
          </p:cNvPr>
          <p:cNvSpPr/>
          <p:nvPr/>
        </p:nvSpPr>
        <p:spPr>
          <a:xfrm>
            <a:off x="1831016" y="2014152"/>
            <a:ext cx="1637629" cy="1245302"/>
          </a:xfrm>
          <a:prstGeom prst="roundRect">
            <a:avLst/>
          </a:prstGeom>
          <a:solidFill>
            <a:srgbClr val="D5E8D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3AC40-B0F5-4F1A-9236-7457A43D1A68}"/>
              </a:ext>
            </a:extLst>
          </p:cNvPr>
          <p:cNvSpPr/>
          <p:nvPr/>
        </p:nvSpPr>
        <p:spPr>
          <a:xfrm>
            <a:off x="3608172" y="2014151"/>
            <a:ext cx="3361039" cy="1232935"/>
          </a:xfrm>
          <a:prstGeom prst="roundRect">
            <a:avLst/>
          </a:prstGeom>
          <a:solidFill>
            <a:schemeClr val="accent3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4FA60-2D6F-4804-AB0B-66C528449FC3}"/>
              </a:ext>
            </a:extLst>
          </p:cNvPr>
          <p:cNvSpPr/>
          <p:nvPr/>
        </p:nvSpPr>
        <p:spPr>
          <a:xfrm>
            <a:off x="7153624" y="2014151"/>
            <a:ext cx="3361039" cy="1232935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6DF994-4CBD-4520-AB04-9E39E4CD83F7}"/>
              </a:ext>
            </a:extLst>
          </p:cNvPr>
          <p:cNvSpPr/>
          <p:nvPr/>
        </p:nvSpPr>
        <p:spPr>
          <a:xfrm>
            <a:off x="1891119" y="3509504"/>
            <a:ext cx="8658934" cy="5045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Rx Scoreboard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E0A13-53BE-4A20-A938-74FF519EAECB}"/>
              </a:ext>
            </a:extLst>
          </p:cNvPr>
          <p:cNvSpPr/>
          <p:nvPr/>
        </p:nvSpPr>
        <p:spPr>
          <a:xfrm>
            <a:off x="4293030" y="4228433"/>
            <a:ext cx="3750589" cy="1625724"/>
          </a:xfrm>
          <a:prstGeom prst="roundRect">
            <a:avLst/>
          </a:prstGeom>
          <a:solidFill>
            <a:srgbClr val="FFE6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F10473-81DC-4AED-8416-8B7858EB033B}"/>
              </a:ext>
            </a:extLst>
          </p:cNvPr>
          <p:cNvSpPr/>
          <p:nvPr/>
        </p:nvSpPr>
        <p:spPr>
          <a:xfrm>
            <a:off x="1831016" y="1391645"/>
            <a:ext cx="1637629" cy="504545"/>
          </a:xfrm>
          <a:prstGeom prst="roundRect">
            <a:avLst/>
          </a:prstGeom>
          <a:solidFill>
            <a:srgbClr val="60A917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Registers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675643-DC01-4077-A789-DDA9A2603263}"/>
              </a:ext>
            </a:extLst>
          </p:cNvPr>
          <p:cNvSpPr/>
          <p:nvPr/>
        </p:nvSpPr>
        <p:spPr>
          <a:xfrm>
            <a:off x="3608173" y="1391644"/>
            <a:ext cx="3361039" cy="492061"/>
          </a:xfrm>
          <a:prstGeom prst="roundRect">
            <a:avLst/>
          </a:prstGeom>
          <a:solidFill>
            <a:srgbClr val="1BA1E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Buffer Descriptor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A212F-7959-4409-98FF-73F01BD0892E}"/>
              </a:ext>
            </a:extLst>
          </p:cNvPr>
          <p:cNvSpPr/>
          <p:nvPr/>
        </p:nvSpPr>
        <p:spPr>
          <a:xfrm>
            <a:off x="7192909" y="1391643"/>
            <a:ext cx="3321754" cy="492062"/>
          </a:xfrm>
          <a:prstGeom prst="roundRect">
            <a:avLst/>
          </a:prstGeom>
          <a:solidFill>
            <a:srgbClr val="E514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DMA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4F44B4-107F-4C75-A2EB-63AED5B88B23}"/>
              </a:ext>
            </a:extLst>
          </p:cNvPr>
          <p:cNvSpPr/>
          <p:nvPr/>
        </p:nvSpPr>
        <p:spPr>
          <a:xfrm>
            <a:off x="4293029" y="5939255"/>
            <a:ext cx="3750589" cy="286645"/>
          </a:xfrm>
          <a:prstGeom prst="roundRect">
            <a:avLst/>
          </a:prstGeom>
          <a:solidFill>
            <a:srgbClr val="FA68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2E78D-BAA1-48AC-B55F-DC76250B3722}"/>
              </a:ext>
            </a:extLst>
          </p:cNvPr>
          <p:cNvSpPr txBox="1"/>
          <p:nvPr/>
        </p:nvSpPr>
        <p:spPr>
          <a:xfrm>
            <a:off x="3851206" y="2075673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Slave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E44B9-972F-4523-8436-8C0E32E0F6B0}"/>
              </a:ext>
            </a:extLst>
          </p:cNvPr>
          <p:cNvSpPr txBox="1"/>
          <p:nvPr/>
        </p:nvSpPr>
        <p:spPr>
          <a:xfrm>
            <a:off x="7281621" y="2099740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Master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CAD4-4016-404C-BEBA-1FE59F82E2FE}"/>
              </a:ext>
            </a:extLst>
          </p:cNvPr>
          <p:cNvSpPr txBox="1"/>
          <p:nvPr/>
        </p:nvSpPr>
        <p:spPr>
          <a:xfrm>
            <a:off x="4466782" y="5352921"/>
            <a:ext cx="2569427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MII Rx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83D6C-7614-4861-AD76-2AFF3DC47277}"/>
              </a:ext>
            </a:extLst>
          </p:cNvPr>
          <p:cNvSpPr/>
          <p:nvPr/>
        </p:nvSpPr>
        <p:spPr>
          <a:xfrm>
            <a:off x="3727972" y="253899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Driver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72D59-AC39-4BA6-8013-DE0086BE3259}"/>
              </a:ext>
            </a:extLst>
          </p:cNvPr>
          <p:cNvSpPr/>
          <p:nvPr/>
        </p:nvSpPr>
        <p:spPr>
          <a:xfrm>
            <a:off x="5323703" y="2538995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A022-AF6C-44C9-A3A3-714148F84B56}"/>
              </a:ext>
            </a:extLst>
          </p:cNvPr>
          <p:cNvSpPr/>
          <p:nvPr/>
        </p:nvSpPr>
        <p:spPr>
          <a:xfrm>
            <a:off x="7290239" y="2537246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Driver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EAB7F-D94C-4EF6-AA2A-943C089CDBDA}"/>
              </a:ext>
            </a:extLst>
          </p:cNvPr>
          <p:cNvSpPr/>
          <p:nvPr/>
        </p:nvSpPr>
        <p:spPr>
          <a:xfrm>
            <a:off x="8872336" y="2542649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Monitor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999F5C-9F90-4A50-88C3-2D99F9FAF203}"/>
              </a:ext>
            </a:extLst>
          </p:cNvPr>
          <p:cNvSpPr/>
          <p:nvPr/>
        </p:nvSpPr>
        <p:spPr>
          <a:xfrm>
            <a:off x="6333943" y="4449502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Driver</a:t>
            </a:r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699533BA-D13C-40ED-B6F5-67823B7A5A43}"/>
              </a:ext>
            </a:extLst>
          </p:cNvPr>
          <p:cNvSpPr/>
          <p:nvPr/>
        </p:nvSpPr>
        <p:spPr>
          <a:xfrm>
            <a:off x="6027814" y="345004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CD6CDD5-5425-462E-9372-2ECF2B8B6A30}"/>
              </a:ext>
            </a:extLst>
          </p:cNvPr>
          <p:cNvSpPr/>
          <p:nvPr/>
        </p:nvSpPr>
        <p:spPr>
          <a:xfrm>
            <a:off x="6026726" y="318274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53E5CDE-35E4-445D-AEE4-6CB6A0CB40AA}"/>
              </a:ext>
            </a:extLst>
          </p:cNvPr>
          <p:cNvSpPr/>
          <p:nvPr/>
        </p:nvSpPr>
        <p:spPr>
          <a:xfrm>
            <a:off x="6027813" y="297644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059A75-A40E-4E82-90FC-1BBD7BB82839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6100198" y="3107226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06380F-A530-477C-BDF1-25A09CEC9DA4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6100198" y="3313520"/>
            <a:ext cx="1088" cy="13652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A8CBAE7D-036A-49BC-9B26-D853F0420304}"/>
              </a:ext>
            </a:extLst>
          </p:cNvPr>
          <p:cNvSpPr/>
          <p:nvPr/>
        </p:nvSpPr>
        <p:spPr>
          <a:xfrm>
            <a:off x="9566944" y="3447859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ACABA3E1-62D0-4C54-B6DA-8038B66C6A96}"/>
              </a:ext>
            </a:extLst>
          </p:cNvPr>
          <p:cNvSpPr/>
          <p:nvPr/>
        </p:nvSpPr>
        <p:spPr>
          <a:xfrm>
            <a:off x="9566945" y="3182544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B21AB59E-183B-4A8B-825A-FE66EF7C3E61}"/>
              </a:ext>
            </a:extLst>
          </p:cNvPr>
          <p:cNvSpPr/>
          <p:nvPr/>
        </p:nvSpPr>
        <p:spPr>
          <a:xfrm>
            <a:off x="9568032" y="297625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EABDA6-A6F6-4F9B-901A-C05EF81BE085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 flipH="1">
            <a:off x="9640417" y="3107028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128A3A-576F-42C9-9B54-C5A4335AAA6B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flipH="1">
            <a:off x="9640416" y="3313322"/>
            <a:ext cx="1" cy="134537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2C77858-871C-4A70-BAFB-9FCFB021CAC4}"/>
              </a:ext>
            </a:extLst>
          </p:cNvPr>
          <p:cNvSpPr/>
          <p:nvPr/>
        </p:nvSpPr>
        <p:spPr>
          <a:xfrm>
            <a:off x="4564037" y="446090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Monitor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93EAEDE5-FE2F-47AB-A2CE-8584603FEFAC}"/>
              </a:ext>
            </a:extLst>
          </p:cNvPr>
          <p:cNvSpPr/>
          <p:nvPr/>
        </p:nvSpPr>
        <p:spPr>
          <a:xfrm>
            <a:off x="5258646" y="439551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D01B820C-2B2B-4027-A8D3-E18EDB7A67EB}"/>
              </a:ext>
            </a:extLst>
          </p:cNvPr>
          <p:cNvSpPr/>
          <p:nvPr/>
        </p:nvSpPr>
        <p:spPr>
          <a:xfrm>
            <a:off x="5258646" y="416352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82172C0A-FE7B-4F20-B753-0C4439B80E44}"/>
              </a:ext>
            </a:extLst>
          </p:cNvPr>
          <p:cNvSpPr/>
          <p:nvPr/>
        </p:nvSpPr>
        <p:spPr>
          <a:xfrm>
            <a:off x="5260006" y="394818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6BA9BF-7113-4050-82C3-7A443A4B56D3}"/>
              </a:ext>
            </a:extLst>
          </p:cNvPr>
          <p:cNvCxnSpPr>
            <a:stCxn id="60" idx="2"/>
            <a:endCxn id="59" idx="0"/>
          </p:cNvCxnSpPr>
          <p:nvPr/>
        </p:nvCxnSpPr>
        <p:spPr>
          <a:xfrm flipH="1">
            <a:off x="5332118" y="4078960"/>
            <a:ext cx="1360" cy="84562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5BAEDD-482F-4E92-BA6A-BEF11C783379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5332118" y="4294300"/>
            <a:ext cx="0" cy="101218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838114E-D5A5-4817-8A99-711440406BE4}"/>
              </a:ext>
            </a:extLst>
          </p:cNvPr>
          <p:cNvSpPr/>
          <p:nvPr/>
        </p:nvSpPr>
        <p:spPr>
          <a:xfrm>
            <a:off x="6337999" y="523887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Sequencer</a:t>
            </a:r>
          </a:p>
        </p:txBody>
      </p:sp>
      <p:sp>
        <p:nvSpPr>
          <p:cNvPr id="1171" name="Flowchart: Connector 1170">
            <a:extLst>
              <a:ext uri="{FF2B5EF4-FFF2-40B4-BE49-F238E27FC236}">
                <a16:creationId xmlns:a16="http://schemas.microsoft.com/office/drawing/2014/main" id="{94805C6E-558B-4A5E-89F0-2737179F2AFC}"/>
              </a:ext>
            </a:extLst>
          </p:cNvPr>
          <p:cNvSpPr/>
          <p:nvPr/>
        </p:nvSpPr>
        <p:spPr>
          <a:xfrm>
            <a:off x="7002233" y="5180904"/>
            <a:ext cx="139347" cy="139561"/>
          </a:xfrm>
          <a:prstGeom prst="flowChartConnector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9F5B76E6-622D-4C56-A039-8CE957FC3476}"/>
              </a:ext>
            </a:extLst>
          </p:cNvPr>
          <p:cNvSpPr/>
          <p:nvPr/>
        </p:nvSpPr>
        <p:spPr>
          <a:xfrm>
            <a:off x="7014277" y="4902668"/>
            <a:ext cx="115261" cy="1218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D225CC55-4F4F-4FE5-ABAC-1E448A4ACA35}"/>
              </a:ext>
            </a:extLst>
          </p:cNvPr>
          <p:cNvCxnSpPr>
            <a:cxnSpLocks/>
            <a:stCxn id="1171" idx="0"/>
            <a:endCxn id="1172" idx="2"/>
          </p:cNvCxnSpPr>
          <p:nvPr/>
        </p:nvCxnSpPr>
        <p:spPr>
          <a:xfrm flipV="1">
            <a:off x="7071907" y="5024491"/>
            <a:ext cx="1" cy="156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5ECDC9B-359E-4C1E-8399-64973DC924CC}"/>
              </a:ext>
            </a:extLst>
          </p:cNvPr>
          <p:cNvSpPr/>
          <p:nvPr/>
        </p:nvSpPr>
        <p:spPr>
          <a:xfrm>
            <a:off x="9373195" y="4264099"/>
            <a:ext cx="2003336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DUT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A41AF1-0E89-48E1-AE1A-A7B7DC3B422D}"/>
              </a:ext>
            </a:extLst>
          </p:cNvPr>
          <p:cNvSpPr/>
          <p:nvPr/>
        </p:nvSpPr>
        <p:spPr>
          <a:xfrm>
            <a:off x="8705683" y="4264098"/>
            <a:ext cx="3333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if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1712BCE1-915C-4417-9909-45573F91ABB4}"/>
              </a:ext>
            </a:extLst>
          </p:cNvPr>
          <p:cNvCxnSpPr/>
          <p:nvPr/>
        </p:nvCxnSpPr>
        <p:spPr>
          <a:xfrm>
            <a:off x="7809874" y="4700923"/>
            <a:ext cx="895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D4B91016-A201-4AE3-8CC7-2DB5FE66FFFC}"/>
              </a:ext>
            </a:extLst>
          </p:cNvPr>
          <p:cNvCxnSpPr>
            <a:stCxn id="85" idx="3"/>
            <a:endCxn id="1176" idx="1"/>
          </p:cNvCxnSpPr>
          <p:nvPr/>
        </p:nvCxnSpPr>
        <p:spPr>
          <a:xfrm>
            <a:off x="9038988" y="5076761"/>
            <a:ext cx="33420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Rectangle: Top Corners One Rounded and One Snipped 1153">
            <a:extLst>
              <a:ext uri="{FF2B5EF4-FFF2-40B4-BE49-F238E27FC236}">
                <a16:creationId xmlns:a16="http://schemas.microsoft.com/office/drawing/2014/main" id="{D9A5B53D-8C0A-47E7-BC4F-64D2AD0E53A9}"/>
              </a:ext>
            </a:extLst>
          </p:cNvPr>
          <p:cNvSpPr/>
          <p:nvPr/>
        </p:nvSpPr>
        <p:spPr>
          <a:xfrm>
            <a:off x="6950597" y="5650071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04F8C3-F38D-4904-B854-C10C5DFA255A}"/>
              </a:ext>
            </a:extLst>
          </p:cNvPr>
          <p:cNvSpPr txBox="1"/>
          <p:nvPr/>
        </p:nvSpPr>
        <p:spPr>
          <a:xfrm>
            <a:off x="5408879" y="5636137"/>
            <a:ext cx="188136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Ethernet Frame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74863" y="6135091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32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0527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4"/>
          <p:cNvSpPr txBox="1">
            <a:spLocks noGrp="1"/>
          </p:cNvSpPr>
          <p:nvPr>
            <p:ph type="title"/>
          </p:nvPr>
        </p:nvSpPr>
        <p:spPr>
          <a:xfrm>
            <a:off x="815470" y="489037"/>
            <a:ext cx="10561060" cy="77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RX ARCHITECTURE</a:t>
            </a:r>
            <a:endParaRPr sz="3600" cap="none" dirty="0">
              <a:solidFill>
                <a:srgbClr val="00376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D957C-F0D3-4828-9A62-96314C13B560}"/>
              </a:ext>
            </a:extLst>
          </p:cNvPr>
          <p:cNvSpPr/>
          <p:nvPr/>
        </p:nvSpPr>
        <p:spPr>
          <a:xfrm>
            <a:off x="1831016" y="2014152"/>
            <a:ext cx="1637629" cy="1245302"/>
          </a:xfrm>
          <a:prstGeom prst="roundRect">
            <a:avLst/>
          </a:prstGeom>
          <a:solidFill>
            <a:srgbClr val="D5E8D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3AC40-B0F5-4F1A-9236-7457A43D1A68}"/>
              </a:ext>
            </a:extLst>
          </p:cNvPr>
          <p:cNvSpPr/>
          <p:nvPr/>
        </p:nvSpPr>
        <p:spPr>
          <a:xfrm>
            <a:off x="3608172" y="2014151"/>
            <a:ext cx="3361039" cy="1232935"/>
          </a:xfrm>
          <a:prstGeom prst="roundRect">
            <a:avLst/>
          </a:prstGeom>
          <a:solidFill>
            <a:schemeClr val="accent3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4FA60-2D6F-4804-AB0B-66C528449FC3}"/>
              </a:ext>
            </a:extLst>
          </p:cNvPr>
          <p:cNvSpPr/>
          <p:nvPr/>
        </p:nvSpPr>
        <p:spPr>
          <a:xfrm>
            <a:off x="7153624" y="2014151"/>
            <a:ext cx="3361039" cy="1232935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6DF994-4CBD-4520-AB04-9E39E4CD83F7}"/>
              </a:ext>
            </a:extLst>
          </p:cNvPr>
          <p:cNvSpPr/>
          <p:nvPr/>
        </p:nvSpPr>
        <p:spPr>
          <a:xfrm>
            <a:off x="1891119" y="3509504"/>
            <a:ext cx="8658934" cy="5045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Rx Scoreboard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E0A13-53BE-4A20-A938-74FF519EAECB}"/>
              </a:ext>
            </a:extLst>
          </p:cNvPr>
          <p:cNvSpPr/>
          <p:nvPr/>
        </p:nvSpPr>
        <p:spPr>
          <a:xfrm>
            <a:off x="4293030" y="4228433"/>
            <a:ext cx="3750589" cy="1625724"/>
          </a:xfrm>
          <a:prstGeom prst="roundRect">
            <a:avLst/>
          </a:prstGeom>
          <a:solidFill>
            <a:srgbClr val="FFE6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F10473-81DC-4AED-8416-8B7858EB033B}"/>
              </a:ext>
            </a:extLst>
          </p:cNvPr>
          <p:cNvSpPr/>
          <p:nvPr/>
        </p:nvSpPr>
        <p:spPr>
          <a:xfrm>
            <a:off x="1831016" y="1391645"/>
            <a:ext cx="1637629" cy="504545"/>
          </a:xfrm>
          <a:prstGeom prst="roundRect">
            <a:avLst/>
          </a:prstGeom>
          <a:solidFill>
            <a:srgbClr val="60A917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Registers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675643-DC01-4077-A789-DDA9A2603263}"/>
              </a:ext>
            </a:extLst>
          </p:cNvPr>
          <p:cNvSpPr/>
          <p:nvPr/>
        </p:nvSpPr>
        <p:spPr>
          <a:xfrm>
            <a:off x="3608173" y="1391644"/>
            <a:ext cx="3361039" cy="492061"/>
          </a:xfrm>
          <a:prstGeom prst="roundRect">
            <a:avLst/>
          </a:prstGeom>
          <a:solidFill>
            <a:srgbClr val="1BA1E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Buffer Descriptor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A212F-7959-4409-98FF-73F01BD0892E}"/>
              </a:ext>
            </a:extLst>
          </p:cNvPr>
          <p:cNvSpPr/>
          <p:nvPr/>
        </p:nvSpPr>
        <p:spPr>
          <a:xfrm>
            <a:off x="7192909" y="1391643"/>
            <a:ext cx="3321754" cy="492062"/>
          </a:xfrm>
          <a:prstGeom prst="roundRect">
            <a:avLst/>
          </a:prstGeom>
          <a:solidFill>
            <a:srgbClr val="E514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DMA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4F44B4-107F-4C75-A2EB-63AED5B88B23}"/>
              </a:ext>
            </a:extLst>
          </p:cNvPr>
          <p:cNvSpPr/>
          <p:nvPr/>
        </p:nvSpPr>
        <p:spPr>
          <a:xfrm>
            <a:off x="4293029" y="5939255"/>
            <a:ext cx="3750589" cy="286645"/>
          </a:xfrm>
          <a:prstGeom prst="roundRect">
            <a:avLst/>
          </a:prstGeom>
          <a:solidFill>
            <a:srgbClr val="FA68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2E78D-BAA1-48AC-B55F-DC76250B3722}"/>
              </a:ext>
            </a:extLst>
          </p:cNvPr>
          <p:cNvSpPr txBox="1"/>
          <p:nvPr/>
        </p:nvSpPr>
        <p:spPr>
          <a:xfrm>
            <a:off x="3851206" y="2075673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Slave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E44B9-972F-4523-8436-8C0E32E0F6B0}"/>
              </a:ext>
            </a:extLst>
          </p:cNvPr>
          <p:cNvSpPr txBox="1"/>
          <p:nvPr/>
        </p:nvSpPr>
        <p:spPr>
          <a:xfrm>
            <a:off x="7281621" y="2099740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Master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CAD4-4016-404C-BEBA-1FE59F82E2FE}"/>
              </a:ext>
            </a:extLst>
          </p:cNvPr>
          <p:cNvSpPr txBox="1"/>
          <p:nvPr/>
        </p:nvSpPr>
        <p:spPr>
          <a:xfrm>
            <a:off x="4466782" y="5352921"/>
            <a:ext cx="2569427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MII Rx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83D6C-7614-4861-AD76-2AFF3DC47277}"/>
              </a:ext>
            </a:extLst>
          </p:cNvPr>
          <p:cNvSpPr/>
          <p:nvPr/>
        </p:nvSpPr>
        <p:spPr>
          <a:xfrm>
            <a:off x="3727972" y="253899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Driver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72D59-AC39-4BA6-8013-DE0086BE3259}"/>
              </a:ext>
            </a:extLst>
          </p:cNvPr>
          <p:cNvSpPr/>
          <p:nvPr/>
        </p:nvSpPr>
        <p:spPr>
          <a:xfrm>
            <a:off x="5323703" y="2538995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A022-AF6C-44C9-A3A3-714148F84B56}"/>
              </a:ext>
            </a:extLst>
          </p:cNvPr>
          <p:cNvSpPr/>
          <p:nvPr/>
        </p:nvSpPr>
        <p:spPr>
          <a:xfrm>
            <a:off x="7290239" y="2537246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Driver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EAB7F-D94C-4EF6-AA2A-943C089CDBDA}"/>
              </a:ext>
            </a:extLst>
          </p:cNvPr>
          <p:cNvSpPr/>
          <p:nvPr/>
        </p:nvSpPr>
        <p:spPr>
          <a:xfrm>
            <a:off x="8872336" y="2542649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Monitor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999F5C-9F90-4A50-88C3-2D99F9FAF203}"/>
              </a:ext>
            </a:extLst>
          </p:cNvPr>
          <p:cNvSpPr/>
          <p:nvPr/>
        </p:nvSpPr>
        <p:spPr>
          <a:xfrm>
            <a:off x="6333943" y="4449502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Driver</a:t>
            </a:r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699533BA-D13C-40ED-B6F5-67823B7A5A43}"/>
              </a:ext>
            </a:extLst>
          </p:cNvPr>
          <p:cNvSpPr/>
          <p:nvPr/>
        </p:nvSpPr>
        <p:spPr>
          <a:xfrm>
            <a:off x="6027814" y="345004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CD6CDD5-5425-462E-9372-2ECF2B8B6A30}"/>
              </a:ext>
            </a:extLst>
          </p:cNvPr>
          <p:cNvSpPr/>
          <p:nvPr/>
        </p:nvSpPr>
        <p:spPr>
          <a:xfrm>
            <a:off x="6026726" y="318274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53E5CDE-35E4-445D-AEE4-6CB6A0CB40AA}"/>
              </a:ext>
            </a:extLst>
          </p:cNvPr>
          <p:cNvSpPr/>
          <p:nvPr/>
        </p:nvSpPr>
        <p:spPr>
          <a:xfrm>
            <a:off x="6027813" y="297644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059A75-A40E-4E82-90FC-1BBD7BB82839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6100198" y="3107226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06380F-A530-477C-BDF1-25A09CEC9DA4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6100198" y="3313520"/>
            <a:ext cx="1088" cy="13652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A8CBAE7D-036A-49BC-9B26-D853F0420304}"/>
              </a:ext>
            </a:extLst>
          </p:cNvPr>
          <p:cNvSpPr/>
          <p:nvPr/>
        </p:nvSpPr>
        <p:spPr>
          <a:xfrm>
            <a:off x="9566944" y="3447859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ACABA3E1-62D0-4C54-B6DA-8038B66C6A96}"/>
              </a:ext>
            </a:extLst>
          </p:cNvPr>
          <p:cNvSpPr/>
          <p:nvPr/>
        </p:nvSpPr>
        <p:spPr>
          <a:xfrm>
            <a:off x="9566945" y="3182544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B21AB59E-183B-4A8B-825A-FE66EF7C3E61}"/>
              </a:ext>
            </a:extLst>
          </p:cNvPr>
          <p:cNvSpPr/>
          <p:nvPr/>
        </p:nvSpPr>
        <p:spPr>
          <a:xfrm>
            <a:off x="9568032" y="297625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EABDA6-A6F6-4F9B-901A-C05EF81BE085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 flipH="1">
            <a:off x="9640417" y="3107028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128A3A-576F-42C9-9B54-C5A4335AAA6B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flipH="1">
            <a:off x="9640416" y="3313322"/>
            <a:ext cx="1" cy="134537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2C77858-871C-4A70-BAFB-9FCFB021CAC4}"/>
              </a:ext>
            </a:extLst>
          </p:cNvPr>
          <p:cNvSpPr/>
          <p:nvPr/>
        </p:nvSpPr>
        <p:spPr>
          <a:xfrm>
            <a:off x="4564037" y="446090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Monitor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93EAEDE5-FE2F-47AB-A2CE-8584603FEFAC}"/>
              </a:ext>
            </a:extLst>
          </p:cNvPr>
          <p:cNvSpPr/>
          <p:nvPr/>
        </p:nvSpPr>
        <p:spPr>
          <a:xfrm>
            <a:off x="5258646" y="439551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D01B820C-2B2B-4027-A8D3-E18EDB7A67EB}"/>
              </a:ext>
            </a:extLst>
          </p:cNvPr>
          <p:cNvSpPr/>
          <p:nvPr/>
        </p:nvSpPr>
        <p:spPr>
          <a:xfrm>
            <a:off x="5258646" y="416352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82172C0A-FE7B-4F20-B753-0C4439B80E44}"/>
              </a:ext>
            </a:extLst>
          </p:cNvPr>
          <p:cNvSpPr/>
          <p:nvPr/>
        </p:nvSpPr>
        <p:spPr>
          <a:xfrm>
            <a:off x="5260006" y="394818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6BA9BF-7113-4050-82C3-7A443A4B56D3}"/>
              </a:ext>
            </a:extLst>
          </p:cNvPr>
          <p:cNvCxnSpPr>
            <a:stCxn id="60" idx="2"/>
            <a:endCxn id="59" idx="0"/>
          </p:cNvCxnSpPr>
          <p:nvPr/>
        </p:nvCxnSpPr>
        <p:spPr>
          <a:xfrm flipH="1">
            <a:off x="5332118" y="4078960"/>
            <a:ext cx="1360" cy="84562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5BAEDD-482F-4E92-BA6A-BEF11C783379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5332118" y="4294300"/>
            <a:ext cx="0" cy="101218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838114E-D5A5-4817-8A99-711440406BE4}"/>
              </a:ext>
            </a:extLst>
          </p:cNvPr>
          <p:cNvSpPr/>
          <p:nvPr/>
        </p:nvSpPr>
        <p:spPr>
          <a:xfrm>
            <a:off x="6337999" y="523887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Sequencer</a:t>
            </a:r>
          </a:p>
        </p:txBody>
      </p:sp>
      <p:sp>
        <p:nvSpPr>
          <p:cNvPr id="1171" name="Flowchart: Connector 1170">
            <a:extLst>
              <a:ext uri="{FF2B5EF4-FFF2-40B4-BE49-F238E27FC236}">
                <a16:creationId xmlns:a16="http://schemas.microsoft.com/office/drawing/2014/main" id="{94805C6E-558B-4A5E-89F0-2737179F2AFC}"/>
              </a:ext>
            </a:extLst>
          </p:cNvPr>
          <p:cNvSpPr/>
          <p:nvPr/>
        </p:nvSpPr>
        <p:spPr>
          <a:xfrm>
            <a:off x="7002233" y="5180904"/>
            <a:ext cx="139347" cy="139561"/>
          </a:xfrm>
          <a:prstGeom prst="flowChartConnector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9F5B76E6-622D-4C56-A039-8CE957FC3476}"/>
              </a:ext>
            </a:extLst>
          </p:cNvPr>
          <p:cNvSpPr/>
          <p:nvPr/>
        </p:nvSpPr>
        <p:spPr>
          <a:xfrm>
            <a:off x="7014277" y="4902668"/>
            <a:ext cx="115261" cy="1218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D225CC55-4F4F-4FE5-ABAC-1E448A4ACA35}"/>
              </a:ext>
            </a:extLst>
          </p:cNvPr>
          <p:cNvCxnSpPr>
            <a:cxnSpLocks/>
            <a:stCxn id="1171" idx="0"/>
            <a:endCxn id="1172" idx="2"/>
          </p:cNvCxnSpPr>
          <p:nvPr/>
        </p:nvCxnSpPr>
        <p:spPr>
          <a:xfrm flipV="1">
            <a:off x="7071907" y="5024491"/>
            <a:ext cx="1" cy="156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5ECDC9B-359E-4C1E-8399-64973DC924CC}"/>
              </a:ext>
            </a:extLst>
          </p:cNvPr>
          <p:cNvSpPr/>
          <p:nvPr/>
        </p:nvSpPr>
        <p:spPr>
          <a:xfrm>
            <a:off x="9373195" y="4264099"/>
            <a:ext cx="2003336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DUT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A41AF1-0E89-48E1-AE1A-A7B7DC3B422D}"/>
              </a:ext>
            </a:extLst>
          </p:cNvPr>
          <p:cNvSpPr/>
          <p:nvPr/>
        </p:nvSpPr>
        <p:spPr>
          <a:xfrm>
            <a:off x="8705683" y="4264098"/>
            <a:ext cx="3333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if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1712BCE1-915C-4417-9909-45573F91ABB4}"/>
              </a:ext>
            </a:extLst>
          </p:cNvPr>
          <p:cNvCxnSpPr/>
          <p:nvPr/>
        </p:nvCxnSpPr>
        <p:spPr>
          <a:xfrm>
            <a:off x="7809874" y="4700923"/>
            <a:ext cx="895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D4B91016-A201-4AE3-8CC7-2DB5FE66FFFC}"/>
              </a:ext>
            </a:extLst>
          </p:cNvPr>
          <p:cNvCxnSpPr>
            <a:stCxn id="85" idx="3"/>
            <a:endCxn id="1176" idx="1"/>
          </p:cNvCxnSpPr>
          <p:nvPr/>
        </p:nvCxnSpPr>
        <p:spPr>
          <a:xfrm>
            <a:off x="9038988" y="5076761"/>
            <a:ext cx="33420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Rectangle: Top Corners One Rounded and One Snipped 1153">
            <a:extLst>
              <a:ext uri="{FF2B5EF4-FFF2-40B4-BE49-F238E27FC236}">
                <a16:creationId xmlns:a16="http://schemas.microsoft.com/office/drawing/2014/main" id="{D9A5B53D-8C0A-47E7-BC4F-64D2AD0E53A9}"/>
              </a:ext>
            </a:extLst>
          </p:cNvPr>
          <p:cNvSpPr/>
          <p:nvPr/>
        </p:nvSpPr>
        <p:spPr>
          <a:xfrm>
            <a:off x="6950597" y="4763553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04F8C3-F38D-4904-B854-C10C5DFA255A}"/>
              </a:ext>
            </a:extLst>
          </p:cNvPr>
          <p:cNvSpPr txBox="1"/>
          <p:nvPr/>
        </p:nvSpPr>
        <p:spPr>
          <a:xfrm>
            <a:off x="5408879" y="4749619"/>
            <a:ext cx="188136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Ethernet Frame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63293" y="6058011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33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19055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4"/>
          <p:cNvSpPr txBox="1">
            <a:spLocks noGrp="1"/>
          </p:cNvSpPr>
          <p:nvPr>
            <p:ph type="title"/>
          </p:nvPr>
        </p:nvSpPr>
        <p:spPr>
          <a:xfrm>
            <a:off x="815470" y="489037"/>
            <a:ext cx="10561060" cy="77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RX ARCHITECTURE</a:t>
            </a:r>
            <a:endParaRPr sz="3600" cap="none" dirty="0">
              <a:solidFill>
                <a:srgbClr val="00376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D957C-F0D3-4828-9A62-96314C13B560}"/>
              </a:ext>
            </a:extLst>
          </p:cNvPr>
          <p:cNvSpPr/>
          <p:nvPr/>
        </p:nvSpPr>
        <p:spPr>
          <a:xfrm>
            <a:off x="1831016" y="2014152"/>
            <a:ext cx="1637629" cy="1245302"/>
          </a:xfrm>
          <a:prstGeom prst="roundRect">
            <a:avLst/>
          </a:prstGeom>
          <a:solidFill>
            <a:srgbClr val="D5E8D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3AC40-B0F5-4F1A-9236-7457A43D1A68}"/>
              </a:ext>
            </a:extLst>
          </p:cNvPr>
          <p:cNvSpPr/>
          <p:nvPr/>
        </p:nvSpPr>
        <p:spPr>
          <a:xfrm>
            <a:off x="3608172" y="2014151"/>
            <a:ext cx="3361039" cy="1232935"/>
          </a:xfrm>
          <a:prstGeom prst="roundRect">
            <a:avLst/>
          </a:prstGeom>
          <a:solidFill>
            <a:schemeClr val="accent3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4FA60-2D6F-4804-AB0B-66C528449FC3}"/>
              </a:ext>
            </a:extLst>
          </p:cNvPr>
          <p:cNvSpPr/>
          <p:nvPr/>
        </p:nvSpPr>
        <p:spPr>
          <a:xfrm>
            <a:off x="7153624" y="2014151"/>
            <a:ext cx="3361039" cy="1232935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6DF994-4CBD-4520-AB04-9E39E4CD83F7}"/>
              </a:ext>
            </a:extLst>
          </p:cNvPr>
          <p:cNvSpPr/>
          <p:nvPr/>
        </p:nvSpPr>
        <p:spPr>
          <a:xfrm>
            <a:off x="1891119" y="3509504"/>
            <a:ext cx="8658934" cy="5045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Rx Scoreboard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E0A13-53BE-4A20-A938-74FF519EAECB}"/>
              </a:ext>
            </a:extLst>
          </p:cNvPr>
          <p:cNvSpPr/>
          <p:nvPr/>
        </p:nvSpPr>
        <p:spPr>
          <a:xfrm>
            <a:off x="4293030" y="4228433"/>
            <a:ext cx="3750589" cy="1625724"/>
          </a:xfrm>
          <a:prstGeom prst="roundRect">
            <a:avLst/>
          </a:prstGeom>
          <a:solidFill>
            <a:srgbClr val="FFE6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F10473-81DC-4AED-8416-8B7858EB033B}"/>
              </a:ext>
            </a:extLst>
          </p:cNvPr>
          <p:cNvSpPr/>
          <p:nvPr/>
        </p:nvSpPr>
        <p:spPr>
          <a:xfrm>
            <a:off x="1831016" y="1391645"/>
            <a:ext cx="1637629" cy="504545"/>
          </a:xfrm>
          <a:prstGeom prst="roundRect">
            <a:avLst/>
          </a:prstGeom>
          <a:solidFill>
            <a:srgbClr val="60A917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Registers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675643-DC01-4077-A789-DDA9A2603263}"/>
              </a:ext>
            </a:extLst>
          </p:cNvPr>
          <p:cNvSpPr/>
          <p:nvPr/>
        </p:nvSpPr>
        <p:spPr>
          <a:xfrm>
            <a:off x="3608173" y="1391644"/>
            <a:ext cx="3361039" cy="492061"/>
          </a:xfrm>
          <a:prstGeom prst="roundRect">
            <a:avLst/>
          </a:prstGeom>
          <a:solidFill>
            <a:srgbClr val="1BA1E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Buffer Descriptor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A212F-7959-4409-98FF-73F01BD0892E}"/>
              </a:ext>
            </a:extLst>
          </p:cNvPr>
          <p:cNvSpPr/>
          <p:nvPr/>
        </p:nvSpPr>
        <p:spPr>
          <a:xfrm>
            <a:off x="7192909" y="1391643"/>
            <a:ext cx="3321754" cy="492062"/>
          </a:xfrm>
          <a:prstGeom prst="roundRect">
            <a:avLst/>
          </a:prstGeom>
          <a:solidFill>
            <a:srgbClr val="E514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DMA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4F44B4-107F-4C75-A2EB-63AED5B88B23}"/>
              </a:ext>
            </a:extLst>
          </p:cNvPr>
          <p:cNvSpPr/>
          <p:nvPr/>
        </p:nvSpPr>
        <p:spPr>
          <a:xfrm>
            <a:off x="4293029" y="5939255"/>
            <a:ext cx="3750589" cy="286645"/>
          </a:xfrm>
          <a:prstGeom prst="roundRect">
            <a:avLst/>
          </a:prstGeom>
          <a:solidFill>
            <a:srgbClr val="FA68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2E78D-BAA1-48AC-B55F-DC76250B3722}"/>
              </a:ext>
            </a:extLst>
          </p:cNvPr>
          <p:cNvSpPr txBox="1"/>
          <p:nvPr/>
        </p:nvSpPr>
        <p:spPr>
          <a:xfrm>
            <a:off x="3851206" y="2075673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Slave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E44B9-972F-4523-8436-8C0E32E0F6B0}"/>
              </a:ext>
            </a:extLst>
          </p:cNvPr>
          <p:cNvSpPr txBox="1"/>
          <p:nvPr/>
        </p:nvSpPr>
        <p:spPr>
          <a:xfrm>
            <a:off x="7281621" y="2099740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Master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CAD4-4016-404C-BEBA-1FE59F82E2FE}"/>
              </a:ext>
            </a:extLst>
          </p:cNvPr>
          <p:cNvSpPr txBox="1"/>
          <p:nvPr/>
        </p:nvSpPr>
        <p:spPr>
          <a:xfrm>
            <a:off x="4466782" y="5352921"/>
            <a:ext cx="2569427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MII Rx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83D6C-7614-4861-AD76-2AFF3DC47277}"/>
              </a:ext>
            </a:extLst>
          </p:cNvPr>
          <p:cNvSpPr/>
          <p:nvPr/>
        </p:nvSpPr>
        <p:spPr>
          <a:xfrm>
            <a:off x="3727972" y="253899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Driver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72D59-AC39-4BA6-8013-DE0086BE3259}"/>
              </a:ext>
            </a:extLst>
          </p:cNvPr>
          <p:cNvSpPr/>
          <p:nvPr/>
        </p:nvSpPr>
        <p:spPr>
          <a:xfrm>
            <a:off x="5323703" y="2538995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A022-AF6C-44C9-A3A3-714148F84B56}"/>
              </a:ext>
            </a:extLst>
          </p:cNvPr>
          <p:cNvSpPr/>
          <p:nvPr/>
        </p:nvSpPr>
        <p:spPr>
          <a:xfrm>
            <a:off x="7290239" y="2537246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Driver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EAB7F-D94C-4EF6-AA2A-943C089CDBDA}"/>
              </a:ext>
            </a:extLst>
          </p:cNvPr>
          <p:cNvSpPr/>
          <p:nvPr/>
        </p:nvSpPr>
        <p:spPr>
          <a:xfrm>
            <a:off x="8872336" y="2542649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Monitor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999F5C-9F90-4A50-88C3-2D99F9FAF203}"/>
              </a:ext>
            </a:extLst>
          </p:cNvPr>
          <p:cNvSpPr/>
          <p:nvPr/>
        </p:nvSpPr>
        <p:spPr>
          <a:xfrm>
            <a:off x="6333943" y="4449502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Driver</a:t>
            </a:r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699533BA-D13C-40ED-B6F5-67823B7A5A43}"/>
              </a:ext>
            </a:extLst>
          </p:cNvPr>
          <p:cNvSpPr/>
          <p:nvPr/>
        </p:nvSpPr>
        <p:spPr>
          <a:xfrm>
            <a:off x="6027814" y="345004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CD6CDD5-5425-462E-9372-2ECF2B8B6A30}"/>
              </a:ext>
            </a:extLst>
          </p:cNvPr>
          <p:cNvSpPr/>
          <p:nvPr/>
        </p:nvSpPr>
        <p:spPr>
          <a:xfrm>
            <a:off x="6026726" y="318274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53E5CDE-35E4-445D-AEE4-6CB6A0CB40AA}"/>
              </a:ext>
            </a:extLst>
          </p:cNvPr>
          <p:cNvSpPr/>
          <p:nvPr/>
        </p:nvSpPr>
        <p:spPr>
          <a:xfrm>
            <a:off x="6027813" y="297644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059A75-A40E-4E82-90FC-1BBD7BB82839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6100198" y="3107226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06380F-A530-477C-BDF1-25A09CEC9DA4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6100198" y="3313520"/>
            <a:ext cx="1088" cy="13652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A8CBAE7D-036A-49BC-9B26-D853F0420304}"/>
              </a:ext>
            </a:extLst>
          </p:cNvPr>
          <p:cNvSpPr/>
          <p:nvPr/>
        </p:nvSpPr>
        <p:spPr>
          <a:xfrm>
            <a:off x="9566944" y="3447859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ACABA3E1-62D0-4C54-B6DA-8038B66C6A96}"/>
              </a:ext>
            </a:extLst>
          </p:cNvPr>
          <p:cNvSpPr/>
          <p:nvPr/>
        </p:nvSpPr>
        <p:spPr>
          <a:xfrm>
            <a:off x="9566945" y="3182544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B21AB59E-183B-4A8B-825A-FE66EF7C3E61}"/>
              </a:ext>
            </a:extLst>
          </p:cNvPr>
          <p:cNvSpPr/>
          <p:nvPr/>
        </p:nvSpPr>
        <p:spPr>
          <a:xfrm>
            <a:off x="9568032" y="297625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EABDA6-A6F6-4F9B-901A-C05EF81BE085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 flipH="1">
            <a:off x="9640417" y="3107028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128A3A-576F-42C9-9B54-C5A4335AAA6B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flipH="1">
            <a:off x="9640416" y="3313322"/>
            <a:ext cx="1" cy="134537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2C77858-871C-4A70-BAFB-9FCFB021CAC4}"/>
              </a:ext>
            </a:extLst>
          </p:cNvPr>
          <p:cNvSpPr/>
          <p:nvPr/>
        </p:nvSpPr>
        <p:spPr>
          <a:xfrm>
            <a:off x="4564037" y="446090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Monitor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93EAEDE5-FE2F-47AB-A2CE-8584603FEFAC}"/>
              </a:ext>
            </a:extLst>
          </p:cNvPr>
          <p:cNvSpPr/>
          <p:nvPr/>
        </p:nvSpPr>
        <p:spPr>
          <a:xfrm>
            <a:off x="5258646" y="439551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D01B820C-2B2B-4027-A8D3-E18EDB7A67EB}"/>
              </a:ext>
            </a:extLst>
          </p:cNvPr>
          <p:cNvSpPr/>
          <p:nvPr/>
        </p:nvSpPr>
        <p:spPr>
          <a:xfrm>
            <a:off x="5258646" y="416352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82172C0A-FE7B-4F20-B753-0C4439B80E44}"/>
              </a:ext>
            </a:extLst>
          </p:cNvPr>
          <p:cNvSpPr/>
          <p:nvPr/>
        </p:nvSpPr>
        <p:spPr>
          <a:xfrm>
            <a:off x="5260006" y="394818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6BA9BF-7113-4050-82C3-7A443A4B56D3}"/>
              </a:ext>
            </a:extLst>
          </p:cNvPr>
          <p:cNvCxnSpPr>
            <a:stCxn id="60" idx="2"/>
            <a:endCxn id="59" idx="0"/>
          </p:cNvCxnSpPr>
          <p:nvPr/>
        </p:nvCxnSpPr>
        <p:spPr>
          <a:xfrm flipH="1">
            <a:off x="5332118" y="4078960"/>
            <a:ext cx="1360" cy="84562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5BAEDD-482F-4E92-BA6A-BEF11C783379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5332118" y="4294300"/>
            <a:ext cx="0" cy="101218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838114E-D5A5-4817-8A99-711440406BE4}"/>
              </a:ext>
            </a:extLst>
          </p:cNvPr>
          <p:cNvSpPr/>
          <p:nvPr/>
        </p:nvSpPr>
        <p:spPr>
          <a:xfrm>
            <a:off x="6337999" y="523887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Sequencer</a:t>
            </a:r>
          </a:p>
        </p:txBody>
      </p:sp>
      <p:sp>
        <p:nvSpPr>
          <p:cNvPr id="1171" name="Flowchart: Connector 1170">
            <a:extLst>
              <a:ext uri="{FF2B5EF4-FFF2-40B4-BE49-F238E27FC236}">
                <a16:creationId xmlns:a16="http://schemas.microsoft.com/office/drawing/2014/main" id="{94805C6E-558B-4A5E-89F0-2737179F2AFC}"/>
              </a:ext>
            </a:extLst>
          </p:cNvPr>
          <p:cNvSpPr/>
          <p:nvPr/>
        </p:nvSpPr>
        <p:spPr>
          <a:xfrm>
            <a:off x="7002233" y="5180904"/>
            <a:ext cx="139347" cy="139561"/>
          </a:xfrm>
          <a:prstGeom prst="flowChartConnector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9F5B76E6-622D-4C56-A039-8CE957FC3476}"/>
              </a:ext>
            </a:extLst>
          </p:cNvPr>
          <p:cNvSpPr/>
          <p:nvPr/>
        </p:nvSpPr>
        <p:spPr>
          <a:xfrm>
            <a:off x="7014277" y="4902668"/>
            <a:ext cx="115261" cy="1218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D225CC55-4F4F-4FE5-ABAC-1E448A4ACA35}"/>
              </a:ext>
            </a:extLst>
          </p:cNvPr>
          <p:cNvCxnSpPr>
            <a:cxnSpLocks/>
            <a:stCxn id="1171" idx="0"/>
            <a:endCxn id="1172" idx="2"/>
          </p:cNvCxnSpPr>
          <p:nvPr/>
        </p:nvCxnSpPr>
        <p:spPr>
          <a:xfrm flipV="1">
            <a:off x="7071907" y="5024491"/>
            <a:ext cx="1" cy="156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5ECDC9B-359E-4C1E-8399-64973DC924CC}"/>
              </a:ext>
            </a:extLst>
          </p:cNvPr>
          <p:cNvSpPr/>
          <p:nvPr/>
        </p:nvSpPr>
        <p:spPr>
          <a:xfrm>
            <a:off x="9373194" y="4264099"/>
            <a:ext cx="20706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DUT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A41AF1-0E89-48E1-AE1A-A7B7DC3B422D}"/>
              </a:ext>
            </a:extLst>
          </p:cNvPr>
          <p:cNvSpPr/>
          <p:nvPr/>
        </p:nvSpPr>
        <p:spPr>
          <a:xfrm>
            <a:off x="8705683" y="4264098"/>
            <a:ext cx="3333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if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1712BCE1-915C-4417-9909-45573F91ABB4}"/>
              </a:ext>
            </a:extLst>
          </p:cNvPr>
          <p:cNvCxnSpPr/>
          <p:nvPr/>
        </p:nvCxnSpPr>
        <p:spPr>
          <a:xfrm>
            <a:off x="7809874" y="4700923"/>
            <a:ext cx="895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D4B91016-A201-4AE3-8CC7-2DB5FE66FFFC}"/>
              </a:ext>
            </a:extLst>
          </p:cNvPr>
          <p:cNvCxnSpPr>
            <a:stCxn id="85" idx="3"/>
            <a:endCxn id="1176" idx="1"/>
          </p:cNvCxnSpPr>
          <p:nvPr/>
        </p:nvCxnSpPr>
        <p:spPr>
          <a:xfrm>
            <a:off x="9038988" y="5076761"/>
            <a:ext cx="33420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Rectangle: Top Corners One Rounded and One Snipped 1153">
            <a:extLst>
              <a:ext uri="{FF2B5EF4-FFF2-40B4-BE49-F238E27FC236}">
                <a16:creationId xmlns:a16="http://schemas.microsoft.com/office/drawing/2014/main" id="{D9A5B53D-8C0A-47E7-BC4F-64D2AD0E53A9}"/>
              </a:ext>
            </a:extLst>
          </p:cNvPr>
          <p:cNvSpPr/>
          <p:nvPr/>
        </p:nvSpPr>
        <p:spPr>
          <a:xfrm>
            <a:off x="10997581" y="5422619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04F8C3-F38D-4904-B854-C10C5DFA255A}"/>
              </a:ext>
            </a:extLst>
          </p:cNvPr>
          <p:cNvSpPr txBox="1"/>
          <p:nvPr/>
        </p:nvSpPr>
        <p:spPr>
          <a:xfrm>
            <a:off x="9490876" y="5422619"/>
            <a:ext cx="188136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Ethernet Frame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87158" y="6124459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34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9895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4"/>
          <p:cNvSpPr txBox="1">
            <a:spLocks noGrp="1"/>
          </p:cNvSpPr>
          <p:nvPr>
            <p:ph type="title"/>
          </p:nvPr>
        </p:nvSpPr>
        <p:spPr>
          <a:xfrm>
            <a:off x="815470" y="489037"/>
            <a:ext cx="10561060" cy="77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Pts val="3600"/>
              <a:buFont typeface="Libre Baskerville"/>
              <a:buNone/>
            </a:pPr>
            <a:r>
              <a:rPr lang="en-US" dirty="0">
                <a:solidFill>
                  <a:srgbClr val="00376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RX ARCHITECTURE</a:t>
            </a:r>
            <a:endParaRPr sz="3600" cap="none" dirty="0">
              <a:solidFill>
                <a:srgbClr val="003760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D957C-F0D3-4828-9A62-96314C13B560}"/>
              </a:ext>
            </a:extLst>
          </p:cNvPr>
          <p:cNvSpPr/>
          <p:nvPr/>
        </p:nvSpPr>
        <p:spPr>
          <a:xfrm>
            <a:off x="1831016" y="2014152"/>
            <a:ext cx="1637629" cy="1245302"/>
          </a:xfrm>
          <a:prstGeom prst="roundRect">
            <a:avLst/>
          </a:prstGeom>
          <a:solidFill>
            <a:srgbClr val="D5E8D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3AC40-B0F5-4F1A-9236-7457A43D1A68}"/>
              </a:ext>
            </a:extLst>
          </p:cNvPr>
          <p:cNvSpPr/>
          <p:nvPr/>
        </p:nvSpPr>
        <p:spPr>
          <a:xfrm>
            <a:off x="3608172" y="2014151"/>
            <a:ext cx="3361039" cy="1232935"/>
          </a:xfrm>
          <a:prstGeom prst="roundRect">
            <a:avLst/>
          </a:prstGeom>
          <a:solidFill>
            <a:schemeClr val="accent3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4FA60-2D6F-4804-AB0B-66C528449FC3}"/>
              </a:ext>
            </a:extLst>
          </p:cNvPr>
          <p:cNvSpPr/>
          <p:nvPr/>
        </p:nvSpPr>
        <p:spPr>
          <a:xfrm>
            <a:off x="7153624" y="2014151"/>
            <a:ext cx="3361039" cy="1232935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6DF994-4CBD-4520-AB04-9E39E4CD83F7}"/>
              </a:ext>
            </a:extLst>
          </p:cNvPr>
          <p:cNvSpPr/>
          <p:nvPr/>
        </p:nvSpPr>
        <p:spPr>
          <a:xfrm>
            <a:off x="1891119" y="3509504"/>
            <a:ext cx="8658934" cy="5045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Rx Scoreboard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E0A13-53BE-4A20-A938-74FF519EAECB}"/>
              </a:ext>
            </a:extLst>
          </p:cNvPr>
          <p:cNvSpPr/>
          <p:nvPr/>
        </p:nvSpPr>
        <p:spPr>
          <a:xfrm>
            <a:off x="4293030" y="4228433"/>
            <a:ext cx="3750589" cy="1625724"/>
          </a:xfrm>
          <a:prstGeom prst="roundRect">
            <a:avLst/>
          </a:prstGeom>
          <a:solidFill>
            <a:srgbClr val="FFE6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F10473-81DC-4AED-8416-8B7858EB033B}"/>
              </a:ext>
            </a:extLst>
          </p:cNvPr>
          <p:cNvSpPr/>
          <p:nvPr/>
        </p:nvSpPr>
        <p:spPr>
          <a:xfrm>
            <a:off x="1831016" y="1391645"/>
            <a:ext cx="1637629" cy="504545"/>
          </a:xfrm>
          <a:prstGeom prst="roundRect">
            <a:avLst/>
          </a:prstGeom>
          <a:solidFill>
            <a:srgbClr val="60A917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Registers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675643-DC01-4077-A789-DDA9A2603263}"/>
              </a:ext>
            </a:extLst>
          </p:cNvPr>
          <p:cNvSpPr/>
          <p:nvPr/>
        </p:nvSpPr>
        <p:spPr>
          <a:xfrm>
            <a:off x="3608173" y="1391644"/>
            <a:ext cx="3361039" cy="492061"/>
          </a:xfrm>
          <a:prstGeom prst="roundRect">
            <a:avLst/>
          </a:prstGeom>
          <a:solidFill>
            <a:srgbClr val="1BA1E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Buffer Descriptor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A212F-7959-4409-98FF-73F01BD0892E}"/>
              </a:ext>
            </a:extLst>
          </p:cNvPr>
          <p:cNvSpPr/>
          <p:nvPr/>
        </p:nvSpPr>
        <p:spPr>
          <a:xfrm>
            <a:off x="7192909" y="1391643"/>
            <a:ext cx="3321754" cy="492062"/>
          </a:xfrm>
          <a:prstGeom prst="roundRect">
            <a:avLst/>
          </a:prstGeom>
          <a:solidFill>
            <a:srgbClr val="E514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DMA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4F44B4-107F-4C75-A2EB-63AED5B88B23}"/>
              </a:ext>
            </a:extLst>
          </p:cNvPr>
          <p:cNvSpPr/>
          <p:nvPr/>
        </p:nvSpPr>
        <p:spPr>
          <a:xfrm>
            <a:off x="4293029" y="5939255"/>
            <a:ext cx="3750589" cy="286645"/>
          </a:xfrm>
          <a:prstGeom prst="roundRect">
            <a:avLst/>
          </a:prstGeom>
          <a:solidFill>
            <a:srgbClr val="FA68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2E78D-BAA1-48AC-B55F-DC76250B3722}"/>
              </a:ext>
            </a:extLst>
          </p:cNvPr>
          <p:cNvSpPr txBox="1"/>
          <p:nvPr/>
        </p:nvSpPr>
        <p:spPr>
          <a:xfrm>
            <a:off x="3851206" y="2075673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Slave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E44B9-972F-4523-8436-8C0E32E0F6B0}"/>
              </a:ext>
            </a:extLst>
          </p:cNvPr>
          <p:cNvSpPr txBox="1"/>
          <p:nvPr/>
        </p:nvSpPr>
        <p:spPr>
          <a:xfrm>
            <a:off x="7281621" y="2099740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Master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CAD4-4016-404C-BEBA-1FE59F82E2FE}"/>
              </a:ext>
            </a:extLst>
          </p:cNvPr>
          <p:cNvSpPr txBox="1"/>
          <p:nvPr/>
        </p:nvSpPr>
        <p:spPr>
          <a:xfrm>
            <a:off x="4466782" y="5352921"/>
            <a:ext cx="2569427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MII Rx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83D6C-7614-4861-AD76-2AFF3DC47277}"/>
              </a:ext>
            </a:extLst>
          </p:cNvPr>
          <p:cNvSpPr/>
          <p:nvPr/>
        </p:nvSpPr>
        <p:spPr>
          <a:xfrm>
            <a:off x="3727972" y="253899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Driver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72D59-AC39-4BA6-8013-DE0086BE3259}"/>
              </a:ext>
            </a:extLst>
          </p:cNvPr>
          <p:cNvSpPr/>
          <p:nvPr/>
        </p:nvSpPr>
        <p:spPr>
          <a:xfrm>
            <a:off x="5323703" y="2538995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A022-AF6C-44C9-A3A3-714148F84B56}"/>
              </a:ext>
            </a:extLst>
          </p:cNvPr>
          <p:cNvSpPr/>
          <p:nvPr/>
        </p:nvSpPr>
        <p:spPr>
          <a:xfrm>
            <a:off x="7290239" y="2537246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Driver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EAB7F-D94C-4EF6-AA2A-943C089CDBDA}"/>
              </a:ext>
            </a:extLst>
          </p:cNvPr>
          <p:cNvSpPr/>
          <p:nvPr/>
        </p:nvSpPr>
        <p:spPr>
          <a:xfrm>
            <a:off x="8872336" y="2542649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Monitor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999F5C-9F90-4A50-88C3-2D99F9FAF203}"/>
              </a:ext>
            </a:extLst>
          </p:cNvPr>
          <p:cNvSpPr/>
          <p:nvPr/>
        </p:nvSpPr>
        <p:spPr>
          <a:xfrm>
            <a:off x="6333943" y="4449502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Driver</a:t>
            </a:r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699533BA-D13C-40ED-B6F5-67823B7A5A43}"/>
              </a:ext>
            </a:extLst>
          </p:cNvPr>
          <p:cNvSpPr/>
          <p:nvPr/>
        </p:nvSpPr>
        <p:spPr>
          <a:xfrm>
            <a:off x="6027814" y="345004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CD6CDD5-5425-462E-9372-2ECF2B8B6A30}"/>
              </a:ext>
            </a:extLst>
          </p:cNvPr>
          <p:cNvSpPr/>
          <p:nvPr/>
        </p:nvSpPr>
        <p:spPr>
          <a:xfrm>
            <a:off x="6026726" y="318274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53E5CDE-35E4-445D-AEE4-6CB6A0CB40AA}"/>
              </a:ext>
            </a:extLst>
          </p:cNvPr>
          <p:cNvSpPr/>
          <p:nvPr/>
        </p:nvSpPr>
        <p:spPr>
          <a:xfrm>
            <a:off x="6027813" y="297644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059A75-A40E-4E82-90FC-1BBD7BB82839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6100198" y="3107226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06380F-A530-477C-BDF1-25A09CEC9DA4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6100198" y="3313520"/>
            <a:ext cx="1088" cy="13652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A8CBAE7D-036A-49BC-9B26-D853F0420304}"/>
              </a:ext>
            </a:extLst>
          </p:cNvPr>
          <p:cNvSpPr/>
          <p:nvPr/>
        </p:nvSpPr>
        <p:spPr>
          <a:xfrm>
            <a:off x="9566944" y="3447859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ACABA3E1-62D0-4C54-B6DA-8038B66C6A96}"/>
              </a:ext>
            </a:extLst>
          </p:cNvPr>
          <p:cNvSpPr/>
          <p:nvPr/>
        </p:nvSpPr>
        <p:spPr>
          <a:xfrm>
            <a:off x="9566945" y="3182544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B21AB59E-183B-4A8B-825A-FE66EF7C3E61}"/>
              </a:ext>
            </a:extLst>
          </p:cNvPr>
          <p:cNvSpPr/>
          <p:nvPr/>
        </p:nvSpPr>
        <p:spPr>
          <a:xfrm>
            <a:off x="9568032" y="297625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EABDA6-A6F6-4F9B-901A-C05EF81BE085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 flipH="1">
            <a:off x="9640417" y="3107028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128A3A-576F-42C9-9B54-C5A4335AAA6B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flipH="1">
            <a:off x="9640416" y="3313322"/>
            <a:ext cx="1" cy="134537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2C77858-871C-4A70-BAFB-9FCFB021CAC4}"/>
              </a:ext>
            </a:extLst>
          </p:cNvPr>
          <p:cNvSpPr/>
          <p:nvPr/>
        </p:nvSpPr>
        <p:spPr>
          <a:xfrm>
            <a:off x="4564037" y="446090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Monitor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93EAEDE5-FE2F-47AB-A2CE-8584603FEFAC}"/>
              </a:ext>
            </a:extLst>
          </p:cNvPr>
          <p:cNvSpPr/>
          <p:nvPr/>
        </p:nvSpPr>
        <p:spPr>
          <a:xfrm>
            <a:off x="5258646" y="439551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D01B820C-2B2B-4027-A8D3-E18EDB7A67EB}"/>
              </a:ext>
            </a:extLst>
          </p:cNvPr>
          <p:cNvSpPr/>
          <p:nvPr/>
        </p:nvSpPr>
        <p:spPr>
          <a:xfrm>
            <a:off x="5258646" y="416352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82172C0A-FE7B-4F20-B753-0C4439B80E44}"/>
              </a:ext>
            </a:extLst>
          </p:cNvPr>
          <p:cNvSpPr/>
          <p:nvPr/>
        </p:nvSpPr>
        <p:spPr>
          <a:xfrm>
            <a:off x="5260006" y="394818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6BA9BF-7113-4050-82C3-7A443A4B56D3}"/>
              </a:ext>
            </a:extLst>
          </p:cNvPr>
          <p:cNvCxnSpPr>
            <a:stCxn id="60" idx="2"/>
            <a:endCxn id="59" idx="0"/>
          </p:cNvCxnSpPr>
          <p:nvPr/>
        </p:nvCxnSpPr>
        <p:spPr>
          <a:xfrm flipH="1">
            <a:off x="5332118" y="4078960"/>
            <a:ext cx="1360" cy="84562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5BAEDD-482F-4E92-BA6A-BEF11C783379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5332118" y="4294300"/>
            <a:ext cx="0" cy="101218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838114E-D5A5-4817-8A99-711440406BE4}"/>
              </a:ext>
            </a:extLst>
          </p:cNvPr>
          <p:cNvSpPr/>
          <p:nvPr/>
        </p:nvSpPr>
        <p:spPr>
          <a:xfrm>
            <a:off x="6337999" y="523887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Sequencer</a:t>
            </a:r>
          </a:p>
        </p:txBody>
      </p:sp>
      <p:sp>
        <p:nvSpPr>
          <p:cNvPr id="1171" name="Flowchart: Connector 1170">
            <a:extLst>
              <a:ext uri="{FF2B5EF4-FFF2-40B4-BE49-F238E27FC236}">
                <a16:creationId xmlns:a16="http://schemas.microsoft.com/office/drawing/2014/main" id="{94805C6E-558B-4A5E-89F0-2737179F2AFC}"/>
              </a:ext>
            </a:extLst>
          </p:cNvPr>
          <p:cNvSpPr/>
          <p:nvPr/>
        </p:nvSpPr>
        <p:spPr>
          <a:xfrm>
            <a:off x="7002233" y="5180904"/>
            <a:ext cx="139347" cy="139561"/>
          </a:xfrm>
          <a:prstGeom prst="flowChartConnector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9F5B76E6-622D-4C56-A039-8CE957FC3476}"/>
              </a:ext>
            </a:extLst>
          </p:cNvPr>
          <p:cNvSpPr/>
          <p:nvPr/>
        </p:nvSpPr>
        <p:spPr>
          <a:xfrm>
            <a:off x="7014277" y="4902668"/>
            <a:ext cx="115261" cy="1218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D225CC55-4F4F-4FE5-ABAC-1E448A4ACA35}"/>
              </a:ext>
            </a:extLst>
          </p:cNvPr>
          <p:cNvCxnSpPr>
            <a:cxnSpLocks/>
            <a:stCxn id="1171" idx="0"/>
            <a:endCxn id="1172" idx="2"/>
          </p:cNvCxnSpPr>
          <p:nvPr/>
        </p:nvCxnSpPr>
        <p:spPr>
          <a:xfrm flipV="1">
            <a:off x="7071907" y="5024491"/>
            <a:ext cx="1" cy="156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5ECDC9B-359E-4C1E-8399-64973DC924CC}"/>
              </a:ext>
            </a:extLst>
          </p:cNvPr>
          <p:cNvSpPr/>
          <p:nvPr/>
        </p:nvSpPr>
        <p:spPr>
          <a:xfrm>
            <a:off x="9373194" y="4264099"/>
            <a:ext cx="20706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DUT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A41AF1-0E89-48E1-AE1A-A7B7DC3B422D}"/>
              </a:ext>
            </a:extLst>
          </p:cNvPr>
          <p:cNvSpPr/>
          <p:nvPr/>
        </p:nvSpPr>
        <p:spPr>
          <a:xfrm>
            <a:off x="8705683" y="4264098"/>
            <a:ext cx="3333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if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1712BCE1-915C-4417-9909-45573F91ABB4}"/>
              </a:ext>
            </a:extLst>
          </p:cNvPr>
          <p:cNvCxnSpPr/>
          <p:nvPr/>
        </p:nvCxnSpPr>
        <p:spPr>
          <a:xfrm>
            <a:off x="7809874" y="4700923"/>
            <a:ext cx="895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D4B91016-A201-4AE3-8CC7-2DB5FE66FFFC}"/>
              </a:ext>
            </a:extLst>
          </p:cNvPr>
          <p:cNvCxnSpPr>
            <a:stCxn id="85" idx="3"/>
            <a:endCxn id="1176" idx="1"/>
          </p:cNvCxnSpPr>
          <p:nvPr/>
        </p:nvCxnSpPr>
        <p:spPr>
          <a:xfrm>
            <a:off x="9038988" y="5076761"/>
            <a:ext cx="33420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Rectangle: Top Corners One Rounded and One Snipped 1153">
            <a:extLst>
              <a:ext uri="{FF2B5EF4-FFF2-40B4-BE49-F238E27FC236}">
                <a16:creationId xmlns:a16="http://schemas.microsoft.com/office/drawing/2014/main" id="{D9A5B53D-8C0A-47E7-BC4F-64D2AD0E53A9}"/>
              </a:ext>
            </a:extLst>
          </p:cNvPr>
          <p:cNvSpPr/>
          <p:nvPr/>
        </p:nvSpPr>
        <p:spPr>
          <a:xfrm>
            <a:off x="10997581" y="5422619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04F8C3-F38D-4904-B854-C10C5DFA255A}"/>
              </a:ext>
            </a:extLst>
          </p:cNvPr>
          <p:cNvSpPr txBox="1"/>
          <p:nvPr/>
        </p:nvSpPr>
        <p:spPr>
          <a:xfrm>
            <a:off x="9490876" y="5422619"/>
            <a:ext cx="188136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Ethernet Frame</a:t>
            </a:r>
          </a:p>
        </p:txBody>
      </p:sp>
      <p:sp>
        <p:nvSpPr>
          <p:cNvPr id="47" name="Rectangle: Top Corners One Rounded and One Snipped 46">
            <a:extLst>
              <a:ext uri="{FF2B5EF4-FFF2-40B4-BE49-F238E27FC236}">
                <a16:creationId xmlns:a16="http://schemas.microsoft.com/office/drawing/2014/main" id="{EF0BACB7-98E0-4762-9150-0A39E0BFC983}"/>
              </a:ext>
            </a:extLst>
          </p:cNvPr>
          <p:cNvSpPr/>
          <p:nvPr/>
        </p:nvSpPr>
        <p:spPr>
          <a:xfrm>
            <a:off x="4445615" y="4274718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988FB2-CA05-4598-A3ED-EA0DC9725E36}"/>
              </a:ext>
            </a:extLst>
          </p:cNvPr>
          <p:cNvSpPr txBox="1"/>
          <p:nvPr/>
        </p:nvSpPr>
        <p:spPr>
          <a:xfrm>
            <a:off x="2106780" y="4237694"/>
            <a:ext cx="237091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Reconstructed Eth Frame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2A399DE-DCD0-431F-A68E-0BA3110857F1}"/>
              </a:ext>
            </a:extLst>
          </p:cNvPr>
          <p:cNvCxnSpPr/>
          <p:nvPr/>
        </p:nvCxnSpPr>
        <p:spPr>
          <a:xfrm>
            <a:off x="9201150" y="5079742"/>
            <a:ext cx="0" cy="145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F2E2825-E13F-4F83-8838-1DE016D56B5D}"/>
              </a:ext>
            </a:extLst>
          </p:cNvPr>
          <p:cNvCxnSpPr/>
          <p:nvPr/>
        </p:nvCxnSpPr>
        <p:spPr>
          <a:xfrm flipH="1">
            <a:off x="3667648" y="6537131"/>
            <a:ext cx="55335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E409F1D-F2CB-4063-A015-B1B779CD6985}"/>
              </a:ext>
            </a:extLst>
          </p:cNvPr>
          <p:cNvCxnSpPr>
            <a:cxnSpLocks/>
          </p:cNvCxnSpPr>
          <p:nvPr/>
        </p:nvCxnSpPr>
        <p:spPr>
          <a:xfrm flipV="1">
            <a:off x="3667648" y="4703904"/>
            <a:ext cx="0" cy="1833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5A069D-7809-46CC-A854-E7E6D48B56A8}"/>
              </a:ext>
            </a:extLst>
          </p:cNvPr>
          <p:cNvCxnSpPr/>
          <p:nvPr/>
        </p:nvCxnSpPr>
        <p:spPr>
          <a:xfrm>
            <a:off x="3667648" y="4703904"/>
            <a:ext cx="896389" cy="1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46820" y="6082577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35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71688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D957C-F0D3-4828-9A62-96314C13B560}"/>
              </a:ext>
            </a:extLst>
          </p:cNvPr>
          <p:cNvSpPr/>
          <p:nvPr/>
        </p:nvSpPr>
        <p:spPr>
          <a:xfrm>
            <a:off x="1866406" y="840642"/>
            <a:ext cx="1637629" cy="1245302"/>
          </a:xfrm>
          <a:prstGeom prst="roundRect">
            <a:avLst/>
          </a:prstGeom>
          <a:solidFill>
            <a:srgbClr val="D5E8D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3AC40-B0F5-4F1A-9236-7457A43D1A68}"/>
              </a:ext>
            </a:extLst>
          </p:cNvPr>
          <p:cNvSpPr/>
          <p:nvPr/>
        </p:nvSpPr>
        <p:spPr>
          <a:xfrm>
            <a:off x="3643562" y="840641"/>
            <a:ext cx="3361039" cy="1232935"/>
          </a:xfrm>
          <a:prstGeom prst="roundRect">
            <a:avLst/>
          </a:prstGeom>
          <a:solidFill>
            <a:schemeClr val="accent3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4FA60-2D6F-4804-AB0B-66C528449FC3}"/>
              </a:ext>
            </a:extLst>
          </p:cNvPr>
          <p:cNvSpPr/>
          <p:nvPr/>
        </p:nvSpPr>
        <p:spPr>
          <a:xfrm>
            <a:off x="7189014" y="840641"/>
            <a:ext cx="3361039" cy="1232935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6DF994-4CBD-4520-AB04-9E39E4CD83F7}"/>
              </a:ext>
            </a:extLst>
          </p:cNvPr>
          <p:cNvSpPr/>
          <p:nvPr/>
        </p:nvSpPr>
        <p:spPr>
          <a:xfrm>
            <a:off x="1891119" y="2346496"/>
            <a:ext cx="8658934" cy="1667553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Rx Scoreboard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E0A13-53BE-4A20-A938-74FF519EAECB}"/>
              </a:ext>
            </a:extLst>
          </p:cNvPr>
          <p:cNvSpPr/>
          <p:nvPr/>
        </p:nvSpPr>
        <p:spPr>
          <a:xfrm>
            <a:off x="4293030" y="4228433"/>
            <a:ext cx="3750589" cy="1625724"/>
          </a:xfrm>
          <a:prstGeom prst="roundRect">
            <a:avLst/>
          </a:prstGeom>
          <a:solidFill>
            <a:srgbClr val="FFE6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F10473-81DC-4AED-8416-8B7858EB033B}"/>
              </a:ext>
            </a:extLst>
          </p:cNvPr>
          <p:cNvSpPr/>
          <p:nvPr/>
        </p:nvSpPr>
        <p:spPr>
          <a:xfrm>
            <a:off x="1866406" y="218135"/>
            <a:ext cx="1637629" cy="504545"/>
          </a:xfrm>
          <a:prstGeom prst="roundRect">
            <a:avLst/>
          </a:prstGeom>
          <a:solidFill>
            <a:srgbClr val="60A917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Registers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675643-DC01-4077-A789-DDA9A2603263}"/>
              </a:ext>
            </a:extLst>
          </p:cNvPr>
          <p:cNvSpPr/>
          <p:nvPr/>
        </p:nvSpPr>
        <p:spPr>
          <a:xfrm>
            <a:off x="3643563" y="218134"/>
            <a:ext cx="3361039" cy="492061"/>
          </a:xfrm>
          <a:prstGeom prst="roundRect">
            <a:avLst/>
          </a:prstGeom>
          <a:solidFill>
            <a:srgbClr val="1BA1E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Buffer Descriptor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A212F-7959-4409-98FF-73F01BD0892E}"/>
              </a:ext>
            </a:extLst>
          </p:cNvPr>
          <p:cNvSpPr/>
          <p:nvPr/>
        </p:nvSpPr>
        <p:spPr>
          <a:xfrm>
            <a:off x="7228299" y="218133"/>
            <a:ext cx="3321754" cy="492062"/>
          </a:xfrm>
          <a:prstGeom prst="roundRect">
            <a:avLst/>
          </a:prstGeom>
          <a:solidFill>
            <a:srgbClr val="E514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DMA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4F44B4-107F-4C75-A2EB-63AED5B88B23}"/>
              </a:ext>
            </a:extLst>
          </p:cNvPr>
          <p:cNvSpPr/>
          <p:nvPr/>
        </p:nvSpPr>
        <p:spPr>
          <a:xfrm>
            <a:off x="4293029" y="5939255"/>
            <a:ext cx="3750589" cy="286645"/>
          </a:xfrm>
          <a:prstGeom prst="roundRect">
            <a:avLst/>
          </a:prstGeom>
          <a:solidFill>
            <a:srgbClr val="FA68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2E78D-BAA1-48AC-B55F-DC76250B3722}"/>
              </a:ext>
            </a:extLst>
          </p:cNvPr>
          <p:cNvSpPr txBox="1"/>
          <p:nvPr/>
        </p:nvSpPr>
        <p:spPr>
          <a:xfrm>
            <a:off x="3886596" y="902163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Slave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E44B9-972F-4523-8436-8C0E32E0F6B0}"/>
              </a:ext>
            </a:extLst>
          </p:cNvPr>
          <p:cNvSpPr txBox="1"/>
          <p:nvPr/>
        </p:nvSpPr>
        <p:spPr>
          <a:xfrm>
            <a:off x="7317011" y="926230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Master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CAD4-4016-404C-BEBA-1FE59F82E2FE}"/>
              </a:ext>
            </a:extLst>
          </p:cNvPr>
          <p:cNvSpPr txBox="1"/>
          <p:nvPr/>
        </p:nvSpPr>
        <p:spPr>
          <a:xfrm>
            <a:off x="4466782" y="5352921"/>
            <a:ext cx="2569427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MII Rx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83D6C-7614-4861-AD76-2AFF3DC47277}"/>
              </a:ext>
            </a:extLst>
          </p:cNvPr>
          <p:cNvSpPr/>
          <p:nvPr/>
        </p:nvSpPr>
        <p:spPr>
          <a:xfrm>
            <a:off x="3763362" y="136548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Driver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72D59-AC39-4BA6-8013-DE0086BE3259}"/>
              </a:ext>
            </a:extLst>
          </p:cNvPr>
          <p:cNvSpPr/>
          <p:nvPr/>
        </p:nvSpPr>
        <p:spPr>
          <a:xfrm>
            <a:off x="5359093" y="1365485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A022-AF6C-44C9-A3A3-714148F84B56}"/>
              </a:ext>
            </a:extLst>
          </p:cNvPr>
          <p:cNvSpPr/>
          <p:nvPr/>
        </p:nvSpPr>
        <p:spPr>
          <a:xfrm>
            <a:off x="7325629" y="1363736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Driver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EAB7F-D94C-4EF6-AA2A-943C089CDBDA}"/>
              </a:ext>
            </a:extLst>
          </p:cNvPr>
          <p:cNvSpPr/>
          <p:nvPr/>
        </p:nvSpPr>
        <p:spPr>
          <a:xfrm>
            <a:off x="8907726" y="1369139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Monitor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999F5C-9F90-4A50-88C3-2D99F9FAF203}"/>
              </a:ext>
            </a:extLst>
          </p:cNvPr>
          <p:cNvSpPr/>
          <p:nvPr/>
        </p:nvSpPr>
        <p:spPr>
          <a:xfrm>
            <a:off x="6333943" y="4449502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Driver</a:t>
            </a:r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699533BA-D13C-40ED-B6F5-67823B7A5A43}"/>
              </a:ext>
            </a:extLst>
          </p:cNvPr>
          <p:cNvSpPr/>
          <p:nvPr/>
        </p:nvSpPr>
        <p:spPr>
          <a:xfrm>
            <a:off x="6063204" y="227653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CD6CDD5-5425-462E-9372-2ECF2B8B6A30}"/>
              </a:ext>
            </a:extLst>
          </p:cNvPr>
          <p:cNvSpPr/>
          <p:nvPr/>
        </p:nvSpPr>
        <p:spPr>
          <a:xfrm>
            <a:off x="6062116" y="200923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53E5CDE-35E4-445D-AEE4-6CB6A0CB40AA}"/>
              </a:ext>
            </a:extLst>
          </p:cNvPr>
          <p:cNvSpPr/>
          <p:nvPr/>
        </p:nvSpPr>
        <p:spPr>
          <a:xfrm>
            <a:off x="6063203" y="180293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059A75-A40E-4E82-90FC-1BBD7BB82839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6135588" y="1933716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06380F-A530-477C-BDF1-25A09CEC9DA4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6135588" y="2140010"/>
            <a:ext cx="1088" cy="13652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A8CBAE7D-036A-49BC-9B26-D853F0420304}"/>
              </a:ext>
            </a:extLst>
          </p:cNvPr>
          <p:cNvSpPr/>
          <p:nvPr/>
        </p:nvSpPr>
        <p:spPr>
          <a:xfrm>
            <a:off x="9602334" y="2274349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ACABA3E1-62D0-4C54-B6DA-8038B66C6A96}"/>
              </a:ext>
            </a:extLst>
          </p:cNvPr>
          <p:cNvSpPr/>
          <p:nvPr/>
        </p:nvSpPr>
        <p:spPr>
          <a:xfrm>
            <a:off x="9602335" y="2009034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B21AB59E-183B-4A8B-825A-FE66EF7C3E61}"/>
              </a:ext>
            </a:extLst>
          </p:cNvPr>
          <p:cNvSpPr/>
          <p:nvPr/>
        </p:nvSpPr>
        <p:spPr>
          <a:xfrm>
            <a:off x="9603422" y="180274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EABDA6-A6F6-4F9B-901A-C05EF81BE085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 flipH="1">
            <a:off x="9675807" y="1933518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128A3A-576F-42C9-9B54-C5A4335AAA6B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flipH="1">
            <a:off x="9675806" y="2139812"/>
            <a:ext cx="1" cy="134537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2C77858-871C-4A70-BAFB-9FCFB021CAC4}"/>
              </a:ext>
            </a:extLst>
          </p:cNvPr>
          <p:cNvSpPr/>
          <p:nvPr/>
        </p:nvSpPr>
        <p:spPr>
          <a:xfrm>
            <a:off x="4564037" y="446090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Monitor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93EAEDE5-FE2F-47AB-A2CE-8584603FEFAC}"/>
              </a:ext>
            </a:extLst>
          </p:cNvPr>
          <p:cNvSpPr/>
          <p:nvPr/>
        </p:nvSpPr>
        <p:spPr>
          <a:xfrm>
            <a:off x="5258646" y="439551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D01B820C-2B2B-4027-A8D3-E18EDB7A67EB}"/>
              </a:ext>
            </a:extLst>
          </p:cNvPr>
          <p:cNvSpPr/>
          <p:nvPr/>
        </p:nvSpPr>
        <p:spPr>
          <a:xfrm>
            <a:off x="5258646" y="416352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82172C0A-FE7B-4F20-B753-0C4439B80E44}"/>
              </a:ext>
            </a:extLst>
          </p:cNvPr>
          <p:cNvSpPr/>
          <p:nvPr/>
        </p:nvSpPr>
        <p:spPr>
          <a:xfrm>
            <a:off x="5260006" y="394818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6BA9BF-7113-4050-82C3-7A443A4B56D3}"/>
              </a:ext>
            </a:extLst>
          </p:cNvPr>
          <p:cNvCxnSpPr>
            <a:stCxn id="60" idx="2"/>
            <a:endCxn id="59" idx="0"/>
          </p:cNvCxnSpPr>
          <p:nvPr/>
        </p:nvCxnSpPr>
        <p:spPr>
          <a:xfrm flipH="1">
            <a:off x="5332118" y="4078960"/>
            <a:ext cx="1360" cy="84562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5BAEDD-482F-4E92-BA6A-BEF11C783379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5332118" y="4294300"/>
            <a:ext cx="0" cy="101218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838114E-D5A5-4817-8A99-711440406BE4}"/>
              </a:ext>
            </a:extLst>
          </p:cNvPr>
          <p:cNvSpPr/>
          <p:nvPr/>
        </p:nvSpPr>
        <p:spPr>
          <a:xfrm>
            <a:off x="6337999" y="5238875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Sequencer</a:t>
            </a:r>
          </a:p>
        </p:txBody>
      </p:sp>
      <p:sp>
        <p:nvSpPr>
          <p:cNvPr id="1171" name="Flowchart: Connector 1170">
            <a:extLst>
              <a:ext uri="{FF2B5EF4-FFF2-40B4-BE49-F238E27FC236}">
                <a16:creationId xmlns:a16="http://schemas.microsoft.com/office/drawing/2014/main" id="{94805C6E-558B-4A5E-89F0-2737179F2AFC}"/>
              </a:ext>
            </a:extLst>
          </p:cNvPr>
          <p:cNvSpPr/>
          <p:nvPr/>
        </p:nvSpPr>
        <p:spPr>
          <a:xfrm>
            <a:off x="7002233" y="5180904"/>
            <a:ext cx="139347" cy="139561"/>
          </a:xfrm>
          <a:prstGeom prst="flowChartConnector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9F5B76E6-622D-4C56-A039-8CE957FC3476}"/>
              </a:ext>
            </a:extLst>
          </p:cNvPr>
          <p:cNvSpPr/>
          <p:nvPr/>
        </p:nvSpPr>
        <p:spPr>
          <a:xfrm>
            <a:off x="7014277" y="4902668"/>
            <a:ext cx="115261" cy="1218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D225CC55-4F4F-4FE5-ABAC-1E448A4ACA35}"/>
              </a:ext>
            </a:extLst>
          </p:cNvPr>
          <p:cNvCxnSpPr>
            <a:cxnSpLocks/>
            <a:stCxn id="1171" idx="0"/>
            <a:endCxn id="1172" idx="2"/>
          </p:cNvCxnSpPr>
          <p:nvPr/>
        </p:nvCxnSpPr>
        <p:spPr>
          <a:xfrm flipV="1">
            <a:off x="7071907" y="5024491"/>
            <a:ext cx="1" cy="156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5ECDC9B-359E-4C1E-8399-64973DC924CC}"/>
              </a:ext>
            </a:extLst>
          </p:cNvPr>
          <p:cNvSpPr/>
          <p:nvPr/>
        </p:nvSpPr>
        <p:spPr>
          <a:xfrm>
            <a:off x="9373194" y="4264099"/>
            <a:ext cx="20706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DUT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A41AF1-0E89-48E1-AE1A-A7B7DC3B422D}"/>
              </a:ext>
            </a:extLst>
          </p:cNvPr>
          <p:cNvSpPr/>
          <p:nvPr/>
        </p:nvSpPr>
        <p:spPr>
          <a:xfrm>
            <a:off x="8705683" y="4264098"/>
            <a:ext cx="333305" cy="1625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if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78" name="Straight Connector 1177">
            <a:extLst>
              <a:ext uri="{FF2B5EF4-FFF2-40B4-BE49-F238E27FC236}">
                <a16:creationId xmlns:a16="http://schemas.microsoft.com/office/drawing/2014/main" id="{1712BCE1-915C-4417-9909-45573F91ABB4}"/>
              </a:ext>
            </a:extLst>
          </p:cNvPr>
          <p:cNvCxnSpPr/>
          <p:nvPr/>
        </p:nvCxnSpPr>
        <p:spPr>
          <a:xfrm>
            <a:off x="7809874" y="4700923"/>
            <a:ext cx="895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D4B91016-A201-4AE3-8CC7-2DB5FE66FFFC}"/>
              </a:ext>
            </a:extLst>
          </p:cNvPr>
          <p:cNvCxnSpPr>
            <a:stCxn id="85" idx="3"/>
            <a:endCxn id="1176" idx="1"/>
          </p:cNvCxnSpPr>
          <p:nvPr/>
        </p:nvCxnSpPr>
        <p:spPr>
          <a:xfrm>
            <a:off x="9038988" y="5076761"/>
            <a:ext cx="33420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Rectangle: Top Corners One Rounded and One Snipped 1153">
            <a:extLst>
              <a:ext uri="{FF2B5EF4-FFF2-40B4-BE49-F238E27FC236}">
                <a16:creationId xmlns:a16="http://schemas.microsoft.com/office/drawing/2014/main" id="{D9A5B53D-8C0A-47E7-BC4F-64D2AD0E53A9}"/>
              </a:ext>
            </a:extLst>
          </p:cNvPr>
          <p:cNvSpPr/>
          <p:nvPr/>
        </p:nvSpPr>
        <p:spPr>
          <a:xfrm>
            <a:off x="10997581" y="5422619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04F8C3-F38D-4904-B854-C10C5DFA255A}"/>
              </a:ext>
            </a:extLst>
          </p:cNvPr>
          <p:cNvSpPr txBox="1"/>
          <p:nvPr/>
        </p:nvSpPr>
        <p:spPr>
          <a:xfrm>
            <a:off x="9490876" y="5422619"/>
            <a:ext cx="1881360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Ethernet Frame</a:t>
            </a:r>
          </a:p>
        </p:txBody>
      </p:sp>
      <p:sp>
        <p:nvSpPr>
          <p:cNvPr id="47" name="Rectangle: Top Corners One Rounded and One Snipped 46">
            <a:extLst>
              <a:ext uri="{FF2B5EF4-FFF2-40B4-BE49-F238E27FC236}">
                <a16:creationId xmlns:a16="http://schemas.microsoft.com/office/drawing/2014/main" id="{EF0BACB7-98E0-4762-9150-0A39E0BFC983}"/>
              </a:ext>
            </a:extLst>
          </p:cNvPr>
          <p:cNvSpPr/>
          <p:nvPr/>
        </p:nvSpPr>
        <p:spPr>
          <a:xfrm>
            <a:off x="5430162" y="3490768"/>
            <a:ext cx="321333" cy="360499"/>
          </a:xfrm>
          <a:prstGeom prst="snip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988FB2-CA05-4598-A3ED-EA0DC9725E36}"/>
              </a:ext>
            </a:extLst>
          </p:cNvPr>
          <p:cNvSpPr txBox="1"/>
          <p:nvPr/>
        </p:nvSpPr>
        <p:spPr>
          <a:xfrm>
            <a:off x="3107572" y="3438429"/>
            <a:ext cx="237091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Reconstructed Eth Frame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2A399DE-DCD0-431F-A68E-0BA3110857F1}"/>
              </a:ext>
            </a:extLst>
          </p:cNvPr>
          <p:cNvCxnSpPr/>
          <p:nvPr/>
        </p:nvCxnSpPr>
        <p:spPr>
          <a:xfrm>
            <a:off x="9201150" y="5079742"/>
            <a:ext cx="0" cy="1457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F2E2825-E13F-4F83-8838-1DE016D56B5D}"/>
              </a:ext>
            </a:extLst>
          </p:cNvPr>
          <p:cNvCxnSpPr/>
          <p:nvPr/>
        </p:nvCxnSpPr>
        <p:spPr>
          <a:xfrm flipH="1">
            <a:off x="3667648" y="6537131"/>
            <a:ext cx="55335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E409F1D-F2CB-4063-A015-B1B779CD6985}"/>
              </a:ext>
            </a:extLst>
          </p:cNvPr>
          <p:cNvCxnSpPr>
            <a:cxnSpLocks/>
          </p:cNvCxnSpPr>
          <p:nvPr/>
        </p:nvCxnSpPr>
        <p:spPr>
          <a:xfrm flipV="1">
            <a:off x="3667648" y="4703904"/>
            <a:ext cx="0" cy="1833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5A069D-7809-46CC-A854-E7E6D48B56A8}"/>
              </a:ext>
            </a:extLst>
          </p:cNvPr>
          <p:cNvCxnSpPr/>
          <p:nvPr/>
        </p:nvCxnSpPr>
        <p:spPr>
          <a:xfrm>
            <a:off x="3667648" y="4703904"/>
            <a:ext cx="896389" cy="11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26492" y="6043337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36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54011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/>
        </p:nvSpPr>
        <p:spPr>
          <a:xfrm>
            <a:off x="596119" y="2116529"/>
            <a:ext cx="2519221" cy="243075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marR="0" lvl="0" indent="0" algn="just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1457A2-AF3B-5B92-88BB-8914B17F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1089" y="5883274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37</a:t>
            </a:fld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BFB31C-9C81-4A40-96D4-5B1E059CC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06" y="398034"/>
            <a:ext cx="9391426" cy="605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60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0D957C-F0D3-4828-9A62-96314C13B560}"/>
              </a:ext>
            </a:extLst>
          </p:cNvPr>
          <p:cNvSpPr/>
          <p:nvPr/>
        </p:nvSpPr>
        <p:spPr>
          <a:xfrm>
            <a:off x="1185922" y="830010"/>
            <a:ext cx="1637629" cy="1245302"/>
          </a:xfrm>
          <a:prstGeom prst="roundRect">
            <a:avLst/>
          </a:prstGeom>
          <a:solidFill>
            <a:srgbClr val="D5E8D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RAL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13AC40-B0F5-4F1A-9236-7457A43D1A68}"/>
              </a:ext>
            </a:extLst>
          </p:cNvPr>
          <p:cNvSpPr/>
          <p:nvPr/>
        </p:nvSpPr>
        <p:spPr>
          <a:xfrm>
            <a:off x="2963078" y="830009"/>
            <a:ext cx="3361039" cy="1232935"/>
          </a:xfrm>
          <a:prstGeom prst="roundRect">
            <a:avLst/>
          </a:prstGeom>
          <a:solidFill>
            <a:schemeClr val="accent3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4FA60-2D6F-4804-AB0B-66C528449FC3}"/>
              </a:ext>
            </a:extLst>
          </p:cNvPr>
          <p:cNvSpPr/>
          <p:nvPr/>
        </p:nvSpPr>
        <p:spPr>
          <a:xfrm>
            <a:off x="6508530" y="830009"/>
            <a:ext cx="3361039" cy="1232935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6DF994-4CBD-4520-AB04-9E39E4CD83F7}"/>
              </a:ext>
            </a:extLst>
          </p:cNvPr>
          <p:cNvSpPr/>
          <p:nvPr/>
        </p:nvSpPr>
        <p:spPr>
          <a:xfrm>
            <a:off x="1178354" y="2303760"/>
            <a:ext cx="8658934" cy="1715173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7E0A13-53BE-4A20-A938-74FF519EAECB}"/>
              </a:ext>
            </a:extLst>
          </p:cNvPr>
          <p:cNvSpPr/>
          <p:nvPr/>
        </p:nvSpPr>
        <p:spPr>
          <a:xfrm>
            <a:off x="3612546" y="4302362"/>
            <a:ext cx="3750589" cy="1667553"/>
          </a:xfrm>
          <a:prstGeom prst="roundRect">
            <a:avLst/>
          </a:prstGeom>
          <a:solidFill>
            <a:srgbClr val="FFE6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F10473-81DC-4AED-8416-8B7858EB033B}"/>
              </a:ext>
            </a:extLst>
          </p:cNvPr>
          <p:cNvSpPr/>
          <p:nvPr/>
        </p:nvSpPr>
        <p:spPr>
          <a:xfrm>
            <a:off x="1185922" y="298065"/>
            <a:ext cx="1637629" cy="413983"/>
          </a:xfrm>
          <a:prstGeom prst="roundRect">
            <a:avLst/>
          </a:prstGeom>
          <a:solidFill>
            <a:srgbClr val="60A917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Registers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675643-DC01-4077-A789-DDA9A2603263}"/>
              </a:ext>
            </a:extLst>
          </p:cNvPr>
          <p:cNvSpPr/>
          <p:nvPr/>
        </p:nvSpPr>
        <p:spPr>
          <a:xfrm>
            <a:off x="2963079" y="288347"/>
            <a:ext cx="3361039" cy="411216"/>
          </a:xfrm>
          <a:prstGeom prst="roundRect">
            <a:avLst/>
          </a:prstGeom>
          <a:solidFill>
            <a:srgbClr val="1BA1E2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Buffer Descriptor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A212F-7959-4409-98FF-73F01BD0892E}"/>
              </a:ext>
            </a:extLst>
          </p:cNvPr>
          <p:cNvSpPr/>
          <p:nvPr/>
        </p:nvSpPr>
        <p:spPr>
          <a:xfrm>
            <a:off x="6547815" y="285579"/>
            <a:ext cx="3321754" cy="413983"/>
          </a:xfrm>
          <a:prstGeom prst="roundRect">
            <a:avLst/>
          </a:prstGeom>
          <a:solidFill>
            <a:srgbClr val="E514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DMA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4F44B4-107F-4C75-A2EB-63AED5B88B23}"/>
              </a:ext>
            </a:extLst>
          </p:cNvPr>
          <p:cNvSpPr/>
          <p:nvPr/>
        </p:nvSpPr>
        <p:spPr>
          <a:xfrm>
            <a:off x="3612546" y="6062332"/>
            <a:ext cx="3750589" cy="286645"/>
          </a:xfrm>
          <a:prstGeom prst="roundRect">
            <a:avLst/>
          </a:prstGeom>
          <a:solidFill>
            <a:srgbClr val="FA68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2E78D-BAA1-48AC-B55F-DC76250B3722}"/>
              </a:ext>
            </a:extLst>
          </p:cNvPr>
          <p:cNvSpPr txBox="1"/>
          <p:nvPr/>
        </p:nvSpPr>
        <p:spPr>
          <a:xfrm>
            <a:off x="3206112" y="891531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Slave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E44B9-972F-4523-8436-8C0E32E0F6B0}"/>
              </a:ext>
            </a:extLst>
          </p:cNvPr>
          <p:cNvSpPr txBox="1"/>
          <p:nvPr/>
        </p:nvSpPr>
        <p:spPr>
          <a:xfrm>
            <a:off x="6636527" y="915598"/>
            <a:ext cx="2569427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WB Master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FCAD4-4016-404C-BEBA-1FE59F82E2FE}"/>
              </a:ext>
            </a:extLst>
          </p:cNvPr>
          <p:cNvSpPr txBox="1"/>
          <p:nvPr/>
        </p:nvSpPr>
        <p:spPr>
          <a:xfrm>
            <a:off x="3870424" y="5445152"/>
            <a:ext cx="2569427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MII Rx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83D6C-7614-4861-AD76-2AFF3DC47277}"/>
              </a:ext>
            </a:extLst>
          </p:cNvPr>
          <p:cNvSpPr/>
          <p:nvPr/>
        </p:nvSpPr>
        <p:spPr>
          <a:xfrm>
            <a:off x="3082878" y="1354853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Driver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72D59-AC39-4BA6-8013-DE0086BE3259}"/>
              </a:ext>
            </a:extLst>
          </p:cNvPr>
          <p:cNvSpPr/>
          <p:nvPr/>
        </p:nvSpPr>
        <p:spPr>
          <a:xfrm>
            <a:off x="4678609" y="1354853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S Monitor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35A022-AF6C-44C9-A3A3-714148F84B56}"/>
              </a:ext>
            </a:extLst>
          </p:cNvPr>
          <p:cNvSpPr/>
          <p:nvPr/>
        </p:nvSpPr>
        <p:spPr>
          <a:xfrm>
            <a:off x="6645145" y="1353104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Driver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EAB7F-D94C-4EF6-AA2A-943C089CDBDA}"/>
              </a:ext>
            </a:extLst>
          </p:cNvPr>
          <p:cNvSpPr/>
          <p:nvPr/>
        </p:nvSpPr>
        <p:spPr>
          <a:xfrm>
            <a:off x="8227242" y="135850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WB M Monitor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999F5C-9F90-4A50-88C3-2D99F9FAF203}"/>
              </a:ext>
            </a:extLst>
          </p:cNvPr>
          <p:cNvSpPr/>
          <p:nvPr/>
        </p:nvSpPr>
        <p:spPr>
          <a:xfrm>
            <a:off x="5647364" y="4629277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Driver</a:t>
            </a:r>
          </a:p>
        </p:txBody>
      </p:sp>
      <p:sp>
        <p:nvSpPr>
          <p:cNvPr id="42" name="Flowchart: Decision 41">
            <a:extLst>
              <a:ext uri="{FF2B5EF4-FFF2-40B4-BE49-F238E27FC236}">
                <a16:creationId xmlns:a16="http://schemas.microsoft.com/office/drawing/2014/main" id="{699533BA-D13C-40ED-B6F5-67823B7A5A43}"/>
              </a:ext>
            </a:extLst>
          </p:cNvPr>
          <p:cNvSpPr/>
          <p:nvPr/>
        </p:nvSpPr>
        <p:spPr>
          <a:xfrm>
            <a:off x="5381562" y="2236531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1CD6CDD5-5425-462E-9372-2ECF2B8B6A30}"/>
              </a:ext>
            </a:extLst>
          </p:cNvPr>
          <p:cNvSpPr/>
          <p:nvPr/>
        </p:nvSpPr>
        <p:spPr>
          <a:xfrm>
            <a:off x="5381632" y="199860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553E5CDE-35E4-445D-AEE4-6CB6A0CB40AA}"/>
              </a:ext>
            </a:extLst>
          </p:cNvPr>
          <p:cNvSpPr/>
          <p:nvPr/>
        </p:nvSpPr>
        <p:spPr>
          <a:xfrm>
            <a:off x="5382719" y="1792306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059A75-A40E-4E82-90FC-1BBD7BB82839}"/>
              </a:ext>
            </a:extLst>
          </p:cNvPr>
          <p:cNvCxnSpPr>
            <a:stCxn id="44" idx="2"/>
            <a:endCxn id="43" idx="0"/>
          </p:cNvCxnSpPr>
          <p:nvPr/>
        </p:nvCxnSpPr>
        <p:spPr>
          <a:xfrm flipH="1">
            <a:off x="5455104" y="1923084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06380F-A530-477C-BDF1-25A09CEC9DA4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 flipH="1">
            <a:off x="5455034" y="2129378"/>
            <a:ext cx="70" cy="107153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A8CBAE7D-036A-49BC-9B26-D853F0420304}"/>
              </a:ext>
            </a:extLst>
          </p:cNvPr>
          <p:cNvSpPr/>
          <p:nvPr/>
        </p:nvSpPr>
        <p:spPr>
          <a:xfrm>
            <a:off x="8921850" y="222685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ACABA3E1-62D0-4C54-B6DA-8038B66C6A96}"/>
              </a:ext>
            </a:extLst>
          </p:cNvPr>
          <p:cNvSpPr/>
          <p:nvPr/>
        </p:nvSpPr>
        <p:spPr>
          <a:xfrm>
            <a:off x="8921851" y="1998402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Decision 51">
            <a:extLst>
              <a:ext uri="{FF2B5EF4-FFF2-40B4-BE49-F238E27FC236}">
                <a16:creationId xmlns:a16="http://schemas.microsoft.com/office/drawing/2014/main" id="{B21AB59E-183B-4A8B-825A-FE66EF7C3E61}"/>
              </a:ext>
            </a:extLst>
          </p:cNvPr>
          <p:cNvSpPr/>
          <p:nvPr/>
        </p:nvSpPr>
        <p:spPr>
          <a:xfrm>
            <a:off x="8922938" y="1792108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EABDA6-A6F6-4F9B-901A-C05EF81BE085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 flipH="1">
            <a:off x="8995323" y="1922886"/>
            <a:ext cx="1087" cy="7551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4128A3A-576F-42C9-9B54-C5A4335AAA6B}"/>
              </a:ext>
            </a:extLst>
          </p:cNvPr>
          <p:cNvCxnSpPr>
            <a:stCxn id="51" idx="2"/>
            <a:endCxn id="50" idx="0"/>
          </p:cNvCxnSpPr>
          <p:nvPr/>
        </p:nvCxnSpPr>
        <p:spPr>
          <a:xfrm flipH="1">
            <a:off x="8995322" y="2129180"/>
            <a:ext cx="1" cy="9767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2C77858-871C-4A70-BAFB-9FCFB021CAC4}"/>
              </a:ext>
            </a:extLst>
          </p:cNvPr>
          <p:cNvSpPr/>
          <p:nvPr/>
        </p:nvSpPr>
        <p:spPr>
          <a:xfrm>
            <a:off x="3883553" y="4629277"/>
            <a:ext cx="153616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Monitor</a:t>
            </a:r>
          </a:p>
        </p:txBody>
      </p:sp>
      <p:sp>
        <p:nvSpPr>
          <p:cNvPr id="58" name="Flowchart: Decision 57">
            <a:extLst>
              <a:ext uri="{FF2B5EF4-FFF2-40B4-BE49-F238E27FC236}">
                <a16:creationId xmlns:a16="http://schemas.microsoft.com/office/drawing/2014/main" id="{93EAEDE5-FE2F-47AB-A2CE-8584603FEFAC}"/>
              </a:ext>
            </a:extLst>
          </p:cNvPr>
          <p:cNvSpPr/>
          <p:nvPr/>
        </p:nvSpPr>
        <p:spPr>
          <a:xfrm>
            <a:off x="4578162" y="4563637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D01B820C-2B2B-4027-A8D3-E18EDB7A67EB}"/>
              </a:ext>
            </a:extLst>
          </p:cNvPr>
          <p:cNvSpPr/>
          <p:nvPr/>
        </p:nvSpPr>
        <p:spPr>
          <a:xfrm>
            <a:off x="4578162" y="4234404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Decision 59">
            <a:extLst>
              <a:ext uri="{FF2B5EF4-FFF2-40B4-BE49-F238E27FC236}">
                <a16:creationId xmlns:a16="http://schemas.microsoft.com/office/drawing/2014/main" id="{82172C0A-FE7B-4F20-B753-0C4439B80E44}"/>
              </a:ext>
            </a:extLst>
          </p:cNvPr>
          <p:cNvSpPr/>
          <p:nvPr/>
        </p:nvSpPr>
        <p:spPr>
          <a:xfrm>
            <a:off x="4579522" y="3937550"/>
            <a:ext cx="146943" cy="130778"/>
          </a:xfrm>
          <a:prstGeom prst="flowChartDecision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6BA9BF-7113-4050-82C3-7A443A4B56D3}"/>
              </a:ext>
            </a:extLst>
          </p:cNvPr>
          <p:cNvCxnSpPr>
            <a:stCxn id="60" idx="2"/>
            <a:endCxn id="59" idx="0"/>
          </p:cNvCxnSpPr>
          <p:nvPr/>
        </p:nvCxnSpPr>
        <p:spPr>
          <a:xfrm flipH="1">
            <a:off x="4651634" y="4068328"/>
            <a:ext cx="1360" cy="166076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5BAEDD-482F-4E92-BA6A-BEF11C783379}"/>
              </a:ext>
            </a:extLst>
          </p:cNvPr>
          <p:cNvCxnSpPr>
            <a:stCxn id="59" idx="2"/>
            <a:endCxn id="58" idx="0"/>
          </p:cNvCxnSpPr>
          <p:nvPr/>
        </p:nvCxnSpPr>
        <p:spPr>
          <a:xfrm>
            <a:off x="4651634" y="4365182"/>
            <a:ext cx="0" cy="198455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D838114E-D5A5-4817-8A99-711440406BE4}"/>
              </a:ext>
            </a:extLst>
          </p:cNvPr>
          <p:cNvSpPr/>
          <p:nvPr/>
        </p:nvSpPr>
        <p:spPr>
          <a:xfrm>
            <a:off x="5669868" y="5362230"/>
            <a:ext cx="1475931" cy="50284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Sequencer</a:t>
            </a:r>
          </a:p>
        </p:txBody>
      </p:sp>
      <p:sp>
        <p:nvSpPr>
          <p:cNvPr id="1171" name="Flowchart: Connector 1170">
            <a:extLst>
              <a:ext uri="{FF2B5EF4-FFF2-40B4-BE49-F238E27FC236}">
                <a16:creationId xmlns:a16="http://schemas.microsoft.com/office/drawing/2014/main" id="{94805C6E-558B-4A5E-89F0-2737179F2AFC}"/>
              </a:ext>
            </a:extLst>
          </p:cNvPr>
          <p:cNvSpPr/>
          <p:nvPr/>
        </p:nvSpPr>
        <p:spPr>
          <a:xfrm>
            <a:off x="6315655" y="5305591"/>
            <a:ext cx="139347" cy="139561"/>
          </a:xfrm>
          <a:prstGeom prst="flowChartConnector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9F5B76E6-622D-4C56-A039-8CE957FC3476}"/>
              </a:ext>
            </a:extLst>
          </p:cNvPr>
          <p:cNvSpPr/>
          <p:nvPr/>
        </p:nvSpPr>
        <p:spPr>
          <a:xfrm>
            <a:off x="6332638" y="5062885"/>
            <a:ext cx="115261" cy="1218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4" name="Straight Connector 1173">
            <a:extLst>
              <a:ext uri="{FF2B5EF4-FFF2-40B4-BE49-F238E27FC236}">
                <a16:creationId xmlns:a16="http://schemas.microsoft.com/office/drawing/2014/main" id="{D225CC55-4F4F-4FE5-ABAC-1E448A4ACA35}"/>
              </a:ext>
            </a:extLst>
          </p:cNvPr>
          <p:cNvCxnSpPr>
            <a:cxnSpLocks/>
            <a:stCxn id="1171" idx="0"/>
            <a:endCxn id="1172" idx="2"/>
          </p:cNvCxnSpPr>
          <p:nvPr/>
        </p:nvCxnSpPr>
        <p:spPr>
          <a:xfrm flipV="1">
            <a:off x="6385329" y="5184708"/>
            <a:ext cx="4940" cy="120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E5ECDC9B-359E-4C1E-8399-64973DC924CC}"/>
              </a:ext>
            </a:extLst>
          </p:cNvPr>
          <p:cNvSpPr/>
          <p:nvPr/>
        </p:nvSpPr>
        <p:spPr>
          <a:xfrm>
            <a:off x="8692710" y="4892036"/>
            <a:ext cx="2070605" cy="9867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DUT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A41AF1-0E89-48E1-AE1A-A7B7DC3B422D}"/>
              </a:ext>
            </a:extLst>
          </p:cNvPr>
          <p:cNvSpPr/>
          <p:nvPr/>
        </p:nvSpPr>
        <p:spPr>
          <a:xfrm>
            <a:off x="8025199" y="4892035"/>
            <a:ext cx="333305" cy="9867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if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180" name="Straight Connector 1179">
            <a:extLst>
              <a:ext uri="{FF2B5EF4-FFF2-40B4-BE49-F238E27FC236}">
                <a16:creationId xmlns:a16="http://schemas.microsoft.com/office/drawing/2014/main" id="{D4B91016-A201-4AE3-8CC7-2DB5FE66FFFC}"/>
              </a:ext>
            </a:extLst>
          </p:cNvPr>
          <p:cNvCxnSpPr>
            <a:cxnSpLocks/>
            <a:stCxn id="85" idx="3"/>
            <a:endCxn id="1176" idx="1"/>
          </p:cNvCxnSpPr>
          <p:nvPr/>
        </p:nvCxnSpPr>
        <p:spPr>
          <a:xfrm>
            <a:off x="8358504" y="5385413"/>
            <a:ext cx="33420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2A399DE-DCD0-431F-A68E-0BA3110857F1}"/>
              </a:ext>
            </a:extLst>
          </p:cNvPr>
          <p:cNvCxnSpPr>
            <a:cxnSpLocks/>
          </p:cNvCxnSpPr>
          <p:nvPr/>
        </p:nvCxnSpPr>
        <p:spPr>
          <a:xfrm>
            <a:off x="8520666" y="5385413"/>
            <a:ext cx="0" cy="1141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F2E2825-E13F-4F83-8838-1DE016D56B5D}"/>
              </a:ext>
            </a:extLst>
          </p:cNvPr>
          <p:cNvCxnSpPr/>
          <p:nvPr/>
        </p:nvCxnSpPr>
        <p:spPr>
          <a:xfrm flipH="1">
            <a:off x="2987164" y="6526499"/>
            <a:ext cx="55335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E409F1D-F2CB-4063-A015-B1B779CD6985}"/>
              </a:ext>
            </a:extLst>
          </p:cNvPr>
          <p:cNvCxnSpPr>
            <a:cxnSpLocks/>
          </p:cNvCxnSpPr>
          <p:nvPr/>
        </p:nvCxnSpPr>
        <p:spPr>
          <a:xfrm flipV="1">
            <a:off x="2987164" y="4857725"/>
            <a:ext cx="10644" cy="1668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5A069D-7809-46CC-A854-E7E6D48B56A8}"/>
              </a:ext>
            </a:extLst>
          </p:cNvPr>
          <p:cNvCxnSpPr>
            <a:cxnSpLocks/>
          </p:cNvCxnSpPr>
          <p:nvPr/>
        </p:nvCxnSpPr>
        <p:spPr>
          <a:xfrm>
            <a:off x="2997808" y="4857725"/>
            <a:ext cx="885745" cy="16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85202D19-308A-49EE-BB83-38A7BE195064}"/>
              </a:ext>
            </a:extLst>
          </p:cNvPr>
          <p:cNvSpPr/>
          <p:nvPr/>
        </p:nvSpPr>
        <p:spPr>
          <a:xfrm>
            <a:off x="6625169" y="2868837"/>
            <a:ext cx="1475931" cy="453392"/>
          </a:xfrm>
          <a:prstGeom prst="rect">
            <a:avLst/>
          </a:prstGeom>
          <a:solidFill>
            <a:schemeClr val="bg1"/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Comparator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A174DD-EC26-423B-BD57-1EEBDF5D8F20}"/>
              </a:ext>
            </a:extLst>
          </p:cNvPr>
          <p:cNvSpPr/>
          <p:nvPr/>
        </p:nvSpPr>
        <p:spPr>
          <a:xfrm>
            <a:off x="3905631" y="2903811"/>
            <a:ext cx="1475931" cy="403942"/>
          </a:xfrm>
          <a:prstGeom prst="rect">
            <a:avLst/>
          </a:prstGeom>
          <a:solidFill>
            <a:schemeClr val="bg1"/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Predictor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EBD80E-9E0C-43DA-92B4-FF0159536D9C}"/>
              </a:ext>
            </a:extLst>
          </p:cNvPr>
          <p:cNvSpPr/>
          <p:nvPr/>
        </p:nvSpPr>
        <p:spPr>
          <a:xfrm>
            <a:off x="3913667" y="3508394"/>
            <a:ext cx="1475931" cy="34141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FIFO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030DE66-B14E-4746-A180-BDCECA3538EE}"/>
              </a:ext>
            </a:extLst>
          </p:cNvPr>
          <p:cNvCxnSpPr>
            <a:cxnSpLocks/>
            <a:stCxn id="60" idx="0"/>
            <a:endCxn id="64" idx="2"/>
          </p:cNvCxnSpPr>
          <p:nvPr/>
        </p:nvCxnSpPr>
        <p:spPr>
          <a:xfrm flipH="1" flipV="1">
            <a:off x="4651633" y="3849805"/>
            <a:ext cx="1361" cy="87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C2FAA1AE-96BE-468C-A199-A2256FA31B59}"/>
              </a:ext>
            </a:extLst>
          </p:cNvPr>
          <p:cNvSpPr/>
          <p:nvPr/>
        </p:nvSpPr>
        <p:spPr>
          <a:xfrm>
            <a:off x="8401374" y="2845907"/>
            <a:ext cx="1187894" cy="49337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Payload Queue</a:t>
            </a:r>
          </a:p>
        </p:txBody>
      </p:sp>
      <p:cxnSp>
        <p:nvCxnSpPr>
          <p:cNvPr id="1164" name="Straight Arrow Connector 1163">
            <a:extLst>
              <a:ext uri="{FF2B5EF4-FFF2-40B4-BE49-F238E27FC236}">
                <a16:creationId xmlns:a16="http://schemas.microsoft.com/office/drawing/2014/main" id="{4A6CB4EA-84AC-4105-A417-CCF79894CC5A}"/>
              </a:ext>
            </a:extLst>
          </p:cNvPr>
          <p:cNvCxnSpPr>
            <a:stCxn id="63" idx="3"/>
            <a:endCxn id="55" idx="1"/>
          </p:cNvCxnSpPr>
          <p:nvPr/>
        </p:nvCxnSpPr>
        <p:spPr>
          <a:xfrm flipV="1">
            <a:off x="5381562" y="3095533"/>
            <a:ext cx="1243607" cy="10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Arrow Connector 1165">
            <a:extLst>
              <a:ext uri="{FF2B5EF4-FFF2-40B4-BE49-F238E27FC236}">
                <a16:creationId xmlns:a16="http://schemas.microsoft.com/office/drawing/2014/main" id="{FFDF74BB-DC72-4492-81A7-CBC043C20687}"/>
              </a:ext>
            </a:extLst>
          </p:cNvPr>
          <p:cNvCxnSpPr>
            <a:stCxn id="50" idx="2"/>
            <a:endCxn id="79" idx="0"/>
          </p:cNvCxnSpPr>
          <p:nvPr/>
        </p:nvCxnSpPr>
        <p:spPr>
          <a:xfrm flipH="1">
            <a:off x="8995321" y="2357628"/>
            <a:ext cx="1" cy="488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Straight Arrow Connector 1167">
            <a:extLst>
              <a:ext uri="{FF2B5EF4-FFF2-40B4-BE49-F238E27FC236}">
                <a16:creationId xmlns:a16="http://schemas.microsoft.com/office/drawing/2014/main" id="{836A116A-DD28-4835-A97D-70AA4B030888}"/>
              </a:ext>
            </a:extLst>
          </p:cNvPr>
          <p:cNvCxnSpPr>
            <a:stCxn id="79" idx="1"/>
            <a:endCxn id="55" idx="3"/>
          </p:cNvCxnSpPr>
          <p:nvPr/>
        </p:nvCxnSpPr>
        <p:spPr>
          <a:xfrm flipH="1">
            <a:off x="8101100" y="3092596"/>
            <a:ext cx="300274" cy="2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E7C8987D-DF86-4D01-ABD0-8F93125A62F4}"/>
              </a:ext>
            </a:extLst>
          </p:cNvPr>
          <p:cNvSpPr/>
          <p:nvPr/>
        </p:nvSpPr>
        <p:spPr>
          <a:xfrm>
            <a:off x="3905631" y="2439246"/>
            <a:ext cx="1475931" cy="34141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MII Rx FIFO</a:t>
            </a:r>
          </a:p>
        </p:txBody>
      </p:sp>
      <p:cxnSp>
        <p:nvCxnSpPr>
          <p:cNvPr id="1179" name="Straight Connector 1178">
            <a:extLst>
              <a:ext uri="{FF2B5EF4-FFF2-40B4-BE49-F238E27FC236}">
                <a16:creationId xmlns:a16="http://schemas.microsoft.com/office/drawing/2014/main" id="{E6BA7D23-6D46-425C-A63A-23A99A0BA00F}"/>
              </a:ext>
            </a:extLst>
          </p:cNvPr>
          <p:cNvCxnSpPr>
            <a:stCxn id="95" idx="0"/>
          </p:cNvCxnSpPr>
          <p:nvPr/>
        </p:nvCxnSpPr>
        <p:spPr>
          <a:xfrm flipH="1" flipV="1">
            <a:off x="4643596" y="2400059"/>
            <a:ext cx="1" cy="39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B0A7991-6344-42C0-BCE7-F44F3CEA9303}"/>
              </a:ext>
            </a:extLst>
          </p:cNvPr>
          <p:cNvCxnSpPr>
            <a:cxnSpLocks/>
          </p:cNvCxnSpPr>
          <p:nvPr/>
        </p:nvCxnSpPr>
        <p:spPr>
          <a:xfrm>
            <a:off x="4640123" y="2402099"/>
            <a:ext cx="814910" cy="7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57C1BA8-82B3-4C57-BE9B-F87209AD97C6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5455033" y="2367309"/>
            <a:ext cx="1" cy="42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F49EECC-A2D7-4036-833C-B74F6B23867E}"/>
              </a:ext>
            </a:extLst>
          </p:cNvPr>
          <p:cNvCxnSpPr>
            <a:stCxn id="95" idx="3"/>
          </p:cNvCxnSpPr>
          <p:nvPr/>
        </p:nvCxnSpPr>
        <p:spPr>
          <a:xfrm flipV="1">
            <a:off x="5381562" y="2609951"/>
            <a:ext cx="198157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715B0DF-6FC6-4913-A3E7-DAC268798518}"/>
              </a:ext>
            </a:extLst>
          </p:cNvPr>
          <p:cNvCxnSpPr>
            <a:endCxn id="55" idx="0"/>
          </p:cNvCxnSpPr>
          <p:nvPr/>
        </p:nvCxnSpPr>
        <p:spPr>
          <a:xfrm>
            <a:off x="7363134" y="2611947"/>
            <a:ext cx="1" cy="256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4BD0417-30B2-418D-A264-09B310E18AB9}"/>
              </a:ext>
            </a:extLst>
          </p:cNvPr>
          <p:cNvCxnSpPr>
            <a:stCxn id="64" idx="0"/>
            <a:endCxn id="63" idx="2"/>
          </p:cNvCxnSpPr>
          <p:nvPr/>
        </p:nvCxnSpPr>
        <p:spPr>
          <a:xfrm flipH="1" flipV="1">
            <a:off x="4643597" y="3307753"/>
            <a:ext cx="8036" cy="200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164F7A7-0DCB-470B-97EB-2CB105A75B28}"/>
              </a:ext>
            </a:extLst>
          </p:cNvPr>
          <p:cNvCxnSpPr>
            <a:cxnSpLocks/>
            <a:stCxn id="1176" idx="3"/>
          </p:cNvCxnSpPr>
          <p:nvPr/>
        </p:nvCxnSpPr>
        <p:spPr>
          <a:xfrm>
            <a:off x="10763315" y="5385414"/>
            <a:ext cx="298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904950F-F342-435C-AEC7-0C1B01623D78}"/>
              </a:ext>
            </a:extLst>
          </p:cNvPr>
          <p:cNvCxnSpPr>
            <a:cxnSpLocks/>
          </p:cNvCxnSpPr>
          <p:nvPr/>
        </p:nvCxnSpPr>
        <p:spPr>
          <a:xfrm flipH="1" flipV="1">
            <a:off x="11061374" y="492571"/>
            <a:ext cx="1" cy="4892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Arrow Connector 1185">
            <a:extLst>
              <a:ext uri="{FF2B5EF4-FFF2-40B4-BE49-F238E27FC236}">
                <a16:creationId xmlns:a16="http://schemas.microsoft.com/office/drawing/2014/main" id="{88505119-059C-408D-8999-3A3935463FC2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9869569" y="484920"/>
            <a:ext cx="1191805" cy="7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Straight Connector 1191">
            <a:extLst>
              <a:ext uri="{FF2B5EF4-FFF2-40B4-BE49-F238E27FC236}">
                <a16:creationId xmlns:a16="http://schemas.microsoft.com/office/drawing/2014/main" id="{2AC0B1CE-7B2D-4F2E-AEE9-703B2BE1343A}"/>
              </a:ext>
            </a:extLst>
          </p:cNvPr>
          <p:cNvCxnSpPr/>
          <p:nvPr/>
        </p:nvCxnSpPr>
        <p:spPr>
          <a:xfrm>
            <a:off x="10763315" y="5680843"/>
            <a:ext cx="568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E57CE02-A597-4EFE-9BF0-81D4F76AAC4F}"/>
              </a:ext>
            </a:extLst>
          </p:cNvPr>
          <p:cNvCxnSpPr>
            <a:cxnSpLocks/>
          </p:cNvCxnSpPr>
          <p:nvPr/>
        </p:nvCxnSpPr>
        <p:spPr>
          <a:xfrm flipV="1">
            <a:off x="11332222" y="114874"/>
            <a:ext cx="0" cy="5565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Connector 1194">
            <a:extLst>
              <a:ext uri="{FF2B5EF4-FFF2-40B4-BE49-F238E27FC236}">
                <a16:creationId xmlns:a16="http://schemas.microsoft.com/office/drawing/2014/main" id="{11DC87C6-CE65-4209-8376-63451EEBD772}"/>
              </a:ext>
            </a:extLst>
          </p:cNvPr>
          <p:cNvCxnSpPr>
            <a:cxnSpLocks/>
          </p:cNvCxnSpPr>
          <p:nvPr/>
        </p:nvCxnSpPr>
        <p:spPr>
          <a:xfrm flipH="1">
            <a:off x="4640123" y="114874"/>
            <a:ext cx="6669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Arrow Connector 1196">
            <a:extLst>
              <a:ext uri="{FF2B5EF4-FFF2-40B4-BE49-F238E27FC236}">
                <a16:creationId xmlns:a16="http://schemas.microsoft.com/office/drawing/2014/main" id="{1F0F4FEE-6E3B-4509-9A09-FA84DD300CBD}"/>
              </a:ext>
            </a:extLst>
          </p:cNvPr>
          <p:cNvCxnSpPr>
            <a:cxnSpLocks/>
          </p:cNvCxnSpPr>
          <p:nvPr/>
        </p:nvCxnSpPr>
        <p:spPr>
          <a:xfrm>
            <a:off x="4640123" y="114874"/>
            <a:ext cx="0" cy="173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92226" y="6149728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38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1115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0C17-D4A5-C410-235E-1867A772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>
            <a:extLst>
              <a:ext uri="{FF2B5EF4-FFF2-40B4-BE49-F238E27FC236}">
                <a16:creationId xmlns:a16="http://schemas.microsoft.com/office/drawing/2014/main" id="{D048D468-9009-44D8-87D2-96807B62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935" y="321367"/>
            <a:ext cx="5369442" cy="91153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BUG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6539E-3FEA-9AFD-77D1-98E699FE5C23}"/>
              </a:ext>
            </a:extLst>
          </p:cNvPr>
          <p:cNvSpPr txBox="1"/>
          <p:nvPr/>
        </p:nvSpPr>
        <p:spPr>
          <a:xfrm>
            <a:off x="2541181" y="41785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90AEBC2-25B8-CB98-626B-8D4729D19029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39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89E92-24C0-454A-AC05-E54C7B5FB0FA}"/>
              </a:ext>
            </a:extLst>
          </p:cNvPr>
          <p:cNvSpPr txBox="1"/>
          <p:nvPr/>
        </p:nvSpPr>
        <p:spPr>
          <a:xfrm>
            <a:off x="2541181" y="321367"/>
            <a:ext cx="46481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✅Expected: LEN = 512 | TL =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❌Actual:     LEN = 0     | TL = 0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64110FFB-B239-471E-A70B-B044896544A9}"/>
              </a:ext>
            </a:extLst>
          </p:cNvPr>
          <p:cNvSpPr/>
          <p:nvPr/>
        </p:nvSpPr>
        <p:spPr>
          <a:xfrm>
            <a:off x="4246155" y="1382726"/>
            <a:ext cx="3308278" cy="647272"/>
          </a:xfrm>
          <a:prstGeom prst="flowChartProcess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Receiving Oversized Frame (HUGEN=0)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50975B07-08D8-4D6D-9050-12CDE618D4F0}"/>
              </a:ext>
            </a:extLst>
          </p:cNvPr>
          <p:cNvSpPr/>
          <p:nvPr/>
        </p:nvSpPr>
        <p:spPr>
          <a:xfrm>
            <a:off x="4779132" y="2321071"/>
            <a:ext cx="2258666" cy="1357077"/>
          </a:xfrm>
          <a:prstGeom prst="flowChartDecision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F6FCD4-4C32-4C1E-9E8F-30B92142549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900294" y="2029998"/>
            <a:ext cx="8171" cy="291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DEFD2E3-3267-4594-8137-BE9FACFE11EA}"/>
              </a:ext>
            </a:extLst>
          </p:cNvPr>
          <p:cNvSpPr txBox="1"/>
          <p:nvPr/>
        </p:nvSpPr>
        <p:spPr>
          <a:xfrm>
            <a:off x="5702094" y="2427478"/>
            <a:ext cx="448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/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4BF7CD-26E7-4432-8AC8-B323A5AC0E41}"/>
              </a:ext>
            </a:extLst>
          </p:cNvPr>
          <p:cNvSpPr txBox="1"/>
          <p:nvPr/>
        </p:nvSpPr>
        <p:spPr>
          <a:xfrm>
            <a:off x="5035986" y="2796810"/>
            <a:ext cx="2001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ByteCnt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MaxFL</a:t>
            </a:r>
            <a:r>
              <a:rPr lang="en-US" dirty="0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B56134-8C42-45F3-AB38-45EF898DFA81}"/>
              </a:ext>
            </a:extLst>
          </p:cNvPr>
          <p:cNvSpPr txBox="1"/>
          <p:nvPr/>
        </p:nvSpPr>
        <p:spPr>
          <a:xfrm>
            <a:off x="5949890" y="3090446"/>
            <a:ext cx="806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(512)</a:t>
            </a:r>
            <a:endParaRPr lang="en-US" dirty="0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74BD9A7C-5B1C-45ED-B8E2-A4EBBCE7BCC4}"/>
              </a:ext>
            </a:extLst>
          </p:cNvPr>
          <p:cNvSpPr/>
          <p:nvPr/>
        </p:nvSpPr>
        <p:spPr>
          <a:xfrm>
            <a:off x="1943031" y="4039624"/>
            <a:ext cx="3308278" cy="952457"/>
          </a:xfrm>
          <a:prstGeom prst="flowChartProcess">
            <a:avLst/>
          </a:prstGeom>
          <a:solidFill>
            <a:srgbClr val="F7B3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 Counter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drops to 0</a:t>
            </a:r>
          </a:p>
        </p:txBody>
      </p:sp>
      <p:sp>
        <p:nvSpPr>
          <p:cNvPr id="33" name="Flowchart: Process 32">
            <a:extLst>
              <a:ext uri="{FF2B5EF4-FFF2-40B4-BE49-F238E27FC236}">
                <a16:creationId xmlns:a16="http://schemas.microsoft.com/office/drawing/2014/main" id="{B7C7AF16-DB49-414C-8950-E0B941F754FC}"/>
              </a:ext>
            </a:extLst>
          </p:cNvPr>
          <p:cNvSpPr/>
          <p:nvPr/>
        </p:nvSpPr>
        <p:spPr>
          <a:xfrm>
            <a:off x="6940691" y="4039624"/>
            <a:ext cx="3308278" cy="953611"/>
          </a:xfrm>
          <a:prstGeom prst="flowChartProcess">
            <a:avLst/>
          </a:prstGeom>
          <a:solidFill>
            <a:srgbClr val="F7B3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Check: Is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512 ?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 &gt; 512 ➡️ FALSE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 Bit remains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5C82E7-7039-4CB1-A1E2-3CCF42D63BA6}"/>
              </a:ext>
            </a:extLst>
          </p:cNvPr>
          <p:cNvSpPr txBox="1"/>
          <p:nvPr/>
        </p:nvSpPr>
        <p:spPr>
          <a:xfrm>
            <a:off x="3498398" y="3487300"/>
            <a:ext cx="1311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Logic</a:t>
            </a:r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DBF5C3C-7AB4-4C26-ADCB-9944AA102332}"/>
              </a:ext>
            </a:extLst>
          </p:cNvPr>
          <p:cNvCxnSpPr>
            <a:stCxn id="9" idx="2"/>
          </p:cNvCxnSpPr>
          <p:nvPr/>
        </p:nvCxnSpPr>
        <p:spPr>
          <a:xfrm>
            <a:off x="5908465" y="3678148"/>
            <a:ext cx="0" cy="16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0930F0B-E443-4E09-BEFF-196BE3FAE4CF}"/>
              </a:ext>
            </a:extLst>
          </p:cNvPr>
          <p:cNvCxnSpPr/>
          <p:nvPr/>
        </p:nvCxnSpPr>
        <p:spPr>
          <a:xfrm flipH="1">
            <a:off x="3597170" y="3842535"/>
            <a:ext cx="23112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D4AB6B8-E44A-42C9-8CCB-4F648252CB43}"/>
              </a:ext>
            </a:extLst>
          </p:cNvPr>
          <p:cNvCxnSpPr>
            <a:cxnSpLocks/>
          </p:cNvCxnSpPr>
          <p:nvPr/>
        </p:nvCxnSpPr>
        <p:spPr>
          <a:xfrm flipH="1">
            <a:off x="5882151" y="3842535"/>
            <a:ext cx="27373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E76710-4FF3-44D6-937A-95A5132EC33A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597170" y="3842535"/>
            <a:ext cx="0" cy="197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9F267C5-E917-42AE-93E0-D8B6CCF7E889}"/>
              </a:ext>
            </a:extLst>
          </p:cNvPr>
          <p:cNvCxnSpPr/>
          <p:nvPr/>
        </p:nvCxnSpPr>
        <p:spPr>
          <a:xfrm>
            <a:off x="8619521" y="3842535"/>
            <a:ext cx="0" cy="197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76452BD-5DBE-4CA3-A8F8-D7B4552FAF02}"/>
              </a:ext>
            </a:extLst>
          </p:cNvPr>
          <p:cNvSpPr txBox="1"/>
          <p:nvPr/>
        </p:nvSpPr>
        <p:spPr>
          <a:xfrm>
            <a:off x="7554433" y="3487300"/>
            <a:ext cx="1311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Logic</a:t>
            </a:r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C8B54D4-77A6-4B02-98C5-72B3C7DD9C0B}"/>
              </a:ext>
            </a:extLst>
          </p:cNvPr>
          <p:cNvCxnSpPr>
            <a:cxnSpLocks/>
          </p:cNvCxnSpPr>
          <p:nvPr/>
        </p:nvCxnSpPr>
        <p:spPr>
          <a:xfrm flipH="1">
            <a:off x="3597171" y="5332288"/>
            <a:ext cx="5105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9809907-3EF2-4049-A8A0-AA356EA34EED}"/>
              </a:ext>
            </a:extLst>
          </p:cNvPr>
          <p:cNvCxnSpPr>
            <a:cxnSpLocks/>
          </p:cNvCxnSpPr>
          <p:nvPr/>
        </p:nvCxnSpPr>
        <p:spPr>
          <a:xfrm>
            <a:off x="3597170" y="4992081"/>
            <a:ext cx="0" cy="340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25DF88-EF45-457B-AF81-2D61F97256E5}"/>
              </a:ext>
            </a:extLst>
          </p:cNvPr>
          <p:cNvCxnSpPr>
            <a:cxnSpLocks/>
          </p:cNvCxnSpPr>
          <p:nvPr/>
        </p:nvCxnSpPr>
        <p:spPr>
          <a:xfrm>
            <a:off x="8702211" y="4992081"/>
            <a:ext cx="0" cy="340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F8BF441-05D3-4719-A063-5D1B2E2D170F}"/>
              </a:ext>
            </a:extLst>
          </p:cNvPr>
          <p:cNvCxnSpPr>
            <a:cxnSpLocks/>
          </p:cNvCxnSpPr>
          <p:nvPr/>
        </p:nvCxnSpPr>
        <p:spPr>
          <a:xfrm>
            <a:off x="5949890" y="5332288"/>
            <a:ext cx="0" cy="209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Process 56">
            <a:extLst>
              <a:ext uri="{FF2B5EF4-FFF2-40B4-BE49-F238E27FC236}">
                <a16:creationId xmlns:a16="http://schemas.microsoft.com/office/drawing/2014/main" id="{9030F5F9-AEBE-4CA8-A7CF-0B9A0EE11C07}"/>
              </a:ext>
            </a:extLst>
          </p:cNvPr>
          <p:cNvSpPr/>
          <p:nvPr/>
        </p:nvSpPr>
        <p:spPr>
          <a:xfrm>
            <a:off x="4295751" y="5559483"/>
            <a:ext cx="3308278" cy="922345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Frame ➡️ Write to BD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Result: LEN = 0, TL = 0</a:t>
            </a:r>
          </a:p>
        </p:txBody>
      </p:sp>
    </p:spTree>
    <p:extLst>
      <p:ext uri="{BB962C8B-B14F-4D97-AF65-F5344CB8AC3E}">
        <p14:creationId xmlns:p14="http://schemas.microsoft.com/office/powerpoint/2010/main" val="3336799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0C17-D4A5-C410-235E-1867A772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940" y="0"/>
            <a:ext cx="10561060" cy="1478570"/>
          </a:xfrm>
        </p:spPr>
        <p:txBody>
          <a:bodyPr>
            <a:normAutofit/>
          </a:bodyPr>
          <a:lstStyle/>
          <a:p>
            <a:r>
              <a:rPr lang="en-US" sz="3600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BUG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40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CF33A-8BA3-7F3A-7060-E2A884F0F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3" t="27150" b="14721"/>
          <a:stretch>
            <a:fillRect/>
          </a:stretch>
        </p:blipFill>
        <p:spPr>
          <a:xfrm>
            <a:off x="862541" y="1322453"/>
            <a:ext cx="10745700" cy="338997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CEA9705-957E-5515-935C-C4156DD5FE0D}"/>
              </a:ext>
            </a:extLst>
          </p:cNvPr>
          <p:cNvSpPr/>
          <p:nvPr/>
        </p:nvSpPr>
        <p:spPr>
          <a:xfrm>
            <a:off x="8001000" y="1915160"/>
            <a:ext cx="833120" cy="142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3B432AC-824C-F28E-EF2F-5B5FFB947598}"/>
              </a:ext>
            </a:extLst>
          </p:cNvPr>
          <p:cNvSpPr/>
          <p:nvPr/>
        </p:nvSpPr>
        <p:spPr>
          <a:xfrm>
            <a:off x="8422640" y="2057401"/>
            <a:ext cx="45719" cy="172212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DA26A5-A2E1-A510-2396-670B3222E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279" y="3779521"/>
            <a:ext cx="3972479" cy="77163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6AA44A-931A-67F2-9736-83BB8576A4C6}"/>
              </a:ext>
            </a:extLst>
          </p:cNvPr>
          <p:cNvSpPr txBox="1">
            <a:spLocks/>
          </p:cNvSpPr>
          <p:nvPr/>
        </p:nvSpPr>
        <p:spPr>
          <a:xfrm>
            <a:off x="6746279" y="4654953"/>
            <a:ext cx="10561060" cy="590527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rtlCol="0" anchor="ctr">
            <a:norm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0" algn="l"/>
              </a:tabLst>
              <a:defRPr lang="en-US" sz="3600" b="0" u="none" strike="noStrike" kern="1200" cap="all" baseline="0">
                <a:solidFill>
                  <a:schemeClr val="dk1"/>
                </a:solidFill>
                <a:effectLst/>
                <a:uFillTx/>
                <a:latin typeface="Tw Cen MT"/>
                <a:ea typeface="+mj-ea"/>
                <a:cs typeface="+mj-cs"/>
              </a:defRPr>
            </a:lvl1pPr>
          </a:lstStyle>
          <a:p>
            <a:r>
              <a:rPr lang="en-GB" sz="2000" cap="none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0000 0000 0000 0000 </a:t>
            </a:r>
            <a:r>
              <a:rPr lang="en-GB" sz="2000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0100 0000 0000 </a:t>
            </a:r>
            <a:r>
              <a:rPr lang="en-GB" sz="2000" cap="none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0</a:t>
            </a:r>
            <a:r>
              <a:rPr lang="en-GB" sz="2000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0</a:t>
            </a:r>
            <a:r>
              <a:rPr lang="en-GB" sz="2000" cap="none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1</a:t>
            </a:r>
            <a:r>
              <a:rPr lang="en-GB" sz="2000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747253-A5F6-1A76-C070-D8B4EC9DF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41" y="5149014"/>
            <a:ext cx="10745700" cy="1267002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3AEA9A5D-D8EC-A749-F6EB-0E68856886E4}"/>
              </a:ext>
            </a:extLst>
          </p:cNvPr>
          <p:cNvSpPr/>
          <p:nvPr/>
        </p:nvSpPr>
        <p:spPr>
          <a:xfrm>
            <a:off x="9098280" y="5470106"/>
            <a:ext cx="543560" cy="4239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DE6C94-C815-FB19-D66D-F8661F9370CC}"/>
              </a:ext>
            </a:extLst>
          </p:cNvPr>
          <p:cNvSpPr/>
          <p:nvPr/>
        </p:nvSpPr>
        <p:spPr>
          <a:xfrm>
            <a:off x="10343100" y="5502580"/>
            <a:ext cx="543560" cy="4239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289C6F5-C4FF-1ED2-B995-95684A766913}"/>
              </a:ext>
            </a:extLst>
          </p:cNvPr>
          <p:cNvSpPr/>
          <p:nvPr/>
        </p:nvSpPr>
        <p:spPr>
          <a:xfrm>
            <a:off x="1833351" y="5488280"/>
            <a:ext cx="716809" cy="4239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8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5761E-69B6-4161-8206-A9DF0452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A0D715C-116F-5F36-3D2D-7F7984873D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4" t="13544" r="61850" b="15613"/>
          <a:stretch/>
        </p:blipFill>
        <p:spPr>
          <a:xfrm>
            <a:off x="1824296" y="2879015"/>
            <a:ext cx="8915186" cy="701749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B5C2D9DE-57DD-0C90-4880-DA0DAF40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940" y="0"/>
            <a:ext cx="10561060" cy="1478570"/>
          </a:xfrm>
        </p:spPr>
        <p:txBody>
          <a:bodyPr>
            <a:normAutofit/>
          </a:bodyPr>
          <a:lstStyle/>
          <a:p>
            <a:r>
              <a:rPr lang="en-US" sz="3600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Functional Coverage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0B686-1B48-F504-0E02-E59E096E6BF0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41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544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122" y="2728267"/>
            <a:ext cx="6919782" cy="107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Control Verification</a:t>
            </a:r>
            <a:endParaRPr lang="en" sz="4000" b="1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0E791-6C7B-525E-3A4A-EFA50B12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77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DAB-5FF6-4536-B5A5-3B4E571A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348" y="246120"/>
            <a:ext cx="10561060" cy="780040"/>
          </a:xfrm>
        </p:spPr>
        <p:txBody>
          <a:bodyPr>
            <a:normAutofit/>
          </a:bodyPr>
          <a:lstStyle/>
          <a:p>
            <a:r>
              <a:rPr lang="en-US" cap="none" dirty="0">
                <a:ln w="0"/>
                <a:solidFill>
                  <a:schemeClr val="bg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skerville Old Face" panose="02020602080505020303" pitchFamily="18" charset="0"/>
                <a:cs typeface="Arial" panose="020B0604020202020204" pitchFamily="34" charset="0"/>
              </a:rPr>
              <a:t>Verification Plan</a:t>
            </a:r>
            <a:endParaRPr lang="en-US" sz="3600" cap="none" dirty="0">
              <a:ln w="0"/>
              <a:solidFill>
                <a:schemeClr val="bg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skerville Old Face" panose="020206020805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C03-2BFC-4F97-A964-2C8EA2E72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1505" y="1469714"/>
            <a:ext cx="10774942" cy="48449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1107440" y="1469714"/>
            <a:ext cx="9152979" cy="4016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Bookman Old Style" panose="02050604050505020204" pitchFamily="18" charset="0"/>
              </a:rPr>
              <a:t>We put test plan for testing this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Bookman Old Style" panose="02050604050505020204" pitchFamily="18" charset="0"/>
              </a:rPr>
              <a:t>All Control Moder configurations (TXFLOW, RXFLOW, PASSALL, Interrupts</a:t>
            </a:r>
            <a:r>
              <a:rPr lang="en-AE" dirty="0">
                <a:latin typeface="Bookman Old Style" panose="02050604050505020204" pitchFamily="18" charset="0"/>
              </a:rPr>
              <a:t>…etc</a:t>
            </a:r>
            <a:r>
              <a:rPr lang="en-US" dirty="0">
                <a:latin typeface="Bookman Old Style" panose="02050604050505020204" pitchFamily="18" charset="0"/>
              </a:rPr>
              <a:t>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Bookman Old Style" panose="02050604050505020204" pitchFamily="18" charset="0"/>
              </a:rPr>
              <a:t>Verify PAUSE Timer Functionality.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E" dirty="0">
                <a:latin typeface="Bookman Old Style" panose="02050604050505020204" pitchFamily="18" charset="0"/>
              </a:rPr>
              <a:t>Corner cases (Limits of frame length, delay CRC,…etc).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Bookman Old Style" panose="02050604050505020204" pitchFamily="18" charset="0"/>
              </a:rPr>
              <a:t>Error Injection &amp; Robustness Testing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E" dirty="0">
                <a:latin typeface="Bookman Old Style" panose="02050604050505020204" pitchFamily="18" charset="0"/>
              </a:rPr>
              <a:t>Constraint randomized test cases</a:t>
            </a: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1026" name="Picture 2" descr="How Test Plan Makes The Project More Complet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9" r="42519" b="5265"/>
          <a:stretch/>
        </p:blipFill>
        <p:spPr bwMode="auto">
          <a:xfrm>
            <a:off x="8251484" y="4376446"/>
            <a:ext cx="2184870" cy="193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53B1C-0D56-C090-2B82-3434DEE9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43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840722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0240-E6FA-4BFA-55B3-A928E2571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4364B4-3649-2222-DCA8-7ED08D1A5454}"/>
              </a:ext>
            </a:extLst>
          </p:cNvPr>
          <p:cNvSpPr txBox="1"/>
          <p:nvPr/>
        </p:nvSpPr>
        <p:spPr>
          <a:xfrm>
            <a:off x="1222744" y="340242"/>
            <a:ext cx="5682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Sending Pause Control Frame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C237F3-F1B0-D289-4992-1BB186A63BB0}"/>
              </a:ext>
            </a:extLst>
          </p:cNvPr>
          <p:cNvSpPr/>
          <p:nvPr/>
        </p:nvSpPr>
        <p:spPr>
          <a:xfrm>
            <a:off x="1331113" y="1999454"/>
            <a:ext cx="1669311" cy="8080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Host Send Request TPAUSERQ =1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7DCE13-F6AD-FE49-D229-0A6AD4556F9F}"/>
              </a:ext>
            </a:extLst>
          </p:cNvPr>
          <p:cNvSpPr/>
          <p:nvPr/>
        </p:nvSpPr>
        <p:spPr>
          <a:xfrm>
            <a:off x="3305224" y="1999454"/>
            <a:ext cx="1669311" cy="808074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TX Active?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255663-E085-8246-F536-93D681CD07D5}"/>
              </a:ext>
            </a:extLst>
          </p:cNvPr>
          <p:cNvSpPr/>
          <p:nvPr/>
        </p:nvSpPr>
        <p:spPr>
          <a:xfrm>
            <a:off x="5279335" y="1999454"/>
            <a:ext cx="1669311" cy="8080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Control Tackes Over</a:t>
            </a:r>
          </a:p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(TX-MAC)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B323A4-4ED3-0DAA-3A61-486B119BE0CD}"/>
              </a:ext>
            </a:extLst>
          </p:cNvPr>
          <p:cNvSpPr/>
          <p:nvPr/>
        </p:nvSpPr>
        <p:spPr>
          <a:xfrm>
            <a:off x="7253446" y="1999454"/>
            <a:ext cx="1669311" cy="8080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Start Control Frame.</a:t>
            </a:r>
          </a:p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</a:rPr>
              <a:t>TXStartFrm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35D4A7-75DF-8642-F269-6650949475F6}"/>
              </a:ext>
            </a:extLst>
          </p:cNvPr>
          <p:cNvSpPr/>
          <p:nvPr/>
        </p:nvSpPr>
        <p:spPr>
          <a:xfrm>
            <a:off x="9227557" y="1999454"/>
            <a:ext cx="1669311" cy="8080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PAD + FCS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EBB79E1-8685-CFB7-49B3-3C59F64A0147}"/>
              </a:ext>
            </a:extLst>
          </p:cNvPr>
          <p:cNvSpPr/>
          <p:nvPr/>
        </p:nvSpPr>
        <p:spPr>
          <a:xfrm>
            <a:off x="3000424" y="2350328"/>
            <a:ext cx="304800" cy="180753"/>
          </a:xfrm>
          <a:prstGeom prst="righ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017F2BF-AE29-B52D-1091-DBF5D9738679}"/>
              </a:ext>
            </a:extLst>
          </p:cNvPr>
          <p:cNvSpPr/>
          <p:nvPr/>
        </p:nvSpPr>
        <p:spPr>
          <a:xfrm>
            <a:off x="4974535" y="2350328"/>
            <a:ext cx="304800" cy="180753"/>
          </a:xfrm>
          <a:prstGeom prst="righ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5BA045A-D885-7C8C-AA9C-62E7F037051A}"/>
              </a:ext>
            </a:extLst>
          </p:cNvPr>
          <p:cNvSpPr/>
          <p:nvPr/>
        </p:nvSpPr>
        <p:spPr>
          <a:xfrm>
            <a:off x="6948646" y="2350327"/>
            <a:ext cx="304800" cy="180753"/>
          </a:xfrm>
          <a:prstGeom prst="righ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8AA19CB-395D-2AC0-E788-CAC961E48745}"/>
              </a:ext>
            </a:extLst>
          </p:cNvPr>
          <p:cNvSpPr/>
          <p:nvPr/>
        </p:nvSpPr>
        <p:spPr>
          <a:xfrm>
            <a:off x="8929845" y="2313114"/>
            <a:ext cx="304800" cy="180753"/>
          </a:xfrm>
          <a:prstGeom prst="righ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39CE7A95-7B64-DA51-7C26-890D7D6EF909}"/>
              </a:ext>
            </a:extLst>
          </p:cNvPr>
          <p:cNvSpPr/>
          <p:nvPr/>
        </p:nvSpPr>
        <p:spPr>
          <a:xfrm>
            <a:off x="4031782" y="2807528"/>
            <a:ext cx="2126512" cy="470087"/>
          </a:xfrm>
          <a:prstGeom prst="curvedUp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F4A7E4-66B6-9C90-6D1D-4532333E2D88}"/>
              </a:ext>
            </a:extLst>
          </p:cNvPr>
          <p:cNvSpPr txBox="1"/>
          <p:nvPr/>
        </p:nvSpPr>
        <p:spPr>
          <a:xfrm>
            <a:off x="3664400" y="3339154"/>
            <a:ext cx="3436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Wait for current transmission to end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56D8A0-D77D-CF31-A6A1-04DAA54E750F}"/>
              </a:ext>
            </a:extLst>
          </p:cNvPr>
          <p:cNvSpPr txBox="1"/>
          <p:nvPr/>
        </p:nvSpPr>
        <p:spPr>
          <a:xfrm>
            <a:off x="4889336" y="1818702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F7FE38-957E-B24B-20D6-4D5B0FF4E0C5}"/>
              </a:ext>
            </a:extLst>
          </p:cNvPr>
          <p:cNvSpPr txBox="1"/>
          <p:nvPr/>
        </p:nvSpPr>
        <p:spPr>
          <a:xfrm>
            <a:off x="4852439" y="2939051"/>
            <a:ext cx="48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E013A9D-7DDC-CE40-91B7-C08B55627F28}"/>
              </a:ext>
            </a:extLst>
          </p:cNvPr>
          <p:cNvSpPr/>
          <p:nvPr/>
        </p:nvSpPr>
        <p:spPr>
          <a:xfrm>
            <a:off x="9082245" y="3969332"/>
            <a:ext cx="1796415" cy="8080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Transmit through PHY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EB8A669-2B92-75AC-2CC3-C316AE9A03D4}"/>
              </a:ext>
            </a:extLst>
          </p:cNvPr>
          <p:cNvSpPr/>
          <p:nvPr/>
        </p:nvSpPr>
        <p:spPr>
          <a:xfrm>
            <a:off x="6629566" y="3969333"/>
            <a:ext cx="1796416" cy="8080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Signal Completion</a:t>
            </a:r>
          </a:p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</a:rPr>
              <a:t>TXEndFrm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0A36409-56F8-F6B2-6EEE-CFC1D73AEF42}"/>
              </a:ext>
            </a:extLst>
          </p:cNvPr>
          <p:cNvSpPr/>
          <p:nvPr/>
        </p:nvSpPr>
        <p:spPr>
          <a:xfrm>
            <a:off x="4260279" y="3982471"/>
            <a:ext cx="1796416" cy="8080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Release </a:t>
            </a:r>
          </a:p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Request Latch</a:t>
            </a:r>
          </a:p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TPAUSERQ = 0</a:t>
            </a:r>
          </a:p>
        </p:txBody>
      </p:sp>
      <p:sp>
        <p:nvSpPr>
          <p:cNvPr id="60" name="Arrow: Curved Left 59">
            <a:extLst>
              <a:ext uri="{FF2B5EF4-FFF2-40B4-BE49-F238E27FC236}">
                <a16:creationId xmlns:a16="http://schemas.microsoft.com/office/drawing/2014/main" id="{B4427527-1124-D98A-AFE2-77C0CB7FCF4E}"/>
              </a:ext>
            </a:extLst>
          </p:cNvPr>
          <p:cNvSpPr/>
          <p:nvPr/>
        </p:nvSpPr>
        <p:spPr>
          <a:xfrm>
            <a:off x="10896868" y="2350327"/>
            <a:ext cx="527392" cy="2138862"/>
          </a:xfrm>
          <a:prstGeom prst="curvedLef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85B3A0D-F0B1-D788-E58B-87B7EB2B2AD3}"/>
              </a:ext>
            </a:extLst>
          </p:cNvPr>
          <p:cNvSpPr/>
          <p:nvPr/>
        </p:nvSpPr>
        <p:spPr>
          <a:xfrm>
            <a:off x="1863679" y="3969332"/>
            <a:ext cx="1796416" cy="8080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Frame Sent.</a:t>
            </a:r>
            <a:br>
              <a:rPr lang="en-GB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Ready for new frame</a:t>
            </a:r>
          </a:p>
        </p:txBody>
      </p:sp>
      <p:sp>
        <p:nvSpPr>
          <p:cNvPr id="64" name="Arrow: Left 63">
            <a:extLst>
              <a:ext uri="{FF2B5EF4-FFF2-40B4-BE49-F238E27FC236}">
                <a16:creationId xmlns:a16="http://schemas.microsoft.com/office/drawing/2014/main" id="{64678C28-7DF4-25E0-D41D-874F7AADCD43}"/>
              </a:ext>
            </a:extLst>
          </p:cNvPr>
          <p:cNvSpPr/>
          <p:nvPr/>
        </p:nvSpPr>
        <p:spPr>
          <a:xfrm>
            <a:off x="8425981" y="4282993"/>
            <a:ext cx="656263" cy="206196"/>
          </a:xfrm>
          <a:prstGeom prst="lef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Arrow: Left 65">
            <a:extLst>
              <a:ext uri="{FF2B5EF4-FFF2-40B4-BE49-F238E27FC236}">
                <a16:creationId xmlns:a16="http://schemas.microsoft.com/office/drawing/2014/main" id="{5A06A1D2-22D4-2CF0-0CA4-BD9C24023560}"/>
              </a:ext>
            </a:extLst>
          </p:cNvPr>
          <p:cNvSpPr/>
          <p:nvPr/>
        </p:nvSpPr>
        <p:spPr>
          <a:xfrm>
            <a:off x="6056694" y="4296132"/>
            <a:ext cx="572872" cy="180753"/>
          </a:xfrm>
          <a:prstGeom prst="lef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Arrow: Left 67">
            <a:extLst>
              <a:ext uri="{FF2B5EF4-FFF2-40B4-BE49-F238E27FC236}">
                <a16:creationId xmlns:a16="http://schemas.microsoft.com/office/drawing/2014/main" id="{89A81106-8DE8-5625-5BEF-E60821B87447}"/>
              </a:ext>
            </a:extLst>
          </p:cNvPr>
          <p:cNvSpPr/>
          <p:nvPr/>
        </p:nvSpPr>
        <p:spPr>
          <a:xfrm>
            <a:off x="3678303" y="4282992"/>
            <a:ext cx="572872" cy="180753"/>
          </a:xfrm>
          <a:prstGeom prst="leftArrow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FB26170-F7E2-0B16-0FCB-42AB899DEBA7}"/>
              </a:ext>
            </a:extLst>
          </p:cNvPr>
          <p:cNvSpPr/>
          <p:nvPr/>
        </p:nvSpPr>
        <p:spPr>
          <a:xfrm>
            <a:off x="1544793" y="5434654"/>
            <a:ext cx="1552353" cy="604638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Destination Add.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05A55EA-E3E4-9DBC-4265-00E0EDE12B7F}"/>
              </a:ext>
            </a:extLst>
          </p:cNvPr>
          <p:cNvSpPr/>
          <p:nvPr/>
        </p:nvSpPr>
        <p:spPr>
          <a:xfrm>
            <a:off x="3097146" y="5434654"/>
            <a:ext cx="1469308" cy="60463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Source Add.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E67E3A0-995A-F931-A031-D192D6F7EFFC}"/>
              </a:ext>
            </a:extLst>
          </p:cNvPr>
          <p:cNvSpPr/>
          <p:nvPr/>
        </p:nvSpPr>
        <p:spPr>
          <a:xfrm>
            <a:off x="4566454" y="5434654"/>
            <a:ext cx="961443" cy="604638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Type</a:t>
            </a:r>
          </a:p>
          <a:p>
            <a:pPr algn="ctr"/>
            <a:r>
              <a:rPr lang="en-GB" dirty="0"/>
              <a:t>0x8808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34E7C8B-79C7-44E2-A5F8-02ED4BBBB91E}"/>
              </a:ext>
            </a:extLst>
          </p:cNvPr>
          <p:cNvSpPr/>
          <p:nvPr/>
        </p:nvSpPr>
        <p:spPr>
          <a:xfrm>
            <a:off x="5527897" y="5434654"/>
            <a:ext cx="961444" cy="604638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Opcode</a:t>
            </a:r>
          </a:p>
          <a:p>
            <a:pPr algn="ctr"/>
            <a:r>
              <a:rPr lang="en-GB" dirty="0"/>
              <a:t>0x0001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ED7FE6B-26A2-C442-5A4D-D20A34A885E3}"/>
              </a:ext>
            </a:extLst>
          </p:cNvPr>
          <p:cNvSpPr/>
          <p:nvPr/>
        </p:nvSpPr>
        <p:spPr>
          <a:xfrm>
            <a:off x="6489341" y="5434654"/>
            <a:ext cx="780288" cy="60463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Pause time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DE5AC0C-6F60-2769-26B1-4FFA88C36FB2}"/>
              </a:ext>
            </a:extLst>
          </p:cNvPr>
          <p:cNvSpPr/>
          <p:nvPr/>
        </p:nvSpPr>
        <p:spPr>
          <a:xfrm>
            <a:off x="7315200" y="5434654"/>
            <a:ext cx="2558664" cy="6046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accent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accent1">
                  <a:lumMod val="50000"/>
                  <a:lumOff val="50000"/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Reserved/Padding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B2AB8B8-054F-6FBE-B9A6-2A33039A2E4A}"/>
              </a:ext>
            </a:extLst>
          </p:cNvPr>
          <p:cNvSpPr/>
          <p:nvPr/>
        </p:nvSpPr>
        <p:spPr>
          <a:xfrm>
            <a:off x="9873864" y="5434654"/>
            <a:ext cx="1120201" cy="604638"/>
          </a:xfrm>
          <a:prstGeom prst="rect">
            <a:avLst/>
          </a:prstGeom>
          <a:gradFill flip="none" rotWithShape="1">
            <a:gsLst>
              <a:gs pos="0">
                <a:srgbClr val="FF7C80">
                  <a:tint val="66000"/>
                  <a:satMod val="160000"/>
                </a:srgbClr>
              </a:gs>
              <a:gs pos="50000">
                <a:srgbClr val="FF7C80">
                  <a:tint val="44500"/>
                  <a:satMod val="160000"/>
                </a:srgbClr>
              </a:gs>
              <a:gs pos="100000">
                <a:srgbClr val="FF7C8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FCS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45744FE-FB6D-4337-ABD3-31DA68684FBC}"/>
              </a:ext>
            </a:extLst>
          </p:cNvPr>
          <p:cNvSpPr txBox="1"/>
          <p:nvPr/>
        </p:nvSpPr>
        <p:spPr>
          <a:xfrm>
            <a:off x="1519106" y="4958152"/>
            <a:ext cx="4576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Generated Pause Control Frame (64 Bytes)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C1B0CA0-AF3D-6064-C707-FB42CC379A2C}"/>
              </a:ext>
            </a:extLst>
          </p:cNvPr>
          <p:cNvSpPr/>
          <p:nvPr/>
        </p:nvSpPr>
        <p:spPr>
          <a:xfrm>
            <a:off x="1544793" y="6039292"/>
            <a:ext cx="1556842" cy="272056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6 Bytes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B5F5497-4311-3E27-8B1B-4F13960755A8}"/>
              </a:ext>
            </a:extLst>
          </p:cNvPr>
          <p:cNvSpPr/>
          <p:nvPr/>
        </p:nvSpPr>
        <p:spPr>
          <a:xfrm>
            <a:off x="3097146" y="6039292"/>
            <a:ext cx="1473796" cy="272056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6 Bytes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B04D155-1A39-77D9-5DEE-41923EB1F7DE}"/>
              </a:ext>
            </a:extLst>
          </p:cNvPr>
          <p:cNvSpPr/>
          <p:nvPr/>
        </p:nvSpPr>
        <p:spPr>
          <a:xfrm>
            <a:off x="4570942" y="6039292"/>
            <a:ext cx="952465" cy="272056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2 B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95D318-5F1F-3085-4289-C94D76C63E34}"/>
              </a:ext>
            </a:extLst>
          </p:cNvPr>
          <p:cNvSpPr/>
          <p:nvPr/>
        </p:nvSpPr>
        <p:spPr>
          <a:xfrm>
            <a:off x="5527897" y="6039292"/>
            <a:ext cx="961444" cy="27205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2 B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85CAED-495D-DDF0-BFB3-9F0EE4DD8CA0}"/>
              </a:ext>
            </a:extLst>
          </p:cNvPr>
          <p:cNvSpPr/>
          <p:nvPr/>
        </p:nvSpPr>
        <p:spPr>
          <a:xfrm>
            <a:off x="6489342" y="6039292"/>
            <a:ext cx="780288" cy="272056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2 B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D86DFBB-7B89-A9EC-4932-9B9925775D36}"/>
              </a:ext>
            </a:extLst>
          </p:cNvPr>
          <p:cNvSpPr/>
          <p:nvPr/>
        </p:nvSpPr>
        <p:spPr>
          <a:xfrm>
            <a:off x="7315200" y="6039292"/>
            <a:ext cx="2563152" cy="27205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accent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accent1">
                  <a:lumMod val="50000"/>
                  <a:lumOff val="5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42 Bytes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F49130F-63AF-DBEE-925A-63626E9F88D1}"/>
              </a:ext>
            </a:extLst>
          </p:cNvPr>
          <p:cNvSpPr/>
          <p:nvPr/>
        </p:nvSpPr>
        <p:spPr>
          <a:xfrm>
            <a:off x="9878354" y="6039292"/>
            <a:ext cx="1115712" cy="272056"/>
          </a:xfrm>
          <a:prstGeom prst="rect">
            <a:avLst/>
          </a:prstGeom>
          <a:gradFill flip="none" rotWithShape="1">
            <a:gsLst>
              <a:gs pos="0">
                <a:srgbClr val="FF7C80">
                  <a:tint val="66000"/>
                  <a:satMod val="160000"/>
                </a:srgbClr>
              </a:gs>
              <a:gs pos="50000">
                <a:srgbClr val="FF7C80">
                  <a:tint val="44500"/>
                  <a:satMod val="160000"/>
                </a:srgbClr>
              </a:gs>
              <a:gs pos="100000">
                <a:srgbClr val="FF7C8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4 Bytes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51606A9-EE4B-7CC2-173D-5CED3C150E23}"/>
              </a:ext>
            </a:extLst>
          </p:cNvPr>
          <p:cNvSpPr/>
          <p:nvPr/>
        </p:nvSpPr>
        <p:spPr>
          <a:xfrm>
            <a:off x="1331113" y="1137920"/>
            <a:ext cx="9565755" cy="619243"/>
          </a:xfrm>
          <a:prstGeom prst="roundRect">
            <a:avLst/>
          </a:prstGeom>
          <a:solidFill>
            <a:schemeClr val="accent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2">
                    <a:lumMod val="50000"/>
                  </a:schemeClr>
                </a:solidFill>
              </a:rPr>
              <a:t>Enable and Configuration: Set CTRLMODER (TXFLOW) then Write TXCTRL with TXPAUSETV and PAUSE request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FEC3D-67F5-9DE3-C0A8-F2A3A6E3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5019" y="5856729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44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747686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  <p:bldP spid="8" grpId="0" animBg="1"/>
      <p:bldP spid="10" grpId="0" animBg="1"/>
      <p:bldP spid="12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42" grpId="0"/>
      <p:bldP spid="43" grpId="0"/>
      <p:bldP spid="44" grpId="0"/>
      <p:bldP spid="45" grpId="0" animBg="1"/>
      <p:bldP spid="47" grpId="0" animBg="1"/>
      <p:bldP spid="49" grpId="0" animBg="1"/>
      <p:bldP spid="60" grpId="0" animBg="1"/>
      <p:bldP spid="62" grpId="0" animBg="1"/>
      <p:bldP spid="64" grpId="0" animBg="1"/>
      <p:bldP spid="66" grpId="0" animBg="1"/>
      <p:bldP spid="68" grpId="0" animBg="1"/>
      <p:bldP spid="77" grpId="0" animBg="1"/>
      <p:bldP spid="78" grpId="0" animBg="1"/>
      <p:bldP spid="79" grpId="0" animBg="1"/>
      <p:bldP spid="81" grpId="0" animBg="1"/>
      <p:bldP spid="85" grpId="0" animBg="1"/>
      <p:bldP spid="86" grpId="0" animBg="1"/>
      <p:bldP spid="87" grpId="0" animBg="1"/>
      <p:bldP spid="88" grpId="0"/>
      <p:bldP spid="90" grpId="0" animBg="1"/>
      <p:bldP spid="92" grpId="0" animBg="1"/>
      <p:bldP spid="94" grpId="0" animBg="1"/>
      <p:bldP spid="96" grpId="0" animBg="1"/>
      <p:bldP spid="98" grpId="0" animBg="1"/>
      <p:bldP spid="100" grpId="0" animBg="1"/>
      <p:bldP spid="102" grpId="0" animBg="1"/>
      <p:bldP spid="10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1CDCBA-1FBD-E35C-F397-47BE37CEAE7C}"/>
              </a:ext>
            </a:extLst>
          </p:cNvPr>
          <p:cNvSpPr txBox="1"/>
          <p:nvPr/>
        </p:nvSpPr>
        <p:spPr>
          <a:xfrm>
            <a:off x="1222744" y="340242"/>
            <a:ext cx="5963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Receiving Pause Control Frame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94858E-302A-4B6B-3B1B-018D08C4FB30}"/>
              </a:ext>
            </a:extLst>
          </p:cNvPr>
          <p:cNvSpPr/>
          <p:nvPr/>
        </p:nvSpPr>
        <p:spPr>
          <a:xfrm>
            <a:off x="4539816" y="1001517"/>
            <a:ext cx="2997200" cy="4572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accent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accent2">
                  <a:lumMod val="10000"/>
                  <a:lumOff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Incoming frame from PHY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C6CF6C-9182-28F0-2354-870A971C710E}"/>
              </a:ext>
            </a:extLst>
          </p:cNvPr>
          <p:cNvSpPr/>
          <p:nvPr/>
        </p:nvSpPr>
        <p:spPr>
          <a:xfrm>
            <a:off x="4053840" y="1691083"/>
            <a:ext cx="3969152" cy="819726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bg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bg2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Valid Pause frame</a:t>
            </a:r>
          </a:p>
          <a:p>
            <a:pPr algn="ctr"/>
            <a:r>
              <a:rPr lang="en-GB" dirty="0"/>
              <a:t>DA=01-80-C2-00-00-01 or own MAC</a:t>
            </a:r>
          </a:p>
          <a:p>
            <a:pPr algn="ctr"/>
            <a:r>
              <a:rPr lang="en-GB" dirty="0"/>
              <a:t>Type = 0x8808, Opcode = 0x0001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B51DED-D388-9719-EFE9-6C0F8C45F94F}"/>
              </a:ext>
            </a:extLst>
          </p:cNvPr>
          <p:cNvSpPr/>
          <p:nvPr/>
        </p:nvSpPr>
        <p:spPr>
          <a:xfrm>
            <a:off x="4539816" y="2834026"/>
            <a:ext cx="2997200" cy="457200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CTRLMODER.RXFLOW = 1?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78A5E6-06AF-80D0-D526-1C7EC9018388}"/>
              </a:ext>
            </a:extLst>
          </p:cNvPr>
          <p:cNvSpPr/>
          <p:nvPr/>
        </p:nvSpPr>
        <p:spPr>
          <a:xfrm>
            <a:off x="4539816" y="3579693"/>
            <a:ext cx="2997200" cy="457200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Load Pause Timer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6338C7-42BB-D204-2D3B-34E19C26C380}"/>
              </a:ext>
            </a:extLst>
          </p:cNvPr>
          <p:cNvSpPr/>
          <p:nvPr/>
        </p:nvSpPr>
        <p:spPr>
          <a:xfrm>
            <a:off x="4533032" y="4938317"/>
            <a:ext cx="2997200" cy="457200"/>
          </a:xfrm>
          <a:prstGeom prst="roundRect">
            <a:avLst/>
          </a:prstGeom>
          <a:gradFill flip="none" rotWithShape="1">
            <a:gsLst>
              <a:gs pos="0">
                <a:srgbClr val="66FF66">
                  <a:tint val="66000"/>
                  <a:satMod val="160000"/>
                </a:srgbClr>
              </a:gs>
              <a:gs pos="50000">
                <a:srgbClr val="66FF66">
                  <a:tint val="44500"/>
                  <a:satMod val="160000"/>
                </a:srgbClr>
              </a:gs>
              <a:gs pos="100000">
                <a:srgbClr val="66FF66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Set Interrupt RXC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2CDB5E-0182-FE67-343B-0EFF8CBE927B}"/>
              </a:ext>
            </a:extLst>
          </p:cNvPr>
          <p:cNvSpPr/>
          <p:nvPr/>
        </p:nvSpPr>
        <p:spPr>
          <a:xfrm>
            <a:off x="4539816" y="5537984"/>
            <a:ext cx="2997200" cy="457200"/>
          </a:xfrm>
          <a:prstGeom prst="roundRect">
            <a:avLst/>
          </a:prstGeom>
          <a:gradFill flip="none" rotWithShape="1">
            <a:gsLst>
              <a:gs pos="0">
                <a:srgbClr val="FF7C80">
                  <a:tint val="66000"/>
                  <a:satMod val="160000"/>
                </a:srgbClr>
              </a:gs>
              <a:gs pos="50000">
                <a:srgbClr val="FF7C80">
                  <a:tint val="44500"/>
                  <a:satMod val="160000"/>
                </a:srgbClr>
              </a:gs>
              <a:gs pos="100000">
                <a:srgbClr val="FF7C8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TX MAC Paused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7A7A30A-6DE3-ED8E-8619-D68F662E28FC}"/>
              </a:ext>
            </a:extLst>
          </p:cNvPr>
          <p:cNvSpPr/>
          <p:nvPr/>
        </p:nvSpPr>
        <p:spPr>
          <a:xfrm>
            <a:off x="4539816" y="6116554"/>
            <a:ext cx="2997200" cy="457200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bg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bg2">
                  <a:lumMod val="20000"/>
                  <a:lumOff val="80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Timer Reach 0 (TX Resume)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1BDDD2-143B-5210-7D08-F9B682D76287}"/>
              </a:ext>
            </a:extLst>
          </p:cNvPr>
          <p:cNvSpPr/>
          <p:nvPr/>
        </p:nvSpPr>
        <p:spPr>
          <a:xfrm>
            <a:off x="8920480" y="1880214"/>
            <a:ext cx="1889760" cy="457200"/>
          </a:xfrm>
          <a:prstGeom prst="roundRect">
            <a:avLst/>
          </a:prstGeom>
          <a:gradFill flip="none" rotWithShape="1">
            <a:gsLst>
              <a:gs pos="0">
                <a:srgbClr val="FF5050">
                  <a:tint val="66000"/>
                  <a:satMod val="160000"/>
                </a:srgbClr>
              </a:gs>
              <a:gs pos="50000">
                <a:srgbClr val="FF5050">
                  <a:tint val="44500"/>
                  <a:satMod val="160000"/>
                </a:srgbClr>
              </a:gs>
              <a:gs pos="100000">
                <a:srgbClr val="FF5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Normal Data Frame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ACE6B4-7ABC-A40E-5C09-2DF0050527A0}"/>
              </a:ext>
            </a:extLst>
          </p:cNvPr>
          <p:cNvSpPr/>
          <p:nvPr/>
        </p:nvSpPr>
        <p:spPr>
          <a:xfrm>
            <a:off x="2364336" y="2815605"/>
            <a:ext cx="1087120" cy="494042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TX not Blocked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F48A321-058E-08C6-2B19-39D901B281CB}"/>
              </a:ext>
            </a:extLst>
          </p:cNvPr>
          <p:cNvSpPr/>
          <p:nvPr/>
        </p:nvSpPr>
        <p:spPr>
          <a:xfrm>
            <a:off x="1839409" y="3683954"/>
            <a:ext cx="2145429" cy="55211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PASSALL =1 </a:t>
            </a:r>
          </a:p>
          <a:p>
            <a:pPr algn="ctr"/>
            <a:r>
              <a:rPr lang="en-GB" dirty="0"/>
              <a:t>Store to Memory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B8E035-B784-A9EE-236B-DFA8621C9C6C}"/>
              </a:ext>
            </a:extLst>
          </p:cNvPr>
          <p:cNvSpPr/>
          <p:nvPr/>
        </p:nvSpPr>
        <p:spPr>
          <a:xfrm>
            <a:off x="2068852" y="4629976"/>
            <a:ext cx="1678088" cy="45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accent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accent1">
                  <a:lumMod val="10000"/>
                  <a:lumOff val="90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Store frame </a:t>
            </a:r>
          </a:p>
          <a:p>
            <a:pPr algn="ctr"/>
            <a:r>
              <a:rPr lang="en-GB" dirty="0"/>
              <a:t>BD.CF =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B51890-9BF8-7143-0FB4-2ECC82ED9CF3}"/>
              </a:ext>
            </a:extLst>
          </p:cNvPr>
          <p:cNvCxnSpPr>
            <a:cxnSpLocks/>
            <a:stCxn id="10" idx="1"/>
            <a:endCxn id="22" idx="3"/>
          </p:cNvCxnSpPr>
          <p:nvPr/>
        </p:nvCxnSpPr>
        <p:spPr>
          <a:xfrm flipH="1">
            <a:off x="3451456" y="3062626"/>
            <a:ext cx="1088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B32545-C550-CAFD-884B-E5C7D456BAC3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2907896" y="3309647"/>
            <a:ext cx="4228" cy="37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E63736C-D956-635C-2383-E080BE0DA1E5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8022992" y="2100946"/>
            <a:ext cx="897488" cy="7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F5DDDD4-6DCA-C846-8205-49CEA5556C26}"/>
              </a:ext>
            </a:extLst>
          </p:cNvPr>
          <p:cNvSpPr txBox="1"/>
          <p:nvPr/>
        </p:nvSpPr>
        <p:spPr>
          <a:xfrm>
            <a:off x="8193140" y="177422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421AFA-11AA-44DE-D70A-C09C104F26F5}"/>
              </a:ext>
            </a:extLst>
          </p:cNvPr>
          <p:cNvSpPr txBox="1"/>
          <p:nvPr/>
        </p:nvSpPr>
        <p:spPr>
          <a:xfrm>
            <a:off x="3684267" y="2702525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89B717F-78F8-759F-7E63-BEA585CEDEDE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6038416" y="2510809"/>
            <a:ext cx="0" cy="323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150C6DE-886E-D4F1-B528-497F4E9C8B5C}"/>
              </a:ext>
            </a:extLst>
          </p:cNvPr>
          <p:cNvSpPr txBox="1"/>
          <p:nvPr/>
        </p:nvSpPr>
        <p:spPr>
          <a:xfrm>
            <a:off x="6069708" y="2480237"/>
            <a:ext cx="48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A8136D2-9942-1884-C469-2C2C33C4CDAC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6038416" y="3291226"/>
            <a:ext cx="0" cy="28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4CF58C4-AF85-1B57-31E5-C674B7AA205E}"/>
              </a:ext>
            </a:extLst>
          </p:cNvPr>
          <p:cNvSpPr txBox="1"/>
          <p:nvPr/>
        </p:nvSpPr>
        <p:spPr>
          <a:xfrm>
            <a:off x="6069708" y="3250180"/>
            <a:ext cx="48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D1D12D3-8B7F-2A83-D42E-A950D6DB8F88}"/>
              </a:ext>
            </a:extLst>
          </p:cNvPr>
          <p:cNvSpPr/>
          <p:nvPr/>
        </p:nvSpPr>
        <p:spPr>
          <a:xfrm>
            <a:off x="5093536" y="4254493"/>
            <a:ext cx="1889760" cy="457200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PASSALL = 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7485D6D-0ADB-CF5C-2DB0-2F75CCD3809F}"/>
              </a:ext>
            </a:extLst>
          </p:cNvPr>
          <p:cNvSpPr/>
          <p:nvPr/>
        </p:nvSpPr>
        <p:spPr>
          <a:xfrm>
            <a:off x="8339224" y="4254493"/>
            <a:ext cx="1889760" cy="4572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accent1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accent1">
                  <a:lumMod val="10000"/>
                  <a:lumOff val="90000"/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Store Frame</a:t>
            </a:r>
          </a:p>
          <a:p>
            <a:pPr algn="ctr"/>
            <a:r>
              <a:rPr lang="en-GB" dirty="0"/>
              <a:t>BD.CF = 1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C38E55-0EBB-6C01-4288-71AA75A3A1E1}"/>
              </a:ext>
            </a:extLst>
          </p:cNvPr>
          <p:cNvCxnSpPr>
            <a:stCxn id="12" idx="2"/>
            <a:endCxn id="59" idx="0"/>
          </p:cNvCxnSpPr>
          <p:nvPr/>
        </p:nvCxnSpPr>
        <p:spPr>
          <a:xfrm>
            <a:off x="6038416" y="4036893"/>
            <a:ext cx="0" cy="2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69DD4B4-4E75-8B91-FF15-11EAAE92EECA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6983296" y="4483093"/>
            <a:ext cx="1355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834ED0-FA30-8900-1A7F-AF88F9874116}"/>
              </a:ext>
            </a:extLst>
          </p:cNvPr>
          <p:cNvSpPr txBox="1"/>
          <p:nvPr/>
        </p:nvSpPr>
        <p:spPr>
          <a:xfrm>
            <a:off x="7807498" y="4106228"/>
            <a:ext cx="48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76779600-6F61-E792-0D00-7A88BC399338}"/>
              </a:ext>
            </a:extLst>
          </p:cNvPr>
          <p:cNvCxnSpPr>
            <a:stCxn id="61" idx="2"/>
            <a:endCxn id="14" idx="3"/>
          </p:cNvCxnSpPr>
          <p:nvPr/>
        </p:nvCxnSpPr>
        <p:spPr>
          <a:xfrm rot="5400000">
            <a:off x="8179556" y="4062369"/>
            <a:ext cx="455224" cy="1753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1C73FD7-43F5-880D-614F-CC726FB413A0}"/>
              </a:ext>
            </a:extLst>
          </p:cNvPr>
          <p:cNvCxnSpPr>
            <a:stCxn id="59" idx="2"/>
            <a:endCxn id="14" idx="0"/>
          </p:cNvCxnSpPr>
          <p:nvPr/>
        </p:nvCxnSpPr>
        <p:spPr>
          <a:xfrm flipH="1">
            <a:off x="6031632" y="4711693"/>
            <a:ext cx="6784" cy="226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38E18AB-9602-98AC-38EA-25AB44E81DF8}"/>
              </a:ext>
            </a:extLst>
          </p:cNvPr>
          <p:cNvSpPr txBox="1"/>
          <p:nvPr/>
        </p:nvSpPr>
        <p:spPr>
          <a:xfrm>
            <a:off x="6153585" y="464839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E7B639F-80DF-C21E-7FC8-54AA73C1DE1B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6038416" y="1458717"/>
            <a:ext cx="0" cy="232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68902B5-BF22-9408-36EA-63528B772313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6031632" y="5395517"/>
            <a:ext cx="6784" cy="142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9B04A9A-2588-3E61-EDC9-85F34B2BFAD7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6038416" y="5995184"/>
            <a:ext cx="0" cy="12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92E52479-23A4-71E6-D21F-1D2A3B4CAA62}"/>
              </a:ext>
            </a:extLst>
          </p:cNvPr>
          <p:cNvSpPr txBox="1"/>
          <p:nvPr/>
        </p:nvSpPr>
        <p:spPr>
          <a:xfrm>
            <a:off x="2936752" y="424104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47ACE1D-34C0-CF9D-C3C7-230BC5FEFC45}"/>
              </a:ext>
            </a:extLst>
          </p:cNvPr>
          <p:cNvSpPr/>
          <p:nvPr/>
        </p:nvSpPr>
        <p:spPr>
          <a:xfrm>
            <a:off x="281537" y="3683643"/>
            <a:ext cx="1127760" cy="552118"/>
          </a:xfrm>
          <a:prstGeom prst="round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Dropped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C3A036B-D736-CA89-5371-FC854372947B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flipH="1">
            <a:off x="2907896" y="4236072"/>
            <a:ext cx="4228" cy="39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6037CAE-4216-2B74-F27A-7A866066C3DE}"/>
              </a:ext>
            </a:extLst>
          </p:cNvPr>
          <p:cNvCxnSpPr>
            <a:stCxn id="24" idx="1"/>
            <a:endCxn id="115" idx="3"/>
          </p:cNvCxnSpPr>
          <p:nvPr/>
        </p:nvCxnSpPr>
        <p:spPr>
          <a:xfrm flipH="1" flipV="1">
            <a:off x="1409297" y="3959702"/>
            <a:ext cx="430112" cy="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38DE1C28-4DCB-D346-F711-B8F0DB2EBB5C}"/>
              </a:ext>
            </a:extLst>
          </p:cNvPr>
          <p:cNvSpPr txBox="1"/>
          <p:nvPr/>
        </p:nvSpPr>
        <p:spPr>
          <a:xfrm>
            <a:off x="1366109" y="3600571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19CEAC6E-162B-A2D6-6440-8CD7F0C2C52E}"/>
              </a:ext>
            </a:extLst>
          </p:cNvPr>
          <p:cNvSpPr/>
          <p:nvPr/>
        </p:nvSpPr>
        <p:spPr>
          <a:xfrm>
            <a:off x="2047064" y="5341557"/>
            <a:ext cx="1721664" cy="457200"/>
          </a:xfrm>
          <a:prstGeom prst="roundRect">
            <a:avLst/>
          </a:prstGeom>
          <a:gradFill flip="none" rotWithShape="1">
            <a:gsLst>
              <a:gs pos="0">
                <a:srgbClr val="66FF66">
                  <a:tint val="66000"/>
                  <a:satMod val="160000"/>
                </a:srgbClr>
              </a:gs>
              <a:gs pos="50000">
                <a:srgbClr val="66FF66">
                  <a:tint val="44500"/>
                  <a:satMod val="160000"/>
                </a:srgbClr>
              </a:gs>
              <a:gs pos="100000">
                <a:srgbClr val="66FF6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Set Interrupt RXB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71E0CBF-49AE-7CE0-15BA-92725BD1DE03}"/>
              </a:ext>
            </a:extLst>
          </p:cNvPr>
          <p:cNvCxnSpPr>
            <a:stCxn id="26" idx="2"/>
            <a:endCxn id="127" idx="0"/>
          </p:cNvCxnSpPr>
          <p:nvPr/>
        </p:nvCxnSpPr>
        <p:spPr>
          <a:xfrm>
            <a:off x="2907896" y="5087176"/>
            <a:ext cx="0" cy="25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188BA94-F39F-773E-C9D9-FF556DD794E7}"/>
              </a:ext>
            </a:extLst>
          </p:cNvPr>
          <p:cNvSpPr txBox="1"/>
          <p:nvPr/>
        </p:nvSpPr>
        <p:spPr>
          <a:xfrm>
            <a:off x="8104358" y="5238862"/>
            <a:ext cx="2359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Only RXC fires not RXB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36F848-E460-14EF-2840-6248A4AC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3850" y="5873306"/>
            <a:ext cx="771089" cy="365125"/>
          </a:xfrm>
        </p:spPr>
        <p:txBody>
          <a:bodyPr/>
          <a:lstStyle/>
          <a:p>
            <a:fld id="{94822372-27B5-495E-ACA8-BFA8F945A6A4}" type="slidenum">
              <a:rPr lang="en-US" sz="3200" smtClean="0"/>
              <a:t>45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5161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1" grpId="0" animBg="1"/>
      <p:bldP spid="22" grpId="0" animBg="1"/>
      <p:bldP spid="24" grpId="0" animBg="1"/>
      <p:bldP spid="26" grpId="0" animBg="1"/>
      <p:bldP spid="37" grpId="0"/>
      <p:bldP spid="38" grpId="0"/>
      <p:bldP spid="50" grpId="0"/>
      <p:bldP spid="57" grpId="0"/>
      <p:bldP spid="59" grpId="0" animBg="1"/>
      <p:bldP spid="61" grpId="0" animBg="1"/>
      <p:bldP spid="84" grpId="0"/>
      <p:bldP spid="89" grpId="0"/>
      <p:bldP spid="110" grpId="0"/>
      <p:bldP spid="115" grpId="0" animBg="1"/>
      <p:bldP spid="123" grpId="0"/>
      <p:bldP spid="127" grpId="0" animBg="1"/>
      <p:bldP spid="13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9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8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9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0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4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9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2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3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4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5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6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7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8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2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3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4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5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6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8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9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0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1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pic>
        <p:nvPicPr>
          <p:cNvPr id="100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/>
          <p:cNvSpPr txBox="1"/>
          <p:nvPr/>
        </p:nvSpPr>
        <p:spPr>
          <a:xfrm>
            <a:off x="6569957" y="618518"/>
            <a:ext cx="47470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cap="all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Problems &amp; Solutions in RX </a:t>
            </a:r>
          </a:p>
        </p:txBody>
      </p:sp>
      <p:sp useBgFill="1">
        <p:nvSpPr>
          <p:cNvPr id="102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5F9C23-DC55-EE62-2138-ADC886F1A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" y="3494148"/>
            <a:ext cx="4439544" cy="2340969"/>
          </a:xfrm>
          <a:prstGeom prst="rect">
            <a:avLst/>
          </a:prstGeom>
        </p:spPr>
      </p:pic>
      <p:graphicFrame>
        <p:nvGraphicFramePr>
          <p:cNvPr id="13" name="TextBox 3">
            <a:extLst>
              <a:ext uri="{FF2B5EF4-FFF2-40B4-BE49-F238E27FC236}">
                <a16:creationId xmlns:a16="http://schemas.microsoft.com/office/drawing/2014/main" id="{3A909F9A-D0EE-212A-B5C1-01B2BEA721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1398221"/>
              </p:ext>
            </p:extLst>
          </p:nvPr>
        </p:nvGraphicFramePr>
        <p:xfrm>
          <a:off x="6569957" y="2249487"/>
          <a:ext cx="4747087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56" name="Picture 55">
            <a:extLst>
              <a:ext uri="{FF2B5EF4-FFF2-40B4-BE49-F238E27FC236}">
                <a16:creationId xmlns:a16="http://schemas.microsoft.com/office/drawing/2014/main" id="{1A894C2C-4AC6-A0F4-B3A9-B6F8DAB08F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331" y="1300480"/>
            <a:ext cx="4462893" cy="19352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0A22A-EC64-FDA6-528E-2706AD6A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46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25346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526B6-5FC3-57FA-D305-3B8672C6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8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9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0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1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2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4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6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7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8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0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4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9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0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1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3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4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8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9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2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3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4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5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6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pic>
        <p:nvPicPr>
          <p:cNvPr id="96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9929418C-7EB0-621E-ABCC-309A0187AFE2}"/>
              </a:ext>
            </a:extLst>
          </p:cNvPr>
          <p:cNvSpPr txBox="1"/>
          <p:nvPr/>
        </p:nvSpPr>
        <p:spPr>
          <a:xfrm>
            <a:off x="6569957" y="618518"/>
            <a:ext cx="47470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cap="all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Problems &amp; Solutions in RX </a:t>
            </a:r>
          </a:p>
        </p:txBody>
      </p:sp>
      <p:sp useBgFill="1">
        <p:nvSpPr>
          <p:cNvPr id="98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C0EAEF-D853-C598-4095-9B2F8BEB9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07" y="1026159"/>
            <a:ext cx="5145161" cy="4693921"/>
          </a:xfrm>
          <a:prstGeom prst="rect">
            <a:avLst/>
          </a:prstGeom>
        </p:spPr>
      </p:pic>
      <p:graphicFrame>
        <p:nvGraphicFramePr>
          <p:cNvPr id="102" name="TextBox 3">
            <a:extLst>
              <a:ext uri="{FF2B5EF4-FFF2-40B4-BE49-F238E27FC236}">
                <a16:creationId xmlns:a16="http://schemas.microsoft.com/office/drawing/2014/main" id="{724FB269-F5AA-D498-0D06-7180230D0C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9819965"/>
              </p:ext>
            </p:extLst>
          </p:nvPr>
        </p:nvGraphicFramePr>
        <p:xfrm>
          <a:off x="6569957" y="2249487"/>
          <a:ext cx="4747087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E15B-59D8-4221-9128-DC9F731A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z="3200" smtClean="0"/>
              <a:t>47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639141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0C17-D4A5-C410-235E-1867A772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>
            <a:extLst>
              <a:ext uri="{FF2B5EF4-FFF2-40B4-BE49-F238E27FC236}">
                <a16:creationId xmlns:a16="http://schemas.microsoft.com/office/drawing/2014/main" id="{D048D468-9009-44D8-87D2-96807B62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112" y="85061"/>
            <a:ext cx="5369442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BUGS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6539E-3FEA-9AFD-77D1-98E699FE5C23}"/>
              </a:ext>
            </a:extLst>
          </p:cNvPr>
          <p:cNvSpPr txBox="1"/>
          <p:nvPr/>
        </p:nvSpPr>
        <p:spPr>
          <a:xfrm>
            <a:off x="2541181" y="41785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7BC4AD-3BEF-9802-06C3-85F7D9584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6" y="818706"/>
            <a:ext cx="11717079" cy="5782503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90AEBC2-25B8-CB98-626B-8D4729D19029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48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214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AF1FF"/>
            </a:gs>
            <a:gs pos="50000">
              <a:srgbClr val="4583FF"/>
            </a:gs>
            <a:gs pos="66000">
              <a:srgbClr val="0036A2">
                <a:alpha val="0"/>
              </a:srgbClr>
            </a:gs>
            <a:gs pos="100000">
              <a:srgbClr val="83AC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15" name="Group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916" name="Rectangl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17" name="Freeform 1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18" name="Freeform 1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19" name="Rectangl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0" name="Freeform 1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1" name="Freeform 1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2" name="Freeform 1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3" name="Freeform 1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4" name="Freeform 1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5" name="Freeform 1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6" name="Freeform 1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7" name="Freeform 1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8" name="Freeform 1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29" name="Freeform 1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0" name="Freeform 1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1" name="Freeform 13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2" name="Freeform 1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3" name="Freeform 1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4" name="Freeform 13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5" name="Freeform 13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6" name="Freeform 1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7" name="Freeform 1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8" name="Freeform 14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39" name="Freeform 1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0" name="Freeform 14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1" name="Freeform 14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2" name="Freeform 14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3" name="Freeform 1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4" name="Rectangl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5" name="Freeform 14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6" name="Freeform 14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7" name="Freeform 14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8" name="Freeform 14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49" name="Freeform 15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0" name="Freeform 15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1" name="Freeform 15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2" name="Freeform 15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3" name="Freeform 15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4" name="Freeform 15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5" name="Freeform 15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6" name="Rect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7" name="Freeform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8" name="Freeform 15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59" name="Freeform 15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0" name="Freeform 16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1" name="Freeform 16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2" name="Freeform 16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3" name="Freeform 16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4" name="Freeform 16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5" name="Freeform 16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6" name="Freeform 16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7" name="Freeform 16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8" name="Freeform 1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69" name="Freeform 16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grpSp>
        <p:nvGrpSpPr>
          <p:cNvPr id="970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 useBgFill="1">
          <p:nvSpPr>
            <p:cNvPr id="971" name="Rectangl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pic>
          <p:nvPicPr>
            <p:cNvPr id="972" name="Pictur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4">
              <a:alphaModFix amt="30000"/>
            </a:blip>
            <a:stretch/>
          </p:blipFill>
          <p:spPr>
            <a:xfrm>
              <a:off x="0" y="0"/>
              <a:ext cx="12191760" cy="6857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73" name="Round Diagonal Corner 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2280" y="2235240"/>
            <a:ext cx="7026840" cy="2395800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pSp>
        <p:nvGrpSpPr>
          <p:cNvPr id="974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6240" y="2900160"/>
            <a:ext cx="10981800" cy="1211400"/>
            <a:chOff x="606240" y="2900160"/>
            <a:chExt cx="10981800" cy="1211400"/>
          </a:xfrm>
        </p:grpSpPr>
        <p:sp>
          <p:nvSpPr>
            <p:cNvPr id="975" name="Freeform 17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9653400" y="337932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76" name="Freeform 17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078200" y="331092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77" name="Freeform 17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1146680" y="357444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78" name="Freeform 17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230480" y="303480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79" name="Freeform 17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034640" y="2562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0" name="Freeform 17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747440" y="323244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1" name="Freeform 17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1399400" y="309528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2" name="Freeform 17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353960" y="215316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3" name="Freeform 17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849240" y="330876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4" name="Rectangl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721440" y="328392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5" name="Freeform 17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2121840" y="3531960"/>
              <a:ext cx="417240" cy="512280"/>
            </a:xfrm>
            <a:custGeom>
              <a:avLst/>
              <a:gdLst>
                <a:gd name="textAreaLeft" fmla="*/ -360 w 417240"/>
                <a:gd name="textAreaRight" fmla="*/ 41724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6" name="Freeform 18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958400" y="3463560"/>
              <a:ext cx="156960" cy="15192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7" name="Freeform 18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858240" y="3727080"/>
              <a:ext cx="188640" cy="19008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8" name="Freeform 18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658520" y="3187080"/>
              <a:ext cx="304560" cy="1544400"/>
            </a:xfrm>
            <a:custGeom>
              <a:avLst/>
              <a:gdLst>
                <a:gd name="textAreaLeft" fmla="*/ 360 w 304560"/>
                <a:gd name="textAreaRight" fmla="*/ 30528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89" name="Freeform 18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860120" y="2715120"/>
              <a:ext cx="298080" cy="1153800"/>
            </a:xfrm>
            <a:custGeom>
              <a:avLst/>
              <a:gdLst>
                <a:gd name="textAreaLeft" fmla="*/ 360 w 298080"/>
                <a:gd name="textAreaRight" fmla="*/ 29880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90" name="Freeform 18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288800" y="3385080"/>
              <a:ext cx="156960" cy="15516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91" name="Freeform 18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606240" y="3247920"/>
              <a:ext cx="188640" cy="18864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92" name="Freeform 18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532520" y="2305440"/>
              <a:ext cx="307440" cy="1801440"/>
            </a:xfrm>
            <a:custGeom>
              <a:avLst/>
              <a:gdLst>
                <a:gd name="textAreaLeft" fmla="*/ 360 w 307440"/>
                <a:gd name="textAreaRight" fmla="*/ 30816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93" name="Freeform 18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154960" y="3461040"/>
              <a:ext cx="190080" cy="188640"/>
            </a:xfrm>
            <a:custGeom>
              <a:avLst/>
              <a:gdLst>
                <a:gd name="textAreaLeft" fmla="*/ 360 w 190080"/>
                <a:gd name="textAreaRight" fmla="*/ 19080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994" name="Rectangl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449080" y="343656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sp>
        <p:nvSpPr>
          <p:cNvPr id="995" name="PlaceHolder 1"/>
          <p:cNvSpPr>
            <a:spLocks noGrp="1"/>
          </p:cNvSpPr>
          <p:nvPr>
            <p:ph type="title"/>
          </p:nvPr>
        </p:nvSpPr>
        <p:spPr>
          <a:xfrm>
            <a:off x="2685240" y="2728440"/>
            <a:ext cx="6919560" cy="107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 cap="all" dirty="0">
                <a:solidFill>
                  <a:schemeClr val="dk1"/>
                </a:solidFill>
                <a:effectLst/>
                <a:uFillTx/>
                <a:latin typeface="Times New Roman"/>
              </a:rPr>
              <a:t>MII Operation</a:t>
            </a:r>
            <a:endParaRPr lang="en-US" sz="4000" b="0" u="none" strike="noStrike" cap="all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CFB47-0273-E44D-E9E2-DF14930253D9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E943B-02CA-415A-8435-74E6CC15A1ED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595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1212112" y="85061"/>
            <a:ext cx="5369442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Scope &amp; Objective</a:t>
            </a:r>
          </a:p>
        </p:txBody>
      </p:sp>
      <p:sp>
        <p:nvSpPr>
          <p:cNvPr id="1047" name="PlaceHolder 2"/>
          <p:cNvSpPr>
            <a:spLocks noGrp="1"/>
          </p:cNvSpPr>
          <p:nvPr>
            <p:ph/>
          </p:nvPr>
        </p:nvSpPr>
        <p:spPr>
          <a:xfrm>
            <a:off x="926858" y="1779924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cap="none" dirty="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rPr>
              <a:t>Scope: DUT files under test</a:t>
            </a:r>
          </a:p>
          <a:p>
            <a:pPr marL="864000" lvl="1" indent="-324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Bookman Old Style" panose="02050604050505020204" pitchFamily="18" charset="0"/>
              </a:rPr>
              <a:t>eth_miim.v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Bookman Old Style" panose="02050604050505020204" pitchFamily="18" charset="0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/>
              <a:t>eth_clockgen.v</a:t>
            </a:r>
            <a:endParaRPr lang="en-US" sz="2000" b="0" u="none" strike="noStrike" dirty="0">
              <a:solidFill>
                <a:schemeClr val="dk1"/>
              </a:solidFill>
              <a:effectLst/>
              <a:highlight>
                <a:srgbClr val="EA7500"/>
              </a:highlight>
              <a:uFillTx/>
              <a:latin typeface="Bookman Old Style" panose="02050604050505020204" pitchFamily="18" charset="0"/>
            </a:endParaRPr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/>
              <a:t>eth_shiftreg.v</a:t>
            </a:r>
            <a:endParaRPr lang="en-US" dirty="0"/>
          </a:p>
          <a:p>
            <a:pPr marL="1296000" lvl="2" indent="-2880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/>
              <a:t>eth_outputcontrol.v</a:t>
            </a:r>
            <a:endParaRPr lang="en-US" dirty="0"/>
          </a:p>
          <a:p>
            <a:pPr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endParaRPr lang="en-US" sz="2200" cap="none" dirty="0">
              <a:solidFill>
                <a:schemeClr val="tx1"/>
              </a:solidFill>
              <a:latin typeface="Bookman Old Style" panose="02050604050505020204" pitchFamily="18" charset="0"/>
              <a:ea typeface="+mn-ea"/>
              <a:cs typeface="+mn-cs"/>
            </a:endParaRPr>
          </a:p>
          <a:p>
            <a:pPr indent="-324000" algn="l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200" cap="none" dirty="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rPr>
              <a:t>Objective: reach 100% functional coverage, maximize code coverage</a:t>
            </a:r>
          </a:p>
        </p:txBody>
      </p:sp>
      <p:pic>
        <p:nvPicPr>
          <p:cNvPr id="1048" name="Picture 1047"/>
          <p:cNvPicPr/>
          <p:nvPr/>
        </p:nvPicPr>
        <p:blipFill>
          <a:blip r:embed="rId3"/>
          <a:srcRect l="3973" t="1588" r="8441" b="8203"/>
          <a:stretch/>
        </p:blipFill>
        <p:spPr>
          <a:xfrm>
            <a:off x="5258160" y="2013840"/>
            <a:ext cx="5028840" cy="251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FEB6C-D52F-8E9D-FBAC-252248C99823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50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9404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AF1FF"/>
            </a:gs>
            <a:gs pos="50000">
              <a:srgbClr val="4583FF"/>
            </a:gs>
            <a:gs pos="66000">
              <a:srgbClr val="0036A2">
                <a:alpha val="0"/>
              </a:srgbClr>
            </a:gs>
            <a:gs pos="100000">
              <a:srgbClr val="83AC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04" name="Group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1005" name="Rectangl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6" name="Freeform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7" name="Freeform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8" name="Rectangl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9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0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1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3" name="Freeform 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4" name="Freeform 5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5" name="Freeform 6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6" name="Freeform 6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7" name="Freeform 6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8" name="Freeform 6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9" name="Freeform 6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0" name="Freeform 6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1" name="Freeform 6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2" name="Freeform 6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3" name="Freeform 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4" name="Freeform 6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5" name="Freeform 7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6" name="Freeform 7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7" name="Freeform 7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8" name="Freeform 7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9" name="Freeform 7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0" name="Freeform 7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1" name="Freeform 7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2" name="Freeform 7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3" name="Rectangl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4" name="Freeform 7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5" name="Freeform 7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6" name="Freeform 8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7" name="Freeform 8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8" name="Freeform 8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9" name="Freeform 8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0" name="Freeform 8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1" name="Freeform 8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2" name="Freeform 8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3" name="Freeform 8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4" name="Freeform 8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5" name="Rectangl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6" name="Freeform 8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7" name="Freeform 9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8" name="Freeform 9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9" name="Freeform 9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0" name="Freeform 9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1" name="Freeform 9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2" name="Freeform 9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3" name="Freeform 9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4" name="Freeform 9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5" name="Freeform 9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6" name="Freeform 9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7" name="Freeform 10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8" name="Freeform 10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grpSp>
        <p:nvGrpSpPr>
          <p:cNvPr id="1059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 useBgFill="1">
          <p:nvSpPr>
            <p:cNvPr id="1060" name="Rectangl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pic>
          <p:nvPicPr>
            <p:cNvPr id="1061" name="Pictur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4">
              <a:alphaModFix amt="30000"/>
            </a:blip>
            <a:stretch/>
          </p:blipFill>
          <p:spPr>
            <a:xfrm>
              <a:off x="0" y="0"/>
              <a:ext cx="12191760" cy="6857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62" name="Round Diagonal Corner 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2280" y="2235240"/>
            <a:ext cx="7026840" cy="2395800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pSp>
        <p:nvGrpSpPr>
          <p:cNvPr id="1063" name="Group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6240" y="2900160"/>
            <a:ext cx="10981800" cy="1211400"/>
            <a:chOff x="606240" y="2900160"/>
            <a:chExt cx="10981800" cy="1211400"/>
          </a:xfrm>
        </p:grpSpPr>
        <p:sp>
          <p:nvSpPr>
            <p:cNvPr id="1064" name="Freeform 10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9653400" y="337932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5" name="Freeform 10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078200" y="331092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6" name="Freeform 10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1146680" y="357444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7" name="Freeform 10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230480" y="303480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8" name="Freeform 10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034640" y="2562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9" name="Freeform 10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747440" y="323244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0" name="Freeform 10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1399400" y="309528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1" name="Freeform 10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353960" y="215316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2" name="Freeform 1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849240" y="330876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3" name="Rectangl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721440" y="328392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4" name="Freeform 1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2121840" y="3531960"/>
              <a:ext cx="417240" cy="512280"/>
            </a:xfrm>
            <a:custGeom>
              <a:avLst/>
              <a:gdLst>
                <a:gd name="textAreaLeft" fmla="*/ -360 w 417240"/>
                <a:gd name="textAreaRight" fmla="*/ 41724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5" name="Freeform 1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958400" y="3463560"/>
              <a:ext cx="156960" cy="15192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6" name="Freeform 1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858240" y="3727080"/>
              <a:ext cx="188640" cy="19008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7" name="Freeform 1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658520" y="3187080"/>
              <a:ext cx="304560" cy="1544400"/>
            </a:xfrm>
            <a:custGeom>
              <a:avLst/>
              <a:gdLst>
                <a:gd name="textAreaLeft" fmla="*/ 360 w 304560"/>
                <a:gd name="textAreaRight" fmla="*/ 30528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8" name="Freeform 1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860120" y="2715120"/>
              <a:ext cx="298080" cy="1153800"/>
            </a:xfrm>
            <a:custGeom>
              <a:avLst/>
              <a:gdLst>
                <a:gd name="textAreaLeft" fmla="*/ 360 w 298080"/>
                <a:gd name="textAreaRight" fmla="*/ 29880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9" name="Freeform 1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288800" y="3385080"/>
              <a:ext cx="156960" cy="15516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0" name="Freeform 1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606240" y="3247920"/>
              <a:ext cx="188640" cy="18864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1" name="Freeform 1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532520" y="2305440"/>
              <a:ext cx="307440" cy="1801440"/>
            </a:xfrm>
            <a:custGeom>
              <a:avLst/>
              <a:gdLst>
                <a:gd name="textAreaLeft" fmla="*/ 360 w 307440"/>
                <a:gd name="textAreaRight" fmla="*/ 30816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2" name="Freeform 1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154960" y="3461040"/>
              <a:ext cx="190080" cy="188640"/>
            </a:xfrm>
            <a:custGeom>
              <a:avLst/>
              <a:gdLst>
                <a:gd name="textAreaLeft" fmla="*/ 360 w 190080"/>
                <a:gd name="textAreaRight" fmla="*/ 19080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3" name="Rectangl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449080" y="343656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2685240" y="2728440"/>
            <a:ext cx="6919560" cy="107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 cap="all" dirty="0">
                <a:solidFill>
                  <a:schemeClr val="dk1"/>
                </a:solidFill>
                <a:effectLst/>
                <a:uFillTx/>
                <a:latin typeface="Times New Roman"/>
              </a:rPr>
              <a:t>MII Verification</a:t>
            </a:r>
            <a:endParaRPr lang="en-US" sz="4000" b="0" u="none" strike="noStrike" cap="all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A01224-4838-093A-82D5-97973C97FAE5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E943B-02CA-415A-8435-74E6CC15A1ED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0603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999459" y="-21265"/>
            <a:ext cx="7931889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TestbencH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 Architecture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53" y="870866"/>
            <a:ext cx="6996223" cy="55196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1559B-3C7C-98CA-394A-F2CB4F8A0FDB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52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425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title"/>
          </p:nvPr>
        </p:nvSpPr>
        <p:spPr>
          <a:xfrm>
            <a:off x="1382232" y="212651"/>
            <a:ext cx="5422606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Test Suite Overview</a:t>
            </a:r>
          </a:p>
        </p:txBody>
      </p:sp>
      <p:sp>
        <p:nvSpPr>
          <p:cNvPr id="1054" name="PlaceHolder 3"/>
          <p:cNvSpPr txBox="1"/>
          <p:nvPr/>
        </p:nvSpPr>
        <p:spPr>
          <a:xfrm>
            <a:off x="1091118" y="1690451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-324000" algn="l" defTabSz="914400" rtl="0" eaLnBrk="1" fontAlgn="auto" latinLnBrk="0" hangingPunct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Tx/>
              <a:buFont typeface="Wingdings" charset="2"/>
              <a:buChar char="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15 test cases, divided mainly in three categories: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Reset &amp; Clock Generation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Writing to PHY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Reading From PHY</a:t>
            </a:r>
          </a:p>
          <a:p>
            <a:pPr marL="0" marR="0" lvl="0" indent="-324000" algn="l" defTabSz="914400" rtl="0" eaLnBrk="1" fontAlgn="auto" latinLnBrk="0" hangingPunct="1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Wingdings" charset="2"/>
              <a:buChar char="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Target: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Protocol correctness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Register/priority edge cases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Timing/corner-case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15F929-0AFC-0A56-A5B6-004CF2469D08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53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4816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title"/>
          </p:nvPr>
        </p:nvSpPr>
        <p:spPr>
          <a:xfrm>
            <a:off x="1254641" y="159488"/>
            <a:ext cx="8527313" cy="138210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Functional Coverage Results</a:t>
            </a:r>
          </a:p>
        </p:txBody>
      </p:sp>
      <p:sp>
        <p:nvSpPr>
          <p:cNvPr id="1056" name="PlaceHolder 5"/>
          <p:cNvSpPr txBox="1"/>
          <p:nvPr/>
        </p:nvSpPr>
        <p:spPr>
          <a:xfrm>
            <a:off x="894960" y="2013840"/>
            <a:ext cx="10401840" cy="4844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-324000" algn="l" defTabSz="914400" rtl="0" eaLnBrk="1" fontAlgn="auto" latinLnBrk="0" hangingPunct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Tx/>
              <a:buFont typeface="Wingdings" charset="2"/>
              <a:buChar char="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MIIM Functional Coverage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1057" name="Picture 1056"/>
          <p:cNvPicPr/>
          <p:nvPr/>
        </p:nvPicPr>
        <p:blipFill>
          <a:blip r:embed="rId3"/>
          <a:srcRect l="1159" r="14120"/>
          <a:stretch/>
        </p:blipFill>
        <p:spPr>
          <a:xfrm>
            <a:off x="2666700" y="3594240"/>
            <a:ext cx="6858360" cy="84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770467-DECE-1D74-17D4-5096D6757D60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54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4071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754911" y="148856"/>
            <a:ext cx="3954474" cy="147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RTL Bugs</a:t>
            </a:r>
          </a:p>
        </p:txBody>
      </p:sp>
      <p:sp>
        <p:nvSpPr>
          <p:cNvPr id="1060" name="PlaceHolder 4"/>
          <p:cNvSpPr txBox="1"/>
          <p:nvPr/>
        </p:nvSpPr>
        <p:spPr>
          <a:xfrm>
            <a:off x="1511649" y="1407784"/>
            <a:ext cx="10401840" cy="418494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-324000" algn="l" defTabSz="914400" rtl="0" eaLnBrk="1" fontAlgn="auto" latinLnBrk="0" hangingPunct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Tx/>
              <a:buFont typeface="Wingdings" charset="2"/>
              <a:buChar char=""/>
              <a:tabLst/>
              <a:defRPr/>
            </a:pPr>
            <a:r>
              <a:rPr lang="en-US" sz="2400" dirty="0">
                <a:latin typeface="Bookman Old Style" panose="02050604050505020204" pitchFamily="18" charset="0"/>
              </a:rPr>
              <a:t>MIIM-Bug-001: 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Description: In-flight MIIM operation abort permanently deadlocks Busy.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Severity: High.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Root Cause: </a:t>
            </a:r>
            <a:r>
              <a:rPr lang="en-US" sz="2200" dirty="0" err="1">
                <a:latin typeface="Bookman Old Style" panose="02050604050505020204" pitchFamily="18" charset="0"/>
              </a:rPr>
              <a:t>Nvalid</a:t>
            </a:r>
            <a:r>
              <a:rPr lang="en-US" sz="2200" dirty="0">
                <a:latin typeface="Bookman Old Style" panose="02050604050505020204" pitchFamily="18" charset="0"/>
              </a:rPr>
              <a:t> signal is left set with no path to 0.</a:t>
            </a:r>
          </a:p>
          <a:p>
            <a:pPr marL="1296000" marR="0" lvl="2" indent="-288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A7500"/>
                </a:highlight>
                <a:uLnTx/>
                <a:uFillTx/>
                <a:latin typeface="Bookman Old Style" panose="02050604050505020204" pitchFamily="18" charset="0"/>
              </a:rPr>
              <a:t>Busy = ... |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A7500"/>
                </a:highlight>
                <a:uLnTx/>
                <a:uFillTx/>
                <a:latin typeface="Bookman Old Style" panose="02050604050505020204" pitchFamily="18" charset="0"/>
              </a:rPr>
              <a:t>InProgress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A7500"/>
                </a:highlight>
                <a:uLnTx/>
                <a:uFillTx/>
                <a:latin typeface="Bookman Old Style" panose="02050604050505020204" pitchFamily="18" charset="0"/>
              </a:rPr>
              <a:t> | InProgress_q3 |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A7500"/>
                </a:highlight>
                <a:uLnTx/>
                <a:uFillTx/>
                <a:latin typeface="Bookman Old Style" panose="02050604050505020204" pitchFamily="18" charset="0"/>
              </a:rPr>
              <a:t>Nvalid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A7500"/>
                </a:highlight>
                <a:uLnTx/>
                <a:uFillTx/>
                <a:latin typeface="Tw Cen MT"/>
                <a:ea typeface="+mn-ea"/>
                <a:cs typeface="+mn-cs"/>
              </a:rPr>
              <a:t>;</a:t>
            </a: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dirty="0">
                <a:latin typeface="Bookman Old Style" panose="02050604050505020204" pitchFamily="18" charset="0"/>
              </a:rPr>
              <a:t>Trigger: Normal register write</a:t>
            </a:r>
          </a:p>
          <a:p>
            <a:pPr marL="864000" lvl="1" indent="-3240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dirty="0">
                <a:latin typeface="Bookman Old Style" panose="02050604050505020204" pitchFamily="18" charset="0"/>
              </a:rPr>
              <a:t>Recovery: only a full core reset clears it.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68236-B78F-56E1-E8D4-A9D1104F12A9}"/>
              </a:ext>
            </a:extLst>
          </p:cNvPr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fld id="{12D04ABA-5FC3-469B-ACF5-BEE7D753D181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t>55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8675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AF1FF"/>
            </a:gs>
            <a:gs pos="50000">
              <a:srgbClr val="4583FF"/>
            </a:gs>
            <a:gs pos="66000">
              <a:srgbClr val="0036A2">
                <a:alpha val="0"/>
              </a:srgbClr>
            </a:gs>
            <a:gs pos="100000">
              <a:srgbClr val="83AC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04" name="Group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1005" name="Rectangl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6" name="Freeform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7" name="Freeform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8" name="Rectangl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9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0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1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3" name="Freeform 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4" name="Freeform 5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5" name="Freeform 6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6" name="Freeform 6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7" name="Freeform 6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8" name="Freeform 6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9" name="Freeform 6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0" name="Freeform 6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1" name="Freeform 6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2" name="Freeform 6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3" name="Freeform 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4" name="Freeform 6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5" name="Freeform 7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6" name="Freeform 7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7" name="Freeform 7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8" name="Freeform 7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9" name="Freeform 7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0" name="Freeform 7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1" name="Freeform 7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2" name="Freeform 7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3" name="Rectangl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4" name="Freeform 7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5" name="Freeform 7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6" name="Freeform 8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7" name="Freeform 8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8" name="Freeform 8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9" name="Freeform 8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0" name="Freeform 8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1" name="Freeform 8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2" name="Freeform 8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3" name="Freeform 8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4" name="Freeform 8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5" name="Rectangl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6" name="Freeform 8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7" name="Freeform 9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8" name="Freeform 9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9" name="Freeform 9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0" name="Freeform 9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1" name="Freeform 9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2" name="Freeform 9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3" name="Freeform 9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4" name="Freeform 9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5" name="Freeform 9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6" name="Freeform 9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7" name="Freeform 10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8" name="Freeform 10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grpSp>
        <p:nvGrpSpPr>
          <p:cNvPr id="1059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30600"/>
            <a:ext cx="12191760" cy="6857640"/>
            <a:chOff x="0" y="0"/>
            <a:chExt cx="12191760" cy="6857640"/>
          </a:xfrm>
        </p:grpSpPr>
        <p:sp useBgFill="1">
          <p:nvSpPr>
            <p:cNvPr id="1060" name="Rectangl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pic>
          <p:nvPicPr>
            <p:cNvPr id="1061" name="Pictur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4">
              <a:alphaModFix amt="30000"/>
            </a:blip>
            <a:stretch/>
          </p:blipFill>
          <p:spPr>
            <a:xfrm>
              <a:off x="0" y="0"/>
              <a:ext cx="12191760" cy="6857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62" name="Round Diagonal Corner 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2280" y="2235240"/>
            <a:ext cx="7026840" cy="2395800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pSp>
        <p:nvGrpSpPr>
          <p:cNvPr id="1063" name="Group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6240" y="2900160"/>
            <a:ext cx="10981800" cy="1211400"/>
            <a:chOff x="606240" y="2900160"/>
            <a:chExt cx="10981800" cy="1211400"/>
          </a:xfrm>
        </p:grpSpPr>
        <p:sp>
          <p:nvSpPr>
            <p:cNvPr id="1064" name="Freeform 10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9653400" y="337932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5" name="Freeform 10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078200" y="331092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6" name="Freeform 10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1146680" y="357444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7" name="Freeform 10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230480" y="303480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8" name="Freeform 10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034640" y="2562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9" name="Freeform 10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747440" y="323244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0" name="Freeform 10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1399400" y="309528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1" name="Freeform 10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353960" y="215316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2" name="Freeform 1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849240" y="330876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3" name="Rectangl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721440" y="328392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4" name="Freeform 1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2121840" y="3531960"/>
              <a:ext cx="417240" cy="512280"/>
            </a:xfrm>
            <a:custGeom>
              <a:avLst/>
              <a:gdLst>
                <a:gd name="textAreaLeft" fmla="*/ -360 w 417240"/>
                <a:gd name="textAreaRight" fmla="*/ 41724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5" name="Freeform 1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958400" y="3463560"/>
              <a:ext cx="156960" cy="15192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6" name="Freeform 1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858240" y="3727080"/>
              <a:ext cx="188640" cy="19008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7" name="Freeform 1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658520" y="3187080"/>
              <a:ext cx="304560" cy="1544400"/>
            </a:xfrm>
            <a:custGeom>
              <a:avLst/>
              <a:gdLst>
                <a:gd name="textAreaLeft" fmla="*/ 360 w 304560"/>
                <a:gd name="textAreaRight" fmla="*/ 30528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8" name="Freeform 1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860120" y="2715120"/>
              <a:ext cx="298080" cy="1153800"/>
            </a:xfrm>
            <a:custGeom>
              <a:avLst/>
              <a:gdLst>
                <a:gd name="textAreaLeft" fmla="*/ 360 w 298080"/>
                <a:gd name="textAreaRight" fmla="*/ 29880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9" name="Freeform 1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288800" y="3385080"/>
              <a:ext cx="156960" cy="15516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0" name="Freeform 1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606240" y="3247920"/>
              <a:ext cx="188640" cy="18864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1" name="Freeform 1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532520" y="2305440"/>
              <a:ext cx="307440" cy="1801440"/>
            </a:xfrm>
            <a:custGeom>
              <a:avLst/>
              <a:gdLst>
                <a:gd name="textAreaLeft" fmla="*/ 360 w 307440"/>
                <a:gd name="textAreaRight" fmla="*/ 30816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2" name="Freeform 1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154960" y="3461040"/>
              <a:ext cx="190080" cy="188640"/>
            </a:xfrm>
            <a:custGeom>
              <a:avLst/>
              <a:gdLst>
                <a:gd name="textAreaLeft" fmla="*/ 360 w 190080"/>
                <a:gd name="textAreaRight" fmla="*/ 19080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3" name="Rectangl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449080" y="343656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2685240" y="2728440"/>
            <a:ext cx="6919560" cy="107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dirty="0">
                <a:latin typeface="Times New Roman"/>
              </a:rPr>
              <a:t>CODE COVERAGE</a:t>
            </a:r>
            <a:endParaRPr lang="en-US" sz="4000" b="0" u="none" strike="noStrike" cap="all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F5E5D9-D984-D80B-573D-48AE5830B5AC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E943B-02CA-415A-8435-74E6CC15A1ED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7055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1398814" y="550633"/>
            <a:ext cx="10560600" cy="68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0"/>
              </a:rPr>
              <a:t>Code</a:t>
            </a:r>
            <a:r>
              <a:rPr lang="en-US" sz="3600" b="0" u="none" strike="noStrike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Baskerville Old Face" panose="02020602080505020303" pitchFamily="18" charset="0"/>
              </a:rPr>
              <a:t> Coverage</a:t>
            </a:r>
            <a:endParaRPr lang="en-US" sz="3600" b="0" u="none" strike="noStrike" cap="all" dirty="0">
              <a:solidFill>
                <a:schemeClr val="bg2">
                  <a:lumMod val="50000"/>
                </a:schemeClr>
              </a:solidFill>
              <a:effectLst/>
              <a:uFillTx/>
              <a:latin typeface="Baskerville Old Face" panose="02020602080505020303" pitchFamily="18" charset="0"/>
            </a:endParaRPr>
          </a:p>
        </p:txBody>
      </p:sp>
      <p:sp>
        <p:nvSpPr>
          <p:cNvPr id="3" name="PlaceHolder 4"/>
          <p:cNvSpPr txBox="1"/>
          <p:nvPr/>
        </p:nvSpPr>
        <p:spPr>
          <a:xfrm>
            <a:off x="1398814" y="1470160"/>
            <a:ext cx="7053811" cy="418494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lvl="0"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  <a:defRPr/>
            </a:pPr>
            <a:r>
              <a:rPr lang="en-US" sz="2400" dirty="0">
                <a:latin typeface="Bookman Old Style" panose="02050604050505020204" pitchFamily="18" charset="0"/>
              </a:rPr>
              <a:t>Reasons for Not Achieving </a:t>
            </a:r>
            <a:r>
              <a:rPr lang="en-US" sz="2400" dirty="0">
                <a:solidFill>
                  <a:srgbClr val="00B050"/>
                </a:solidFill>
                <a:latin typeface="Bookman Old Style" panose="02050604050505020204" pitchFamily="18" charset="0"/>
              </a:rPr>
              <a:t>100% </a:t>
            </a:r>
            <a:r>
              <a:rPr lang="en-US" sz="2400" dirty="0">
                <a:latin typeface="Bookman Old Style" panose="02050604050505020204" pitchFamily="18" charset="0"/>
              </a:rPr>
              <a:t>Coverage:   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Unreachable code in RTL.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Reserved bits in the Register file.</a:t>
            </a:r>
          </a:p>
          <a:p>
            <a:pPr marL="864000" marR="0" lvl="1" indent="-324000" algn="l" defTabSz="914400" rtl="0" eaLnBrk="1" fontAlgn="auto" latinLnBrk="0" hangingPunct="1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lang="en-US" sz="2200" dirty="0">
                <a:latin typeface="Bookman Old Style" panose="02050604050505020204" pitchFamily="18" charset="0"/>
              </a:rPr>
              <a:t>Need for direct test cases.</a:t>
            </a:r>
          </a:p>
        </p:txBody>
      </p:sp>
      <p:sp>
        <p:nvSpPr>
          <p:cNvPr id="4" name="PlaceHolder 4"/>
          <p:cNvSpPr txBox="1"/>
          <p:nvPr/>
        </p:nvSpPr>
        <p:spPr>
          <a:xfrm>
            <a:off x="1488025" y="4085769"/>
            <a:ext cx="3593388" cy="156933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-324000" algn="l" defTabSz="914400" rtl="0" eaLnBrk="1" fontAlgn="auto" latinLnBrk="0" hangingPunct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Tx/>
              <a:buFont typeface="Wingdings" charset="2"/>
              <a:buChar char=""/>
              <a:tabLst/>
              <a:defRPr/>
            </a:pPr>
            <a:r>
              <a:rPr lang="en-US" sz="2400" dirty="0">
                <a:latin typeface="Bookman Old Style" panose="02050604050505020204" pitchFamily="18" charset="0"/>
              </a:rPr>
              <a:t>Before Exclusion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5" name="PlaceHolder 4"/>
          <p:cNvSpPr txBox="1"/>
          <p:nvPr/>
        </p:nvSpPr>
        <p:spPr>
          <a:xfrm>
            <a:off x="6544843" y="4085769"/>
            <a:ext cx="3593388" cy="156933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-324000" algn="l" defTabSz="914400" rtl="0" eaLnBrk="1" fontAlgn="auto" latinLnBrk="0" hangingPunct="1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Tx/>
              <a:buFont typeface="Wingdings" charset="2"/>
              <a:buChar char=""/>
              <a:tabLst/>
              <a:defRPr/>
            </a:pPr>
            <a:r>
              <a:rPr lang="en-US" sz="2400" dirty="0">
                <a:latin typeface="Bookman Old Style" panose="02050604050505020204" pitchFamily="18" charset="0"/>
              </a:rPr>
              <a:t>After Exclusion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328" y="4756738"/>
            <a:ext cx="2079020" cy="100947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123" y="4710223"/>
            <a:ext cx="1957805" cy="110251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647A6-775A-2133-CA02-0BD484AC60FC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E943B-02CA-415A-8435-74E6CC15A1ED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7650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AF1FF"/>
            </a:gs>
            <a:gs pos="50000">
              <a:srgbClr val="4583FF"/>
            </a:gs>
            <a:gs pos="66000">
              <a:srgbClr val="0036A2">
                <a:alpha val="0"/>
              </a:srgbClr>
            </a:gs>
            <a:gs pos="100000">
              <a:srgbClr val="83AC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04" name="Group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04720" cy="6857640"/>
            <a:chOff x="0" y="0"/>
            <a:chExt cx="2304720" cy="6857640"/>
          </a:xfrm>
        </p:grpSpPr>
        <p:sp>
          <p:nvSpPr>
            <p:cNvPr id="1005" name="Rectangl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09600" y="468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6" name="Freeform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8600" y="217656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7" name="Freeform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3920" y="4021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8" name="Rectangl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4360" y="9360"/>
              <a:ext cx="28080" cy="44812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09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336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0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0440" y="936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1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0600" y="14400"/>
              <a:ext cx="375840" cy="1801440"/>
            </a:xfrm>
            <a:custGeom>
              <a:avLst/>
              <a:gdLst>
                <a:gd name="textAreaLeft" fmla="*/ 0 w 375840"/>
                <a:gd name="textAreaRight" fmla="*/ 376200 w 3758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2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00200" y="18018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3" name="Freeform 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0960" y="936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4" name="Freeform 5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43040" y="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5" name="Freeform 6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1420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6" name="Freeform 6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85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7" name="Freeform 6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43120" y="4680"/>
              <a:ext cx="418680" cy="522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2000"/>
                <a:gd name="textAreaBottom" fmla="*/ 522360 h 522000"/>
              </a:gdLst>
              <a:ahLst/>
              <a:cxnLst/>
              <a:rect l="textAreaLeft" t="textAreaTop" r="textAreaRight" b="textAreaBottom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8" name="Freeform 6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19320" y="488880"/>
              <a:ext cx="161640" cy="14724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19" name="Freeform 6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2560" y="4680"/>
              <a:ext cx="151920" cy="907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07560"/>
                <a:gd name="textAreaBottom" fmla="*/ 907920 h 907560"/>
              </a:gdLst>
              <a:ahLst/>
              <a:cxnLst/>
              <a:rect l="textAreaLeft" t="textAreaTop" r="textAreaRight" b="textAreaBottom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0" name="Freeform 6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688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1" name="Freeform 6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0640" y="15541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2" name="Freeform 6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8360" y="5622840"/>
              <a:ext cx="337680" cy="121572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1215720"/>
                <a:gd name="textAreaBottom" fmla="*/ 1216080 h 1215720"/>
              </a:gdLst>
              <a:ahLst/>
              <a:cxnLst/>
              <a:rect l="textAreaLeft" t="textAreaTop" r="textAreaRight" b="textAreaBottom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3" name="Freeform 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7640" y="5479920"/>
              <a:ext cx="156960" cy="1569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4" name="Freeform 6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9032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5" name="Freeform 7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897360"/>
              <a:ext cx="132840" cy="26640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6" name="Freeform 7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414972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7" name="Freeform 7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644480"/>
              <a:ext cx="132840" cy="2696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269640"/>
                <a:gd name="textAreaBottom" fmla="*/ 270000 h 269640"/>
              </a:gdLst>
              <a:ahLst/>
              <a:cxnLst/>
              <a:rect l="textAreaLeft" t="textAreaTop" r="textAreaRight" b="textAreaBottom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8" name="Freeform 7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600" y="14684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29" name="Freeform 7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5160" y="4680"/>
              <a:ext cx="309240" cy="155844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1558440"/>
                <a:gd name="textAreaBottom" fmla="*/ 1558800 h 1558440"/>
              </a:gdLst>
              <a:ahLst/>
              <a:cxnLst/>
              <a:rect l="textAreaLeft" t="textAreaTop" r="textAreaRight" b="textAreaBottom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0" name="Freeform 7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240" y="48816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1" name="Freeform 7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8240" y="5060880"/>
              <a:ext cx="304560" cy="177768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1777680"/>
                <a:gd name="textAreaBottom" fmla="*/ 1778040 h 1777680"/>
              </a:gdLst>
              <a:ahLst/>
              <a:cxnLst/>
              <a:rect l="textAreaLeft" t="textAreaTop" r="textAreaRight" b="textAreaBottom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2" name="Freeform 7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196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3" name="Rectangl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2960" y="6610320"/>
              <a:ext cx="23400" cy="24264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4" name="Freeform 7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320" y="643104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5" name="Freeform 7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5978520"/>
              <a:ext cx="190080" cy="46152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6" name="Freeform 8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4480" y="1801800"/>
              <a:ext cx="213840" cy="755280"/>
            </a:xfrm>
            <a:custGeom>
              <a:avLst/>
              <a:gdLst>
                <a:gd name="textAreaLeft" fmla="*/ 0 w 213840"/>
                <a:gd name="textAreaRight" fmla="*/ 214200 w 213840"/>
                <a:gd name="textAreaTop" fmla="*/ 0 h 755280"/>
                <a:gd name="textAreaBottom" fmla="*/ 755640 h 755280"/>
              </a:gdLst>
              <a:ahLst/>
              <a:cxnLst/>
              <a:rect l="textAreaLeft" t="textAreaTop" r="textAreaRight" b="textAreaBottom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7" name="Freeform 8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8160" y="2548080"/>
              <a:ext cx="166320" cy="15984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59840"/>
                <a:gd name="textAreaBottom" fmla="*/ 160200 h 159840"/>
              </a:gdLst>
              <a:ahLst/>
              <a:cxnLst/>
              <a:rect l="textAreaLeft" t="textAreaTop" r="textAreaRight" b="textAreaBottom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8" name="Freeform 8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5440" y="4680"/>
              <a:ext cx="637920" cy="40255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4025520"/>
                <a:gd name="textAreaBottom" fmla="*/ 4025880 h 4025520"/>
              </a:gdLst>
              <a:ahLst/>
              <a:cxnLst/>
              <a:rect l="textAreaLeft" t="textAreaTop" r="textAreaRight" b="textAreaBottom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39" name="Freeform 8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4000" y="1382760"/>
              <a:ext cx="142560" cy="47592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5920"/>
                <a:gd name="textAreaBottom" fmla="*/ 476280 h 475920"/>
              </a:gdLst>
              <a:ahLst/>
              <a:cxnLst/>
              <a:rect l="textAreaLeft" t="textAreaTop" r="textAreaRight" b="textAreaBottom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0" name="Freeform 8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0320" y="1849320"/>
              <a:ext cx="109080" cy="107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1" name="Freeform 8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81160" y="3417840"/>
              <a:ext cx="142560" cy="474480"/>
            </a:xfrm>
            <a:custGeom>
              <a:avLst/>
              <a:gdLst>
                <a:gd name="textAreaLeft" fmla="*/ 0 w 142560"/>
                <a:gd name="textAreaRight" fmla="*/ 142920 w 142560"/>
                <a:gd name="textAreaTop" fmla="*/ 0 h 474480"/>
                <a:gd name="textAreaBottom" fmla="*/ 474840 h 474480"/>
              </a:gdLst>
              <a:ahLst/>
              <a:cxnLst/>
              <a:rect l="textAreaLeft" t="textAreaTop" r="textAreaRight" b="textAreaBottom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2" name="Freeform 8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7960" y="38829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3" name="Freeform 8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80" y="2166840"/>
              <a:ext cx="114120" cy="4521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452160"/>
                <a:gd name="textAreaBottom" fmla="*/ 452520 h 452160"/>
              </a:gdLst>
              <a:ahLst/>
              <a:cxnLst/>
              <a:rect l="textAreaLeft" t="textAreaTop" r="textAreaRight" b="textAreaBottom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4" name="Freeform 8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560" y="2066760"/>
              <a:ext cx="109080" cy="10908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109080"/>
                <a:gd name="textAreaBottom" fmla="*/ 109440 h 109080"/>
              </a:gdLst>
              <a:ahLst/>
              <a:cxnLst/>
              <a:rect l="textAreaLeft" t="textAreaTop" r="textAreaRight" b="textAreaBottom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5" name="Rectangl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28680" y="4662360"/>
              <a:ext cx="23400" cy="218088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6" name="Freeform 8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19040" y="5041800"/>
              <a:ext cx="371160" cy="18014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7" name="Freeform 9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47680" y="4481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8" name="Freeform 9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000" y="3983040"/>
              <a:ext cx="347400" cy="286020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2860200"/>
                <a:gd name="textAreaBottom" fmla="*/ 2860560 h 2860200"/>
              </a:gdLst>
              <a:ahLst/>
              <a:cxnLst/>
              <a:rect l="textAreaLeft" t="textAreaTop" r="textAreaRight" b="textAreaBottom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49" name="Freeform 9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8640" y="380700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0" name="Freeform 9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23960" y="486720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1" name="Freeform 9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05080" y="5423040"/>
              <a:ext cx="371160" cy="142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1425240"/>
                <a:gd name="textAreaBottom" fmla="*/ 1425600 h 1425240"/>
              </a:gdLst>
              <a:ahLst/>
              <a:cxnLst/>
              <a:rect l="textAreaLeft" t="textAreaTop" r="textAreaRight" b="textAreaBottom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2" name="Freeform 9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666800" y="5945040"/>
              <a:ext cx="151920" cy="9126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912600"/>
                <a:gd name="textAreaBottom" fmla="*/ 912960 h 912600"/>
              </a:gdLst>
              <a:ahLst/>
              <a:cxnLst/>
              <a:rect l="textAreaLeft" t="textAreaTop" r="textAreaRight" b="textAreaBottom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3" name="Freeform 9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24664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4" name="Freeform 9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09640" y="57643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5" name="Freeform 9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66880" y="6330960"/>
              <a:ext cx="418680" cy="52668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6" name="Freeform 9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47760" y="6221520"/>
              <a:ext cx="156960" cy="14724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47240"/>
                <a:gd name="textAreaBottom" fmla="*/ 147600 h 147240"/>
              </a:gdLst>
              <a:ahLst/>
              <a:cxnLst/>
              <a:rect l="textAreaLeft" t="textAreaTop" r="textAreaRight" b="textAreaBottom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7" name="Freeform 10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4720" y="9360"/>
              <a:ext cx="232920" cy="5103360"/>
            </a:xfrm>
            <a:custGeom>
              <a:avLst/>
              <a:gdLst>
                <a:gd name="textAreaLeft" fmla="*/ 0 w 232920"/>
                <a:gd name="textAreaRight" fmla="*/ 233280 w 232920"/>
                <a:gd name="textAreaTop" fmla="*/ 0 h 5103360"/>
                <a:gd name="textAreaBottom" fmla="*/ 5103720 h 5103360"/>
              </a:gdLst>
              <a:ahLst/>
              <a:cxnLst/>
              <a:rect l="textAreaLeft" t="textAreaTop" r="textAreaRight" b="textAreaBottom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58" name="Freeform 10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240" y="5103720"/>
              <a:ext cx="185400" cy="18540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40AF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grpSp>
        <p:nvGrpSpPr>
          <p:cNvPr id="1059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30600"/>
            <a:ext cx="12191760" cy="6857640"/>
            <a:chOff x="0" y="0"/>
            <a:chExt cx="12191760" cy="6857640"/>
          </a:xfrm>
        </p:grpSpPr>
        <p:sp useBgFill="1">
          <p:nvSpPr>
            <p:cNvPr id="1060" name="Rectangl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pic>
          <p:nvPicPr>
            <p:cNvPr id="1061" name="Pictur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/>
            <p:nvPr/>
          </p:nvPicPr>
          <p:blipFill>
            <a:blip r:embed="rId4">
              <a:alphaModFix amt="30000"/>
            </a:blip>
            <a:stretch/>
          </p:blipFill>
          <p:spPr>
            <a:xfrm>
              <a:off x="0" y="0"/>
              <a:ext cx="12191760" cy="6857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62" name="Round Diagonal Corner 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2280" y="2235240"/>
            <a:ext cx="7026840" cy="2395800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pSp>
        <p:nvGrpSpPr>
          <p:cNvPr id="1063" name="Group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6240" y="2900160"/>
            <a:ext cx="10981800" cy="1211400"/>
            <a:chOff x="606240" y="2900160"/>
            <a:chExt cx="10981800" cy="1211400"/>
          </a:xfrm>
        </p:grpSpPr>
        <p:sp>
          <p:nvSpPr>
            <p:cNvPr id="1064" name="Freeform 10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9653400" y="3379320"/>
              <a:ext cx="417240" cy="512280"/>
            </a:xfrm>
            <a:custGeom>
              <a:avLst/>
              <a:gdLst>
                <a:gd name="textAreaLeft" fmla="*/ 0 w 417240"/>
                <a:gd name="textAreaRight" fmla="*/ 41760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5" name="Freeform 10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078200" y="3310920"/>
              <a:ext cx="156960" cy="15192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6" name="Freeform 10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1146680" y="3574440"/>
              <a:ext cx="188640" cy="19008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7" name="Freeform 10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V="1">
              <a:off x="10230480" y="3034800"/>
              <a:ext cx="304560" cy="154440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8" name="Freeform 10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034640" y="2562480"/>
              <a:ext cx="298080" cy="115380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69" name="Freeform 10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747440" y="3232440"/>
              <a:ext cx="156960" cy="155160"/>
            </a:xfrm>
            <a:custGeom>
              <a:avLst/>
              <a:gdLst>
                <a:gd name="textAreaLeft" fmla="*/ 0 w 156960"/>
                <a:gd name="textAreaRight" fmla="*/ 15732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0" name="Freeform 10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1399400" y="3095280"/>
              <a:ext cx="188640" cy="188640"/>
            </a:xfrm>
            <a:custGeom>
              <a:avLst/>
              <a:gdLst>
                <a:gd name="textAreaLeft" fmla="*/ 0 w 188640"/>
                <a:gd name="textAreaRight" fmla="*/ 18900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1" name="Freeform 10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10353960" y="2153160"/>
              <a:ext cx="307440" cy="180144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2" name="Freeform 1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849240" y="3308760"/>
              <a:ext cx="190080" cy="18864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3" name="Rectangl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9721440" y="328392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4" name="Freeform 1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2121840" y="3531960"/>
              <a:ext cx="417240" cy="512280"/>
            </a:xfrm>
            <a:custGeom>
              <a:avLst/>
              <a:gdLst>
                <a:gd name="textAreaLeft" fmla="*/ -360 w 417240"/>
                <a:gd name="textAreaRight" fmla="*/ 417240 w 417240"/>
                <a:gd name="textAreaTop" fmla="*/ -360 h 512280"/>
                <a:gd name="textAreaBottom" fmla="*/ 512280 h 512280"/>
              </a:gdLst>
              <a:ahLst/>
              <a:cxnLst/>
              <a:rect l="textAreaLeft" t="textAreaTop" r="textAreaRight" b="textAreaBottom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5" name="Freeform 1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958400" y="3463560"/>
              <a:ext cx="156960" cy="15192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360 h 151920"/>
                <a:gd name="textAreaBottom" fmla="*/ 152640 h 151920"/>
              </a:gdLst>
              <a:ahLst/>
              <a:cxnLst/>
              <a:rect l="textAreaLeft" t="textAreaTop" r="textAreaRight" b="textAreaBottom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6" name="Freeform 1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858240" y="3727080"/>
              <a:ext cx="188640" cy="19008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360 h 190080"/>
                <a:gd name="textAreaBottom" fmla="*/ 190800 h 19008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7" name="Freeform 1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 flipV="1">
              <a:off x="1658520" y="3187080"/>
              <a:ext cx="304560" cy="1544400"/>
            </a:xfrm>
            <a:custGeom>
              <a:avLst/>
              <a:gdLst>
                <a:gd name="textAreaLeft" fmla="*/ 360 w 304560"/>
                <a:gd name="textAreaRight" fmla="*/ 305280 w 304560"/>
                <a:gd name="textAreaTop" fmla="*/ 360 h 1544400"/>
                <a:gd name="textAreaBottom" fmla="*/ 1545120 h 1544400"/>
              </a:gdLst>
              <a:ahLst/>
              <a:cxnLst/>
              <a:rect l="textAreaLeft" t="textAreaTop" r="textAreaRight" b="textAreaBottom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8" name="Freeform 1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860120" y="2715120"/>
              <a:ext cx="298080" cy="1153800"/>
            </a:xfrm>
            <a:custGeom>
              <a:avLst/>
              <a:gdLst>
                <a:gd name="textAreaLeft" fmla="*/ 360 w 298080"/>
                <a:gd name="textAreaRight" fmla="*/ 298800 w 298080"/>
                <a:gd name="textAreaTop" fmla="*/ 0 h 1153800"/>
                <a:gd name="textAreaBottom" fmla="*/ 1154160 h 1153800"/>
              </a:gdLst>
              <a:ahLst/>
              <a:cxnLst/>
              <a:rect l="textAreaLeft" t="textAreaTop" r="textAreaRight" b="textAreaBottom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79" name="Freeform 1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288800" y="3385080"/>
              <a:ext cx="156960" cy="155160"/>
            </a:xfrm>
            <a:custGeom>
              <a:avLst/>
              <a:gdLst>
                <a:gd name="textAreaLeft" fmla="*/ 360 w 156960"/>
                <a:gd name="textAreaRight" fmla="*/ 157680 w 15696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0" name="Freeform 1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606240" y="3247920"/>
              <a:ext cx="188640" cy="188640"/>
            </a:xfrm>
            <a:custGeom>
              <a:avLst/>
              <a:gdLst>
                <a:gd name="textAreaLeft" fmla="*/ 360 w 188640"/>
                <a:gd name="textAreaRight" fmla="*/ 189360 w 18864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1" name="Freeform 1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1532520" y="2305440"/>
              <a:ext cx="307440" cy="1801440"/>
            </a:xfrm>
            <a:custGeom>
              <a:avLst/>
              <a:gdLst>
                <a:gd name="textAreaLeft" fmla="*/ 360 w 307440"/>
                <a:gd name="textAreaRight" fmla="*/ 308160 w 307440"/>
                <a:gd name="textAreaTop" fmla="*/ 0 h 1801440"/>
                <a:gd name="textAreaBottom" fmla="*/ 1801800 h 1801440"/>
              </a:gdLst>
              <a:ahLst/>
              <a:cxnLst/>
              <a:rect l="textAreaLeft" t="textAreaTop" r="textAreaRight" b="textAreaBottom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2" name="Freeform 1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154960" y="3461040"/>
              <a:ext cx="190080" cy="188640"/>
            </a:xfrm>
            <a:custGeom>
              <a:avLst/>
              <a:gdLst>
                <a:gd name="textAreaLeft" fmla="*/ 360 w 190080"/>
                <a:gd name="textAreaRight" fmla="*/ 190800 w 190080"/>
                <a:gd name="textAreaTop" fmla="*/ 0 h 188640"/>
                <a:gd name="textAreaBottom" fmla="*/ 189000 h 188640"/>
              </a:gdLst>
              <a:ahLst/>
              <a:cxnLst/>
              <a:rect l="textAreaLeft" t="textAreaTop" r="textAreaRight" b="textAreaBottom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  <p:sp>
          <p:nvSpPr>
            <p:cNvPr id="1083" name="Rectangl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 flipH="1">
              <a:off x="2449080" y="3436560"/>
              <a:ext cx="23400" cy="252000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 w="0">
              <a:noFill/>
            </a:ln>
            <a:effectLst>
              <a:outerShdw blurRad="50760" dist="37674" dir="2700000" algn="tl" rotWithShape="0">
                <a:srgbClr val="000000">
                  <a:alpha val="5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endParaRPr>
            </a:p>
          </p:txBody>
        </p:sp>
      </p:grpSp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2685240" y="2728440"/>
            <a:ext cx="6919560" cy="107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dirty="0">
                <a:latin typeface="Times New Roman"/>
              </a:rPr>
              <a:t>Future work</a:t>
            </a:r>
            <a:endParaRPr lang="en-US" sz="4000" b="0" u="none" strike="noStrike" cap="all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33477C-DA47-4BD2-E80F-E1BF5F43303B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E943B-02CA-415A-8435-74E6CC15A1ED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0484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1432268" y="561784"/>
            <a:ext cx="10560600" cy="68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US" sz="3600" b="0" u="none" strike="noStrike" cap="all" dirty="0">
                <a:solidFill>
                  <a:schemeClr val="bg2">
                    <a:lumMod val="50000"/>
                  </a:schemeClr>
                </a:solidFill>
                <a:effectLst/>
                <a:uFillTx/>
                <a:latin typeface="Baskerville Old Face" panose="02020602080505020303" pitchFamily="18" charset="0"/>
              </a:rPr>
              <a:t>Future Work</a:t>
            </a:r>
          </a:p>
        </p:txBody>
      </p:sp>
      <p:sp>
        <p:nvSpPr>
          <p:cNvPr id="3" name="PlaceHolder 4"/>
          <p:cNvSpPr txBox="1"/>
          <p:nvPr/>
        </p:nvSpPr>
        <p:spPr>
          <a:xfrm>
            <a:off x="1432268" y="1392866"/>
            <a:ext cx="5570960" cy="520995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lvl="0"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Implement direct test cases to achieve higher code coverage.</a:t>
            </a:r>
          </a:p>
          <a:p>
            <a:pPr indent="-324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"/>
            </a:pP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Back-to-Back (B2B) configuration: connecting two instances of the DUT/environment directly to each other.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42529" r="-1"/>
          <a:stretch/>
        </p:blipFill>
        <p:spPr>
          <a:xfrm>
            <a:off x="7591648" y="1934181"/>
            <a:ext cx="3382864" cy="31056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95457-A5CD-B7EA-D868-06EFFD0F649B}"/>
              </a:ext>
            </a:extLst>
          </p:cNvPr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7E943B-02CA-415A-8435-74E6CC15A1ED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624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50000">
              <a:schemeClr val="accent3">
                <a:lumMod val="45000"/>
                <a:lumOff val="55000"/>
              </a:schemeClr>
            </a:gs>
            <a:gs pos="66000">
              <a:schemeClr val="accent3">
                <a:alpha val="0"/>
                <a:lumMod val="84000"/>
                <a:lumOff val="16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pic>
          <p:nvPicPr>
            <p:cNvPr id="133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4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chemeClr val="accent1">
              <a:lumMod val="10000"/>
              <a:lumOff val="9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954A3-DCC4-4BD2-A464-B45BBF74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192" y="2567516"/>
            <a:ext cx="6919782" cy="1862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solidFill>
                  <a:schemeClr val="dk1"/>
                </a:solidFill>
                <a:latin typeface="Times New Roman"/>
              </a:rPr>
              <a:t>Thank you</a:t>
            </a:r>
            <a:br>
              <a:rPr lang="en-US" sz="4000" b="1" dirty="0">
                <a:solidFill>
                  <a:schemeClr val="dk1"/>
                </a:solidFill>
                <a:latin typeface="Times New Roman"/>
              </a:rPr>
            </a:br>
            <a:endParaRPr lang="en" sz="4000" b="1" dirty="0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ACC82-A548-4C9A-E3DD-8E1CB837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22372-27B5-495E-ACA8-BFA8F945A6A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463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3">
      <a:dk1>
        <a:sysClr val="windowText" lastClr="000000"/>
      </a:dk1>
      <a:lt1>
        <a:sysClr val="window" lastClr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1_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/>
        </a:gradFill>
        <a:blipFill rotWithShape="0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/>
        </a:gradFill>
        <a:blipFill rotWithShape="0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Circuit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0070C0"/>
      </a:lt2>
      <a:accent1>
        <a:srgbClr val="0C0C0C"/>
      </a:accent1>
      <a:accent2>
        <a:srgbClr val="002060"/>
      </a:accent2>
      <a:accent3>
        <a:srgbClr val="00206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8000"/>
                <a:lumMod val="110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04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100000">
              <a:schemeClr val="phClr">
                <a:shade val="74000"/>
                <a:lumMod val="100000"/>
              </a:schemeClr>
            </a:gs>
          </a:gsLst>
          <a:lin ang="5400000" scaled="0"/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50000"/>
              </a:schemeClr>
            </a:gs>
            <a:gs pos="100000">
              <a:schemeClr val="phClr">
                <a:shade val="92000"/>
                <a:lumMod val="68000"/>
              </a:schemeClr>
            </a:gs>
          </a:gsLst>
          <a:lin ang="5040000" scaled="0"/>
          <a:tileRect/>
        </a:gradFill>
        <a:blipFill rotWithShape="0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6842</TotalTime>
  <Words>1754</Words>
  <Application>Microsoft Office PowerPoint</Application>
  <PresentationFormat>Widescreen</PresentationFormat>
  <Paragraphs>589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60</vt:i4>
      </vt:variant>
    </vt:vector>
  </HeadingPairs>
  <TitlesOfParts>
    <vt:vector size="74" baseType="lpstr">
      <vt:lpstr>Aptos</vt:lpstr>
      <vt:lpstr>Arial</vt:lpstr>
      <vt:lpstr>Baskerville Old Face</vt:lpstr>
      <vt:lpstr>Bookman Old Style</vt:lpstr>
      <vt:lpstr>Libre Baskerville</vt:lpstr>
      <vt:lpstr>Monotype Corsiva</vt:lpstr>
      <vt:lpstr>Symbol</vt:lpstr>
      <vt:lpstr>Times New Roman</vt:lpstr>
      <vt:lpstr>Tw Cen MT</vt:lpstr>
      <vt:lpstr>Wingdings</vt:lpstr>
      <vt:lpstr>Circuit</vt:lpstr>
      <vt:lpstr>1_Circuit</vt:lpstr>
      <vt:lpstr>2_Circuit</vt:lpstr>
      <vt:lpstr>3_Circuit</vt:lpstr>
      <vt:lpstr>VERIFICATION OF Ethernet MAC LAYER</vt:lpstr>
      <vt:lpstr>Team members</vt:lpstr>
      <vt:lpstr>agenda</vt:lpstr>
      <vt:lpstr>INTRODUCTION TO ETHERNET Protocol </vt:lpstr>
      <vt:lpstr>Introduction to Ethernet</vt:lpstr>
      <vt:lpstr>Ethernet MAC IP </vt:lpstr>
      <vt:lpstr>Ethernet MAC IP</vt:lpstr>
      <vt:lpstr>Ethernet UVM Architecture</vt:lpstr>
      <vt:lpstr>Ethernet UVM Architecture </vt:lpstr>
      <vt:lpstr>Ethernet UVM Components</vt:lpstr>
      <vt:lpstr>Ethernet UVM Components</vt:lpstr>
      <vt:lpstr>Ethernet UVM Components</vt:lpstr>
      <vt:lpstr>PowerPoint Presentation</vt:lpstr>
      <vt:lpstr>Ethernet UVM Components</vt:lpstr>
      <vt:lpstr>Ethernet UVM Components</vt:lpstr>
      <vt:lpstr>Register Abstraction Layer (RAL) </vt:lpstr>
      <vt:lpstr>TX Operation</vt:lpstr>
      <vt:lpstr>Basic frame transmission</vt:lpstr>
      <vt:lpstr>Half Duplex</vt:lpstr>
      <vt:lpstr>TX Verification</vt:lpstr>
      <vt:lpstr>Verification Plan</vt:lpstr>
      <vt:lpstr>Verification Architecture</vt:lpstr>
      <vt:lpstr>TX Scoreboard</vt:lpstr>
      <vt:lpstr>Bugs &amp; Functional Coverage</vt:lpstr>
      <vt:lpstr>RX Operation</vt:lpstr>
      <vt:lpstr>Basic Frame Reception</vt:lpstr>
      <vt:lpstr>rX Verification</vt:lpstr>
      <vt:lpstr>PowerPoint Presentation</vt:lpstr>
      <vt:lpstr>PowerPoint Presentation</vt:lpstr>
      <vt:lpstr>PowerPoint Presentation</vt:lpstr>
      <vt:lpstr>RX ARCHITECTURE</vt:lpstr>
      <vt:lpstr>RX ARCHITECTURE</vt:lpstr>
      <vt:lpstr>RX ARCHITECTURE</vt:lpstr>
      <vt:lpstr>RX ARCHITECTURE</vt:lpstr>
      <vt:lpstr>RX ARCHITECTURE</vt:lpstr>
      <vt:lpstr>PowerPoint Presentation</vt:lpstr>
      <vt:lpstr>PowerPoint Presentation</vt:lpstr>
      <vt:lpstr>PowerPoint Presentation</vt:lpstr>
      <vt:lpstr>BUG</vt:lpstr>
      <vt:lpstr>BUG</vt:lpstr>
      <vt:lpstr>Functional Coverage</vt:lpstr>
      <vt:lpstr>Control Verification</vt:lpstr>
      <vt:lpstr>Verification Plan</vt:lpstr>
      <vt:lpstr>PowerPoint Presentation</vt:lpstr>
      <vt:lpstr>PowerPoint Presentation</vt:lpstr>
      <vt:lpstr>PowerPoint Presentation</vt:lpstr>
      <vt:lpstr>PowerPoint Presentation</vt:lpstr>
      <vt:lpstr>BUGS</vt:lpstr>
      <vt:lpstr>MII Operation</vt:lpstr>
      <vt:lpstr>Scope &amp; Objective</vt:lpstr>
      <vt:lpstr>MII Verification</vt:lpstr>
      <vt:lpstr>TestbencH Architecture</vt:lpstr>
      <vt:lpstr>Test Suite Overview</vt:lpstr>
      <vt:lpstr>Functional Coverage Results</vt:lpstr>
      <vt:lpstr>RTL Bugs</vt:lpstr>
      <vt:lpstr>CODE COVERAGE</vt:lpstr>
      <vt:lpstr>Code Coverage</vt:lpstr>
      <vt:lpstr>Future work</vt:lpstr>
      <vt:lpstr>Future Work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Passant Kadry</dc:creator>
  <cp:lastModifiedBy>Munir Essam</cp:lastModifiedBy>
  <cp:revision>180</cp:revision>
  <dcterms:created xsi:type="dcterms:W3CDTF">2024-11-05T21:37:31Z</dcterms:created>
  <dcterms:modified xsi:type="dcterms:W3CDTF">2026-08-11T20:52:09Z</dcterms:modified>
</cp:coreProperties>
</file>