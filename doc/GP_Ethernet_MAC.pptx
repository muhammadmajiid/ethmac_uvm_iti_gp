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9" r:id="rId2"/>
    <p:sldId id="309" r:id="rId3"/>
    <p:sldId id="259" r:id="rId4"/>
    <p:sldId id="285" r:id="rId5"/>
    <p:sldId id="310" r:id="rId6"/>
    <p:sldId id="277" r:id="rId7"/>
    <p:sldId id="292" r:id="rId8"/>
    <p:sldId id="311" r:id="rId9"/>
    <p:sldId id="298" r:id="rId10"/>
    <p:sldId id="303" r:id="rId11"/>
    <p:sldId id="299" r:id="rId12"/>
    <p:sldId id="300" r:id="rId13"/>
    <p:sldId id="301" r:id="rId14"/>
    <p:sldId id="304" r:id="rId15"/>
    <p:sldId id="302" r:id="rId16"/>
    <p:sldId id="305" r:id="rId17"/>
    <p:sldId id="306" r:id="rId18"/>
    <p:sldId id="307" r:id="rId19"/>
    <p:sldId id="312" r:id="rId20"/>
    <p:sldId id="278" r:id="rId21"/>
    <p:sldId id="286" r:id="rId22"/>
    <p:sldId id="294" r:id="rId23"/>
    <p:sldId id="295" r:id="rId24"/>
    <p:sldId id="313" r:id="rId25"/>
    <p:sldId id="279" r:id="rId26"/>
    <p:sldId id="284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87648" autoAdjust="0"/>
  </p:normalViewPr>
  <p:slideViewPr>
    <p:cSldViewPr snapToGrid="0">
      <p:cViewPr>
        <p:scale>
          <a:sx n="84" d="100"/>
          <a:sy n="84" d="100"/>
        </p:scale>
        <p:origin x="-643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160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97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321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651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004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5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395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99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422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1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544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985996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78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49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095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9238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64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CA6B85-F587-4A68-BBC1-17614D6BE0C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822372-27B5-495E-ACA8-BFA8F945A6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062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A4AB5C8-405A-48D6-972C-52AD239FF6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657" y="2139401"/>
            <a:ext cx="9077714" cy="2387600"/>
          </a:xfrm>
        </p:spPr>
        <p:txBody>
          <a:bodyPr>
            <a:normAutofit/>
          </a:bodyPr>
          <a:lstStyle/>
          <a:p>
            <a:r>
              <a:rPr lang="en-US" sz="7200" dirty="0" smtClean="0"/>
              <a:t>VERIFICATION OF Ethernet MAC LAYER</a:t>
            </a:r>
            <a:endParaRPr lang="en-US" sz="7200" dirty="0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032194" y="4917655"/>
            <a:ext cx="8791575" cy="1655762"/>
          </a:xfrm>
        </p:spPr>
        <p:txBody>
          <a:bodyPr>
            <a:normAutofit/>
          </a:bodyPr>
          <a:lstStyle/>
          <a:p>
            <a:r>
              <a:rPr lang="en-US" sz="2800" dirty="0"/>
              <a:t>Graduation Project Final </a:t>
            </a:r>
            <a:r>
              <a:rPr lang="en-US" sz="2800" dirty="0" smtClean="0"/>
              <a:t>Discussion</a:t>
            </a:r>
          </a:p>
          <a:p>
            <a:endParaRPr lang="en-US" sz="28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877" y="278342"/>
            <a:ext cx="1148832" cy="173271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47" y="278342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208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0000">
              <a:schemeClr val="accent3">
                <a:lumMod val="45000"/>
                <a:lumOff val="55000"/>
              </a:schemeClr>
            </a:gs>
            <a:gs pos="66000">
              <a:schemeClr val="accent3">
                <a:alpha val="0"/>
                <a:lumMod val="84000"/>
                <a:lumOff val="16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2">
            <a:extLst>
              <a:ext uri="{FF2B5EF4-FFF2-40B4-BE49-F238E27FC236}">
                <a16:creationId xmlns="" xmlns:a16="http://schemas.microsoft.com/office/drawing/2014/main" id="{9ACD3AF8-B16E-4174-8C1A-41F683C4AF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1" name="Group 130">
            <a:extLst>
              <a:ext uri="{FF2B5EF4-FFF2-40B4-BE49-F238E27FC236}">
                <a16:creationId xmlns="" xmlns:a16="http://schemas.microsoft.com/office/drawing/2014/main" id="{FF5EAD09-B81D-415F-8BCF-73C81AE05F2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" name="Rectangle 5">
              <a:extLst>
                <a:ext uri="{FF2B5EF4-FFF2-40B4-BE49-F238E27FC236}">
                  <a16:creationId xmlns="" xmlns:a16="http://schemas.microsoft.com/office/drawing/2014/main" id="{CFB79010-8ED4-49EF-AFD2-F4D8C80B69B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1" name="Freeform 6">
              <a:extLst>
                <a:ext uri="{FF2B5EF4-FFF2-40B4-BE49-F238E27FC236}">
                  <a16:creationId xmlns="" xmlns:a16="http://schemas.microsoft.com/office/drawing/2014/main" id="{4649B869-006E-42B5-9DDC-21049B130E0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2" name="Freeform 7">
              <a:extLst>
                <a:ext uri="{FF2B5EF4-FFF2-40B4-BE49-F238E27FC236}">
                  <a16:creationId xmlns="" xmlns:a16="http://schemas.microsoft.com/office/drawing/2014/main" id="{443096BD-333F-48B6-8220-D1F9793E40A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3" name="Rectangle 8">
              <a:extLst>
                <a:ext uri="{FF2B5EF4-FFF2-40B4-BE49-F238E27FC236}">
                  <a16:creationId xmlns="" xmlns:a16="http://schemas.microsoft.com/office/drawing/2014/main" id="{1A45BB9A-7E84-4B9B-923A-270A97F8524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4" name="Freeform 9">
              <a:extLst>
                <a:ext uri="{FF2B5EF4-FFF2-40B4-BE49-F238E27FC236}">
                  <a16:creationId xmlns="" xmlns:a16="http://schemas.microsoft.com/office/drawing/2014/main" id="{D7D7C768-2F76-4DE2-A807-1B9FFF816C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5" name="Freeform 10">
              <a:extLst>
                <a:ext uri="{FF2B5EF4-FFF2-40B4-BE49-F238E27FC236}">
                  <a16:creationId xmlns="" xmlns:a16="http://schemas.microsoft.com/office/drawing/2014/main" id="{1870B32E-EE42-470E-B543-CA55AEC8CA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6" name="Freeform 11">
              <a:extLst>
                <a:ext uri="{FF2B5EF4-FFF2-40B4-BE49-F238E27FC236}">
                  <a16:creationId xmlns="" xmlns:a16="http://schemas.microsoft.com/office/drawing/2014/main" id="{EEF09120-11AA-4DB5-98A8-EC4923002C6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7" name="Freeform 12">
              <a:extLst>
                <a:ext uri="{FF2B5EF4-FFF2-40B4-BE49-F238E27FC236}">
                  <a16:creationId xmlns="" xmlns:a16="http://schemas.microsoft.com/office/drawing/2014/main" id="{39CC463D-589C-461C-A234-0460EB06B88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8" name="Freeform 13">
              <a:extLst>
                <a:ext uri="{FF2B5EF4-FFF2-40B4-BE49-F238E27FC236}">
                  <a16:creationId xmlns="" xmlns:a16="http://schemas.microsoft.com/office/drawing/2014/main" id="{B6516153-269A-421E-A021-CB3F3C5E1DA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9" name="Freeform 14">
              <a:extLst>
                <a:ext uri="{FF2B5EF4-FFF2-40B4-BE49-F238E27FC236}">
                  <a16:creationId xmlns="" xmlns:a16="http://schemas.microsoft.com/office/drawing/2014/main" id="{45E14300-6C4A-4F77-915F-F3B25B0237B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0" name="Freeform 15">
              <a:extLst>
                <a:ext uri="{FF2B5EF4-FFF2-40B4-BE49-F238E27FC236}">
                  <a16:creationId xmlns="" xmlns:a16="http://schemas.microsoft.com/office/drawing/2014/main" id="{993E312A-E6A6-4B52-ADE6-618ADC89BA6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1" name="Freeform 16">
              <a:extLst>
                <a:ext uri="{FF2B5EF4-FFF2-40B4-BE49-F238E27FC236}">
                  <a16:creationId xmlns="" xmlns:a16="http://schemas.microsoft.com/office/drawing/2014/main" id="{2F0F3026-2480-472B-8C52-36812C81EF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2" name="Freeform 17">
              <a:extLst>
                <a:ext uri="{FF2B5EF4-FFF2-40B4-BE49-F238E27FC236}">
                  <a16:creationId xmlns="" xmlns:a16="http://schemas.microsoft.com/office/drawing/2014/main" id="{34E1C992-559D-4827-9F30-31A3CA7A2B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3" name="Freeform 18">
              <a:extLst>
                <a:ext uri="{FF2B5EF4-FFF2-40B4-BE49-F238E27FC236}">
                  <a16:creationId xmlns="" xmlns:a16="http://schemas.microsoft.com/office/drawing/2014/main" id="{D9F2FB98-F443-498F-AAD9-69458256813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4" name="Freeform 19">
              <a:extLst>
                <a:ext uri="{FF2B5EF4-FFF2-40B4-BE49-F238E27FC236}">
                  <a16:creationId xmlns="" xmlns:a16="http://schemas.microsoft.com/office/drawing/2014/main" id="{75DBF6EC-ED50-43E4-8A8B-64CE86A880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="" xmlns:a16="http://schemas.microsoft.com/office/drawing/2014/main" id="{FD854F40-AC43-4F21-9C62-2CE35CFD2B1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6" name="Freeform 21">
              <a:extLst>
                <a:ext uri="{FF2B5EF4-FFF2-40B4-BE49-F238E27FC236}">
                  <a16:creationId xmlns="" xmlns:a16="http://schemas.microsoft.com/office/drawing/2014/main" id="{62CCB560-494A-4F74-9DE4-068806A893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7" name="Freeform 22">
              <a:extLst>
                <a:ext uri="{FF2B5EF4-FFF2-40B4-BE49-F238E27FC236}">
                  <a16:creationId xmlns="" xmlns:a16="http://schemas.microsoft.com/office/drawing/2014/main" id="{6F9A05F2-B5D2-4D8A-9A78-14E45C13FEC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8" name="Freeform 23">
              <a:extLst>
                <a:ext uri="{FF2B5EF4-FFF2-40B4-BE49-F238E27FC236}">
                  <a16:creationId xmlns="" xmlns:a16="http://schemas.microsoft.com/office/drawing/2014/main" id="{A6373189-19BB-4BEC-84A3-432253E0580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9" name="Freeform 24">
              <a:extLst>
                <a:ext uri="{FF2B5EF4-FFF2-40B4-BE49-F238E27FC236}">
                  <a16:creationId xmlns="" xmlns:a16="http://schemas.microsoft.com/office/drawing/2014/main" id="{71AB3122-947A-44DB-B190-A2601C6C95C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0" name="Freeform 25">
              <a:extLst>
                <a:ext uri="{FF2B5EF4-FFF2-40B4-BE49-F238E27FC236}">
                  <a16:creationId xmlns="" xmlns:a16="http://schemas.microsoft.com/office/drawing/2014/main" id="{74B4109D-3AFC-4D44-87B1-0CDED3E638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1" name="Freeform 26">
              <a:extLst>
                <a:ext uri="{FF2B5EF4-FFF2-40B4-BE49-F238E27FC236}">
                  <a16:creationId xmlns="" xmlns:a16="http://schemas.microsoft.com/office/drawing/2014/main" id="{44AAD39F-F7C9-4D00-95E0-0465B4E8588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2" name="Freeform 27">
              <a:extLst>
                <a:ext uri="{FF2B5EF4-FFF2-40B4-BE49-F238E27FC236}">
                  <a16:creationId xmlns="" xmlns:a16="http://schemas.microsoft.com/office/drawing/2014/main" id="{C1DCAB8D-6EF6-4A84-8D0C-AA9226DEC90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3" name="Freeform 28">
              <a:extLst>
                <a:ext uri="{FF2B5EF4-FFF2-40B4-BE49-F238E27FC236}">
                  <a16:creationId xmlns="" xmlns:a16="http://schemas.microsoft.com/office/drawing/2014/main" id="{C407F97F-83CF-4703-B9E0-6335530E32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4" name="Freeform 29">
              <a:extLst>
                <a:ext uri="{FF2B5EF4-FFF2-40B4-BE49-F238E27FC236}">
                  <a16:creationId xmlns="" xmlns:a16="http://schemas.microsoft.com/office/drawing/2014/main" id="{0D8D2363-5D84-4CFF-89AA-3C93C859DBB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5" name="Freeform 30">
              <a:extLst>
                <a:ext uri="{FF2B5EF4-FFF2-40B4-BE49-F238E27FC236}">
                  <a16:creationId xmlns="" xmlns:a16="http://schemas.microsoft.com/office/drawing/2014/main" id="{0435A35C-AC99-4E12-8CB0-9C640DAA94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6" name="Freeform 31">
              <a:extLst>
                <a:ext uri="{FF2B5EF4-FFF2-40B4-BE49-F238E27FC236}">
                  <a16:creationId xmlns="" xmlns:a16="http://schemas.microsoft.com/office/drawing/2014/main" id="{F20392CF-2256-4527-836B-2E6F88596EC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7" name="Freeform 32">
              <a:extLst>
                <a:ext uri="{FF2B5EF4-FFF2-40B4-BE49-F238E27FC236}">
                  <a16:creationId xmlns="" xmlns:a16="http://schemas.microsoft.com/office/drawing/2014/main" id="{C52C3AD3-122C-4010-9C55-B0247F8CCAB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8" name="Rectangle 33">
              <a:extLst>
                <a:ext uri="{FF2B5EF4-FFF2-40B4-BE49-F238E27FC236}">
                  <a16:creationId xmlns="" xmlns:a16="http://schemas.microsoft.com/office/drawing/2014/main" id="{EFCB53ED-09C0-4AD7-9BBC-366833D5FE0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9" name="Freeform 34">
              <a:extLst>
                <a:ext uri="{FF2B5EF4-FFF2-40B4-BE49-F238E27FC236}">
                  <a16:creationId xmlns="" xmlns:a16="http://schemas.microsoft.com/office/drawing/2014/main" id="{6F309F52-BFCF-47D9-8089-BC049540DB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0" name="Freeform 35">
              <a:extLst>
                <a:ext uri="{FF2B5EF4-FFF2-40B4-BE49-F238E27FC236}">
                  <a16:creationId xmlns="" xmlns:a16="http://schemas.microsoft.com/office/drawing/2014/main" id="{5F9AE85F-C7AA-4761-B468-2E100829BC5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1" name="Freeform 36">
              <a:extLst>
                <a:ext uri="{FF2B5EF4-FFF2-40B4-BE49-F238E27FC236}">
                  <a16:creationId xmlns="" xmlns:a16="http://schemas.microsoft.com/office/drawing/2014/main" id="{2C81C778-91E5-4AE9-AACB-8566E7A28B4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2" name="Freeform 37">
              <a:extLst>
                <a:ext uri="{FF2B5EF4-FFF2-40B4-BE49-F238E27FC236}">
                  <a16:creationId xmlns="" xmlns:a16="http://schemas.microsoft.com/office/drawing/2014/main" id="{6C56E0B4-58A0-4B2B-BD56-54121BB8DB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3" name="Freeform 38">
              <a:extLst>
                <a:ext uri="{FF2B5EF4-FFF2-40B4-BE49-F238E27FC236}">
                  <a16:creationId xmlns="" xmlns:a16="http://schemas.microsoft.com/office/drawing/2014/main" id="{88A29CFE-13A6-4509-946F-5C074F856EE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4" name="Freeform 39">
              <a:extLst>
                <a:ext uri="{FF2B5EF4-FFF2-40B4-BE49-F238E27FC236}">
                  <a16:creationId xmlns="" xmlns:a16="http://schemas.microsoft.com/office/drawing/2014/main" id="{00235A0A-018B-4499-AC16-AF83457BF43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5" name="Freeform 40">
              <a:extLst>
                <a:ext uri="{FF2B5EF4-FFF2-40B4-BE49-F238E27FC236}">
                  <a16:creationId xmlns="" xmlns:a16="http://schemas.microsoft.com/office/drawing/2014/main" id="{861DF9B7-50DC-4EBE-8B23-97FE92DBBB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6" name="Freeform 41">
              <a:extLst>
                <a:ext uri="{FF2B5EF4-FFF2-40B4-BE49-F238E27FC236}">
                  <a16:creationId xmlns="" xmlns:a16="http://schemas.microsoft.com/office/drawing/2014/main" id="{69673907-73D7-4729-A911-9BD078EC2EE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7" name="Freeform 42">
              <a:extLst>
                <a:ext uri="{FF2B5EF4-FFF2-40B4-BE49-F238E27FC236}">
                  <a16:creationId xmlns="" xmlns:a16="http://schemas.microsoft.com/office/drawing/2014/main" id="{4DC844D3-8053-4EE7-A286-50157B6FD86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8" name="Freeform 43">
              <a:extLst>
                <a:ext uri="{FF2B5EF4-FFF2-40B4-BE49-F238E27FC236}">
                  <a16:creationId xmlns="" xmlns:a16="http://schemas.microsoft.com/office/drawing/2014/main" id="{D67575A0-A45A-4773-874C-16370E3670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9" name="Freeform 44">
              <a:extLst>
                <a:ext uri="{FF2B5EF4-FFF2-40B4-BE49-F238E27FC236}">
                  <a16:creationId xmlns="" xmlns:a16="http://schemas.microsoft.com/office/drawing/2014/main" id="{4327252B-B62B-4DE0-A924-B7F6E40AD96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0" name="Rectangle 45">
              <a:extLst>
                <a:ext uri="{FF2B5EF4-FFF2-40B4-BE49-F238E27FC236}">
                  <a16:creationId xmlns="" xmlns:a16="http://schemas.microsoft.com/office/drawing/2014/main" id="{778BC6A7-AC19-497B-A7C6-E447B2EBDAB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1" name="Freeform 46">
              <a:extLst>
                <a:ext uri="{FF2B5EF4-FFF2-40B4-BE49-F238E27FC236}">
                  <a16:creationId xmlns="" xmlns:a16="http://schemas.microsoft.com/office/drawing/2014/main" id="{4E79A87B-BF1F-437A-9FED-BE93025E502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2" name="Freeform 47">
              <a:extLst>
                <a:ext uri="{FF2B5EF4-FFF2-40B4-BE49-F238E27FC236}">
                  <a16:creationId xmlns="" xmlns:a16="http://schemas.microsoft.com/office/drawing/2014/main" id="{DFAAF3CC-B4E0-45C8-AC2D-EF0D6D823D1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3" name="Freeform 48">
              <a:extLst>
                <a:ext uri="{FF2B5EF4-FFF2-40B4-BE49-F238E27FC236}">
                  <a16:creationId xmlns="" xmlns:a16="http://schemas.microsoft.com/office/drawing/2014/main" id="{A5A12C87-1E4A-4664-B2F4-A1C8B656F9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4" name="Freeform 49">
              <a:extLst>
                <a:ext uri="{FF2B5EF4-FFF2-40B4-BE49-F238E27FC236}">
                  <a16:creationId xmlns="" xmlns:a16="http://schemas.microsoft.com/office/drawing/2014/main" id="{B3AF8230-4630-4505-ADDB-16A9B6B3772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5" name="Freeform 50">
              <a:extLst>
                <a:ext uri="{FF2B5EF4-FFF2-40B4-BE49-F238E27FC236}">
                  <a16:creationId xmlns="" xmlns:a16="http://schemas.microsoft.com/office/drawing/2014/main" id="{33F93F6D-724D-42F3-AF1D-3081EAB5D1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6" name="Freeform 51">
              <a:extLst>
                <a:ext uri="{FF2B5EF4-FFF2-40B4-BE49-F238E27FC236}">
                  <a16:creationId xmlns="" xmlns:a16="http://schemas.microsoft.com/office/drawing/2014/main" id="{F5DD7A8F-FB67-4E79-80DB-0FAF3A09894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7" name="Freeform 52">
              <a:extLst>
                <a:ext uri="{FF2B5EF4-FFF2-40B4-BE49-F238E27FC236}">
                  <a16:creationId xmlns="" xmlns:a16="http://schemas.microsoft.com/office/drawing/2014/main" id="{7B140A84-E89E-4A80-9DF8-7BCA45F908D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8" name="Freeform 53">
              <a:extLst>
                <a:ext uri="{FF2B5EF4-FFF2-40B4-BE49-F238E27FC236}">
                  <a16:creationId xmlns="" xmlns:a16="http://schemas.microsoft.com/office/drawing/2014/main" id="{279E1D6A-EFE2-44C6-A5BF-DFADF0DC91D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9" name="Freeform 54">
              <a:extLst>
                <a:ext uri="{FF2B5EF4-FFF2-40B4-BE49-F238E27FC236}">
                  <a16:creationId xmlns="" xmlns:a16="http://schemas.microsoft.com/office/drawing/2014/main" id="{C9FA2204-561F-4ABB-988C-03053820F1D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0" name="Freeform 55">
              <a:extLst>
                <a:ext uri="{FF2B5EF4-FFF2-40B4-BE49-F238E27FC236}">
                  <a16:creationId xmlns="" xmlns:a16="http://schemas.microsoft.com/office/drawing/2014/main" id="{8BD7D04E-AC0A-424F-BC40-28842DAFFAC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1" name="Freeform 56">
              <a:extLst>
                <a:ext uri="{FF2B5EF4-FFF2-40B4-BE49-F238E27FC236}">
                  <a16:creationId xmlns="" xmlns:a16="http://schemas.microsoft.com/office/drawing/2014/main" id="{32B616A2-FE09-47DD-B58C-12EE58B7CA5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2" name="Freeform 57">
              <a:extLst>
                <a:ext uri="{FF2B5EF4-FFF2-40B4-BE49-F238E27FC236}">
                  <a16:creationId xmlns="" xmlns:a16="http://schemas.microsoft.com/office/drawing/2014/main" id="{08C5EAF5-6064-484E-BA05-80D09D84EAB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3" name="Freeform 58">
              <a:extLst>
                <a:ext uri="{FF2B5EF4-FFF2-40B4-BE49-F238E27FC236}">
                  <a16:creationId xmlns="" xmlns:a16="http://schemas.microsoft.com/office/drawing/2014/main" id="{F11D90DF-D275-4725-884C-77E5E01D89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="" xmlns:a16="http://schemas.microsoft.com/office/drawing/2014/main" id="{9BE10567-6165-46A7-867D-4690A16B46D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66" name="Rectangle 65">
              <a:extLst>
                <a:ext uri="{FF2B5EF4-FFF2-40B4-BE49-F238E27FC236}">
                  <a16:creationId xmlns="" xmlns:a16="http://schemas.microsoft.com/office/drawing/2014/main" id="{0F4DB1F4-429C-4C85-85D7-C4D81996D3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pic>
          <p:nvPicPr>
            <p:cNvPr id="133" name="Picture 2">
              <a:extLst>
                <a:ext uri="{FF2B5EF4-FFF2-40B4-BE49-F238E27FC236}">
                  <a16:creationId xmlns="" xmlns:a16="http://schemas.microsoft.com/office/drawing/2014/main" id="{159C0DA6-71D9-4C96-A774-7FADF5E0A4C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PicPr>
          <p:blipFill>
            <a:blip r:embed="rId2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4" name="Round Diagonal Corner Rectangle 7">
            <a:extLst>
              <a:ext uri="{FF2B5EF4-FFF2-40B4-BE49-F238E27FC236}">
                <a16:creationId xmlns="" xmlns:a16="http://schemas.microsoft.com/office/drawing/2014/main" id="{4B24F6DB-F114-44A7-BB56-D401884E4E7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2582333" y="2235200"/>
            <a:ext cx="7027334" cy="2396067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grpSp>
        <p:nvGrpSpPr>
          <p:cNvPr id="135" name="Group 134">
            <a:extLst>
              <a:ext uri="{FF2B5EF4-FFF2-40B4-BE49-F238E27FC236}">
                <a16:creationId xmlns="" xmlns:a16="http://schemas.microsoft.com/office/drawing/2014/main" id="{4DB50ECD-225E-4F81-AF7B-706DD05F3B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605895" y="2900097"/>
            <a:ext cx="10982062" cy="1211524"/>
            <a:chOff x="605895" y="2900097"/>
            <a:chExt cx="10982062" cy="1211524"/>
          </a:xfrm>
          <a:effectLst/>
        </p:grpSpPr>
        <p:sp>
          <p:nvSpPr>
            <p:cNvPr id="72" name="Freeform 32">
              <a:extLst>
                <a:ext uri="{FF2B5EF4-FFF2-40B4-BE49-F238E27FC236}">
                  <a16:creationId xmlns="" xmlns:a16="http://schemas.microsoft.com/office/drawing/2014/main" id="{CBC3B006-1357-4969-BC3D-CDD91E492B4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9653587" y="33797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3" name="Freeform 33">
              <a:extLst>
                <a:ext uri="{FF2B5EF4-FFF2-40B4-BE49-F238E27FC236}">
                  <a16:creationId xmlns="" xmlns:a16="http://schemas.microsoft.com/office/drawing/2014/main" id="{0D6E4F1D-B331-41B5-90EF-2236C1EE15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078244" y="33107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4" name="Freeform 34">
              <a:extLst>
                <a:ext uri="{FF2B5EF4-FFF2-40B4-BE49-F238E27FC236}">
                  <a16:creationId xmlns="" xmlns:a16="http://schemas.microsoft.com/office/drawing/2014/main" id="{54A60014-21DF-44E5-9137-43357188501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1146631" y="35742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5" name="Freeform 37">
              <a:extLst>
                <a:ext uri="{FF2B5EF4-FFF2-40B4-BE49-F238E27FC236}">
                  <a16:creationId xmlns="" xmlns:a16="http://schemas.microsoft.com/office/drawing/2014/main" id="{40B768C0-B003-45F4-9A06-EA3509A90BD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230644" y="30345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6" name="Freeform 35">
              <a:extLst>
                <a:ext uri="{FF2B5EF4-FFF2-40B4-BE49-F238E27FC236}">
                  <a16:creationId xmlns="" xmlns:a16="http://schemas.microsoft.com/office/drawing/2014/main" id="{5E479182-2054-4AD9-823D-81CFAD7F2C7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034587" y="25627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7" name="Freeform 36">
              <a:extLst>
                <a:ext uri="{FF2B5EF4-FFF2-40B4-BE49-F238E27FC236}">
                  <a16:creationId xmlns="" xmlns:a16="http://schemas.microsoft.com/office/drawing/2014/main" id="{A7D912CF-756A-41F1-8BF1-5BA7D1BD052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747375" y="32326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8" name="Freeform 38">
              <a:extLst>
                <a:ext uri="{FF2B5EF4-FFF2-40B4-BE49-F238E27FC236}">
                  <a16:creationId xmlns="" xmlns:a16="http://schemas.microsoft.com/office/drawing/2014/main" id="{734B6F35-2160-44B1-AB00-F628C84B14F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1399044" y="30953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9" name="Freeform 39">
              <a:extLst>
                <a:ext uri="{FF2B5EF4-FFF2-40B4-BE49-F238E27FC236}">
                  <a16:creationId xmlns="" xmlns:a16="http://schemas.microsoft.com/office/drawing/2014/main" id="{D8657E76-4F63-44FE-86C5-54CA174FCB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353675" y="21531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0" name="Freeform 40">
              <a:extLst>
                <a:ext uri="{FF2B5EF4-FFF2-40B4-BE49-F238E27FC236}">
                  <a16:creationId xmlns="" xmlns:a16="http://schemas.microsoft.com/office/drawing/2014/main" id="{482CEB8C-90E5-4152-8B52-A2881B98A3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848850" y="33088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1" name="Rectangle 41">
              <a:extLst>
                <a:ext uri="{FF2B5EF4-FFF2-40B4-BE49-F238E27FC236}">
                  <a16:creationId xmlns="" xmlns:a16="http://schemas.microsoft.com/office/drawing/2014/main" id="{85010FC2-BC4C-4692-876D-7FE363BFC6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721056" y="32842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2" name="Freeform 32">
              <a:extLst>
                <a:ext uri="{FF2B5EF4-FFF2-40B4-BE49-F238E27FC236}">
                  <a16:creationId xmlns="" xmlns:a16="http://schemas.microsoft.com/office/drawing/2014/main" id="{714C1223-2B78-4715-9ACB-079A60D16D3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2122751" y="35321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3" name="Freeform 33">
              <a:extLst>
                <a:ext uri="{FF2B5EF4-FFF2-40B4-BE49-F238E27FC236}">
                  <a16:creationId xmlns="" xmlns:a16="http://schemas.microsoft.com/office/drawing/2014/main" id="{1D9109D3-C92A-410B-9B43-5F02B2D84EE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958445" y="34631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4" name="Freeform 34">
              <a:extLst>
                <a:ext uri="{FF2B5EF4-FFF2-40B4-BE49-F238E27FC236}">
                  <a16:creationId xmlns="" xmlns:a16="http://schemas.microsoft.com/office/drawing/2014/main" id="{EF5B327A-A1AE-42F3-815E-84F4AA2948C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858308" y="37266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5" name="Freeform 37">
              <a:extLst>
                <a:ext uri="{FF2B5EF4-FFF2-40B4-BE49-F238E27FC236}">
                  <a16:creationId xmlns="" xmlns:a16="http://schemas.microsoft.com/office/drawing/2014/main" id="{77738BDE-751F-4D4C-B4C4-C9DF3EA291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658407" y="31869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6" name="Freeform 35">
              <a:extLst>
                <a:ext uri="{FF2B5EF4-FFF2-40B4-BE49-F238E27FC236}">
                  <a16:creationId xmlns="" xmlns:a16="http://schemas.microsoft.com/office/drawing/2014/main" id="{9C8C4AD6-72BF-490C-963C-97C7FD7E7EA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860814" y="27151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7" name="Freeform 36">
              <a:extLst>
                <a:ext uri="{FF2B5EF4-FFF2-40B4-BE49-F238E27FC236}">
                  <a16:creationId xmlns="" xmlns:a16="http://schemas.microsoft.com/office/drawing/2014/main" id="{94990E31-5AA8-4502-A963-CE1B539DAC4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289314" y="33850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8" name="Freeform 38">
              <a:extLst>
                <a:ext uri="{FF2B5EF4-FFF2-40B4-BE49-F238E27FC236}">
                  <a16:creationId xmlns="" xmlns:a16="http://schemas.microsoft.com/office/drawing/2014/main" id="{9E703E9D-ED76-449C-A8C0-7A1E24B8B27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605895" y="32477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9" name="Freeform 39">
              <a:extLst>
                <a:ext uri="{FF2B5EF4-FFF2-40B4-BE49-F238E27FC236}">
                  <a16:creationId xmlns="" xmlns:a16="http://schemas.microsoft.com/office/drawing/2014/main" id="{C70A75E8-C815-4CCF-ABEE-83F19BFE051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532202" y="23055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0" name="Freeform 40">
              <a:extLst>
                <a:ext uri="{FF2B5EF4-FFF2-40B4-BE49-F238E27FC236}">
                  <a16:creationId xmlns="" xmlns:a16="http://schemas.microsoft.com/office/drawing/2014/main" id="{E15638E1-6A92-4D31-A034-853A65A754E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154501" y="34612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1" name="Rectangle 41">
              <a:extLst>
                <a:ext uri="{FF2B5EF4-FFF2-40B4-BE49-F238E27FC236}">
                  <a16:creationId xmlns="" xmlns:a16="http://schemas.microsoft.com/office/drawing/2014/main" id="{EA3E8D58-D52B-4300-8A50-5696430D1A6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448983" y="34366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0954A3-DCC4-4BD2-A464-B45BBF745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192" y="2567516"/>
            <a:ext cx="6919782" cy="186213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b="1" dirty="0">
                <a:latin typeface="Times New Roman"/>
                <a:cs typeface="Times New Roman"/>
              </a:rPr>
              <a:t>INTRODUCTION </a:t>
            </a:r>
            <a:r>
              <a:rPr lang="en-US" sz="4000" b="1" dirty="0" smtClean="0">
                <a:latin typeface="Times New Roman"/>
                <a:cs typeface="Times New Roman"/>
              </a:rPr>
              <a:t>TO </a:t>
            </a:r>
            <a:r>
              <a:rPr lang="en-US" sz="4000" b="1" dirty="0">
                <a:latin typeface="Times New Roman"/>
                <a:cs typeface="Times New Roman"/>
              </a:rPr>
              <a:t>ETHERNET Protocol</a:t>
            </a:r>
            <a:r>
              <a:rPr lang="en-US" sz="4000" dirty="0">
                <a:latin typeface="Times New Roman"/>
                <a:cs typeface="Times New Roman"/>
              </a:rPr>
              <a:t/>
            </a:r>
            <a:br>
              <a:rPr lang="en-US" sz="4000" dirty="0">
                <a:latin typeface="Times New Roman"/>
                <a:cs typeface="Times New Roman"/>
              </a:rPr>
            </a:br>
            <a:endParaRPr lang="en" sz="4000" b="1" dirty="0">
              <a:ln w="0"/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1507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2671" y="170648"/>
            <a:ext cx="10561060" cy="1478570"/>
          </a:xfrm>
        </p:spPr>
        <p:txBody>
          <a:bodyPr>
            <a:normAutofit/>
          </a:bodyPr>
          <a:lstStyle/>
          <a:p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Introduction to Ethernet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88066" y="1396256"/>
            <a:ext cx="10465869" cy="437705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Ethernet</a:t>
            </a:r>
            <a:r>
              <a:rPr lang="en-US" dirty="0" smtClean="0"/>
              <a:t> </a:t>
            </a:r>
            <a:r>
              <a:rPr lang="en-US" dirty="0"/>
              <a:t>is the most widely used wired </a:t>
            </a:r>
            <a:r>
              <a:rPr lang="en-US" b="1" dirty="0"/>
              <a:t>Local Area Network (LAN) </a:t>
            </a:r>
            <a:r>
              <a:rPr lang="en-US" dirty="0"/>
              <a:t>technology, standardized by </a:t>
            </a:r>
            <a:r>
              <a:rPr lang="en-US" b="1" dirty="0"/>
              <a:t>IEEE 802.3</a:t>
            </a:r>
            <a:r>
              <a:rPr lang="en-US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Key </a:t>
            </a:r>
            <a:r>
              <a:rPr lang="en-US" b="1" dirty="0" smtClean="0"/>
              <a:t>Features:</a:t>
            </a:r>
            <a:endParaRPr lang="en-US" dirty="0"/>
          </a:p>
          <a:p>
            <a:r>
              <a:rPr lang="en-US" dirty="0" smtClean="0"/>
              <a:t>Operates </a:t>
            </a:r>
            <a:r>
              <a:rPr lang="en-US" dirty="0"/>
              <a:t>at the </a:t>
            </a:r>
            <a:r>
              <a:rPr lang="en-US" b="1" dirty="0"/>
              <a:t>Physical (Layer 1)</a:t>
            </a:r>
            <a:r>
              <a:rPr lang="en-US" dirty="0"/>
              <a:t> and </a:t>
            </a:r>
            <a:r>
              <a:rPr lang="en-US" b="1" dirty="0"/>
              <a:t>Data Link (Layer 2)</a:t>
            </a:r>
            <a:r>
              <a:rPr lang="en-US" dirty="0"/>
              <a:t> of the OSI </a:t>
            </a:r>
            <a:r>
              <a:rPr lang="en-US" dirty="0" smtClean="0"/>
              <a:t>model.</a:t>
            </a:r>
          </a:p>
          <a:p>
            <a:r>
              <a:rPr lang="en-US" dirty="0" smtClean="0"/>
              <a:t>Supports </a:t>
            </a:r>
            <a:r>
              <a:rPr lang="en-US" dirty="0"/>
              <a:t>multiple data rates, including </a:t>
            </a:r>
            <a:r>
              <a:rPr lang="en-US" b="1" dirty="0" smtClean="0"/>
              <a:t>10 Mbps, 100 Mbps, 1 </a:t>
            </a:r>
            <a:r>
              <a:rPr lang="en-US" b="1" dirty="0" err="1" smtClean="0"/>
              <a:t>Gbps</a:t>
            </a:r>
            <a:r>
              <a:rPr lang="en-US" b="1" dirty="0" smtClean="0"/>
              <a:t>,</a:t>
            </a:r>
            <a:r>
              <a:rPr lang="en-US" dirty="0" smtClean="0"/>
              <a:t> and higher 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pic>
        <p:nvPicPr>
          <p:cNvPr id="52" name="Picture 5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671" y="4293609"/>
            <a:ext cx="4506092" cy="2452422"/>
          </a:xfrm>
          <a:prstGeom prst="rect">
            <a:avLst/>
          </a:prstGeom>
        </p:spPr>
      </p:pic>
      <p:pic>
        <p:nvPicPr>
          <p:cNvPr id="53" name="Picture 5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824" y="4300348"/>
            <a:ext cx="4338735" cy="2445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6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2060" y="226632"/>
            <a:ext cx="10561060" cy="1478570"/>
          </a:xfrm>
        </p:spPr>
        <p:txBody>
          <a:bodyPr>
            <a:normAutofit/>
          </a:bodyPr>
          <a:lstStyle/>
          <a:p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MAC layer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07374" y="1481267"/>
            <a:ext cx="10075973" cy="505016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 smtClean="0"/>
              <a:t>The </a:t>
            </a:r>
            <a:r>
              <a:rPr lang="en-US" b="1" dirty="0" smtClean="0"/>
              <a:t>Ethernet Media Access Control (MAC) layer</a:t>
            </a:r>
            <a:r>
              <a:rPr lang="en-US" dirty="0" smtClean="0"/>
              <a:t> is the lower sublayer of the </a:t>
            </a:r>
            <a:r>
              <a:rPr lang="en-US" b="1" dirty="0" smtClean="0"/>
              <a:t>Data Link Layer (Layer 2)</a:t>
            </a:r>
            <a:r>
              <a:rPr lang="en-US" dirty="0" smtClean="0"/>
              <a:t> in the OSI model. It provides the interface between higher-layer protocols (such as IP) and the physical Ethernet interface.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smtClean="0"/>
              <a:t>The MAC performs several functions:</a:t>
            </a:r>
          </a:p>
          <a:p>
            <a:pPr lvl="1"/>
            <a:r>
              <a:rPr lang="en-US" sz="2400" dirty="0"/>
              <a:t>Frame transmission and </a:t>
            </a:r>
            <a:r>
              <a:rPr lang="en-US" sz="2400" dirty="0" smtClean="0"/>
              <a:t>reception</a:t>
            </a:r>
            <a:endParaRPr lang="en-US" sz="2400" dirty="0"/>
          </a:p>
          <a:p>
            <a:pPr lvl="1"/>
            <a:r>
              <a:rPr lang="en-US" sz="2400" dirty="0"/>
              <a:t>Address filtering</a:t>
            </a:r>
            <a:endParaRPr lang="en-US" sz="2400" dirty="0" smtClean="0"/>
          </a:p>
          <a:p>
            <a:pPr lvl="1"/>
            <a:r>
              <a:rPr lang="en-US" sz="2400" dirty="0"/>
              <a:t>Error detection</a:t>
            </a:r>
            <a:endParaRPr lang="en-US" sz="2400" dirty="0" smtClean="0"/>
          </a:p>
          <a:p>
            <a:pPr lvl="1"/>
            <a:r>
              <a:rPr lang="en-US" sz="2400" dirty="0"/>
              <a:t>Flow </a:t>
            </a:r>
            <a:r>
              <a:rPr lang="en-US" sz="2400" dirty="0" smtClean="0"/>
              <a:t>control</a:t>
            </a:r>
          </a:p>
          <a:p>
            <a:pPr lvl="1"/>
            <a:r>
              <a:rPr lang="en-US" sz="2400" dirty="0"/>
              <a:t>Media access control</a:t>
            </a:r>
            <a:endParaRPr lang="en-US" sz="2400" dirty="0" smtClean="0"/>
          </a:p>
          <a:p>
            <a:pPr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238"/>
          <a:stretch/>
        </p:blipFill>
        <p:spPr>
          <a:xfrm>
            <a:off x="5598367" y="4266956"/>
            <a:ext cx="5271439" cy="2077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5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0000">
              <a:schemeClr val="accent3">
                <a:lumMod val="45000"/>
                <a:lumOff val="55000"/>
              </a:schemeClr>
            </a:gs>
            <a:gs pos="66000">
              <a:schemeClr val="accent3">
                <a:alpha val="0"/>
                <a:lumMod val="84000"/>
                <a:lumOff val="16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2">
            <a:extLst>
              <a:ext uri="{FF2B5EF4-FFF2-40B4-BE49-F238E27FC236}">
                <a16:creationId xmlns="" xmlns:a16="http://schemas.microsoft.com/office/drawing/2014/main" id="{9ACD3AF8-B16E-4174-8C1A-41F683C4AF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1" name="Group 130">
            <a:extLst>
              <a:ext uri="{FF2B5EF4-FFF2-40B4-BE49-F238E27FC236}">
                <a16:creationId xmlns="" xmlns:a16="http://schemas.microsoft.com/office/drawing/2014/main" id="{FF5EAD09-B81D-415F-8BCF-73C81AE05F2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" name="Rectangle 5">
              <a:extLst>
                <a:ext uri="{FF2B5EF4-FFF2-40B4-BE49-F238E27FC236}">
                  <a16:creationId xmlns="" xmlns:a16="http://schemas.microsoft.com/office/drawing/2014/main" id="{CFB79010-8ED4-49EF-AFD2-F4D8C80B69B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1" name="Freeform 6">
              <a:extLst>
                <a:ext uri="{FF2B5EF4-FFF2-40B4-BE49-F238E27FC236}">
                  <a16:creationId xmlns="" xmlns:a16="http://schemas.microsoft.com/office/drawing/2014/main" id="{4649B869-006E-42B5-9DDC-21049B130E0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2" name="Freeform 7">
              <a:extLst>
                <a:ext uri="{FF2B5EF4-FFF2-40B4-BE49-F238E27FC236}">
                  <a16:creationId xmlns="" xmlns:a16="http://schemas.microsoft.com/office/drawing/2014/main" id="{443096BD-333F-48B6-8220-D1F9793E40A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3" name="Rectangle 8">
              <a:extLst>
                <a:ext uri="{FF2B5EF4-FFF2-40B4-BE49-F238E27FC236}">
                  <a16:creationId xmlns="" xmlns:a16="http://schemas.microsoft.com/office/drawing/2014/main" id="{1A45BB9A-7E84-4B9B-923A-270A97F8524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4" name="Freeform 9">
              <a:extLst>
                <a:ext uri="{FF2B5EF4-FFF2-40B4-BE49-F238E27FC236}">
                  <a16:creationId xmlns="" xmlns:a16="http://schemas.microsoft.com/office/drawing/2014/main" id="{D7D7C768-2F76-4DE2-A807-1B9FFF816C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5" name="Freeform 10">
              <a:extLst>
                <a:ext uri="{FF2B5EF4-FFF2-40B4-BE49-F238E27FC236}">
                  <a16:creationId xmlns="" xmlns:a16="http://schemas.microsoft.com/office/drawing/2014/main" id="{1870B32E-EE42-470E-B543-CA55AEC8CA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6" name="Freeform 11">
              <a:extLst>
                <a:ext uri="{FF2B5EF4-FFF2-40B4-BE49-F238E27FC236}">
                  <a16:creationId xmlns="" xmlns:a16="http://schemas.microsoft.com/office/drawing/2014/main" id="{EEF09120-11AA-4DB5-98A8-EC4923002C6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7" name="Freeform 12">
              <a:extLst>
                <a:ext uri="{FF2B5EF4-FFF2-40B4-BE49-F238E27FC236}">
                  <a16:creationId xmlns="" xmlns:a16="http://schemas.microsoft.com/office/drawing/2014/main" id="{39CC463D-589C-461C-A234-0460EB06B88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8" name="Freeform 13">
              <a:extLst>
                <a:ext uri="{FF2B5EF4-FFF2-40B4-BE49-F238E27FC236}">
                  <a16:creationId xmlns="" xmlns:a16="http://schemas.microsoft.com/office/drawing/2014/main" id="{B6516153-269A-421E-A021-CB3F3C5E1DA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9" name="Freeform 14">
              <a:extLst>
                <a:ext uri="{FF2B5EF4-FFF2-40B4-BE49-F238E27FC236}">
                  <a16:creationId xmlns="" xmlns:a16="http://schemas.microsoft.com/office/drawing/2014/main" id="{45E14300-6C4A-4F77-915F-F3B25B0237B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0" name="Freeform 15">
              <a:extLst>
                <a:ext uri="{FF2B5EF4-FFF2-40B4-BE49-F238E27FC236}">
                  <a16:creationId xmlns="" xmlns:a16="http://schemas.microsoft.com/office/drawing/2014/main" id="{993E312A-E6A6-4B52-ADE6-618ADC89BA6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1" name="Freeform 16">
              <a:extLst>
                <a:ext uri="{FF2B5EF4-FFF2-40B4-BE49-F238E27FC236}">
                  <a16:creationId xmlns="" xmlns:a16="http://schemas.microsoft.com/office/drawing/2014/main" id="{2F0F3026-2480-472B-8C52-36812C81EF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2" name="Freeform 17">
              <a:extLst>
                <a:ext uri="{FF2B5EF4-FFF2-40B4-BE49-F238E27FC236}">
                  <a16:creationId xmlns="" xmlns:a16="http://schemas.microsoft.com/office/drawing/2014/main" id="{34E1C992-559D-4827-9F30-31A3CA7A2B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3" name="Freeform 18">
              <a:extLst>
                <a:ext uri="{FF2B5EF4-FFF2-40B4-BE49-F238E27FC236}">
                  <a16:creationId xmlns="" xmlns:a16="http://schemas.microsoft.com/office/drawing/2014/main" id="{D9F2FB98-F443-498F-AAD9-69458256813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4" name="Freeform 19">
              <a:extLst>
                <a:ext uri="{FF2B5EF4-FFF2-40B4-BE49-F238E27FC236}">
                  <a16:creationId xmlns="" xmlns:a16="http://schemas.microsoft.com/office/drawing/2014/main" id="{75DBF6EC-ED50-43E4-8A8B-64CE86A880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="" xmlns:a16="http://schemas.microsoft.com/office/drawing/2014/main" id="{FD854F40-AC43-4F21-9C62-2CE35CFD2B1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6" name="Freeform 21">
              <a:extLst>
                <a:ext uri="{FF2B5EF4-FFF2-40B4-BE49-F238E27FC236}">
                  <a16:creationId xmlns="" xmlns:a16="http://schemas.microsoft.com/office/drawing/2014/main" id="{62CCB560-494A-4F74-9DE4-068806A893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7" name="Freeform 22">
              <a:extLst>
                <a:ext uri="{FF2B5EF4-FFF2-40B4-BE49-F238E27FC236}">
                  <a16:creationId xmlns="" xmlns:a16="http://schemas.microsoft.com/office/drawing/2014/main" id="{6F9A05F2-B5D2-4D8A-9A78-14E45C13FEC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8" name="Freeform 23">
              <a:extLst>
                <a:ext uri="{FF2B5EF4-FFF2-40B4-BE49-F238E27FC236}">
                  <a16:creationId xmlns="" xmlns:a16="http://schemas.microsoft.com/office/drawing/2014/main" id="{A6373189-19BB-4BEC-84A3-432253E0580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9" name="Freeform 24">
              <a:extLst>
                <a:ext uri="{FF2B5EF4-FFF2-40B4-BE49-F238E27FC236}">
                  <a16:creationId xmlns="" xmlns:a16="http://schemas.microsoft.com/office/drawing/2014/main" id="{71AB3122-947A-44DB-B190-A2601C6C95C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0" name="Freeform 25">
              <a:extLst>
                <a:ext uri="{FF2B5EF4-FFF2-40B4-BE49-F238E27FC236}">
                  <a16:creationId xmlns="" xmlns:a16="http://schemas.microsoft.com/office/drawing/2014/main" id="{74B4109D-3AFC-4D44-87B1-0CDED3E638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1" name="Freeform 26">
              <a:extLst>
                <a:ext uri="{FF2B5EF4-FFF2-40B4-BE49-F238E27FC236}">
                  <a16:creationId xmlns="" xmlns:a16="http://schemas.microsoft.com/office/drawing/2014/main" id="{44AAD39F-F7C9-4D00-95E0-0465B4E8588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2" name="Freeform 27">
              <a:extLst>
                <a:ext uri="{FF2B5EF4-FFF2-40B4-BE49-F238E27FC236}">
                  <a16:creationId xmlns="" xmlns:a16="http://schemas.microsoft.com/office/drawing/2014/main" id="{C1DCAB8D-6EF6-4A84-8D0C-AA9226DEC90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3" name="Freeform 28">
              <a:extLst>
                <a:ext uri="{FF2B5EF4-FFF2-40B4-BE49-F238E27FC236}">
                  <a16:creationId xmlns="" xmlns:a16="http://schemas.microsoft.com/office/drawing/2014/main" id="{C407F97F-83CF-4703-B9E0-6335530E32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4" name="Freeform 29">
              <a:extLst>
                <a:ext uri="{FF2B5EF4-FFF2-40B4-BE49-F238E27FC236}">
                  <a16:creationId xmlns="" xmlns:a16="http://schemas.microsoft.com/office/drawing/2014/main" id="{0D8D2363-5D84-4CFF-89AA-3C93C859DBB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5" name="Freeform 30">
              <a:extLst>
                <a:ext uri="{FF2B5EF4-FFF2-40B4-BE49-F238E27FC236}">
                  <a16:creationId xmlns="" xmlns:a16="http://schemas.microsoft.com/office/drawing/2014/main" id="{0435A35C-AC99-4E12-8CB0-9C640DAA94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6" name="Freeform 31">
              <a:extLst>
                <a:ext uri="{FF2B5EF4-FFF2-40B4-BE49-F238E27FC236}">
                  <a16:creationId xmlns="" xmlns:a16="http://schemas.microsoft.com/office/drawing/2014/main" id="{F20392CF-2256-4527-836B-2E6F88596EC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7" name="Freeform 32">
              <a:extLst>
                <a:ext uri="{FF2B5EF4-FFF2-40B4-BE49-F238E27FC236}">
                  <a16:creationId xmlns="" xmlns:a16="http://schemas.microsoft.com/office/drawing/2014/main" id="{C52C3AD3-122C-4010-9C55-B0247F8CCAB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8" name="Rectangle 33">
              <a:extLst>
                <a:ext uri="{FF2B5EF4-FFF2-40B4-BE49-F238E27FC236}">
                  <a16:creationId xmlns="" xmlns:a16="http://schemas.microsoft.com/office/drawing/2014/main" id="{EFCB53ED-09C0-4AD7-9BBC-366833D5FE0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9" name="Freeform 34">
              <a:extLst>
                <a:ext uri="{FF2B5EF4-FFF2-40B4-BE49-F238E27FC236}">
                  <a16:creationId xmlns="" xmlns:a16="http://schemas.microsoft.com/office/drawing/2014/main" id="{6F309F52-BFCF-47D9-8089-BC049540DB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0" name="Freeform 35">
              <a:extLst>
                <a:ext uri="{FF2B5EF4-FFF2-40B4-BE49-F238E27FC236}">
                  <a16:creationId xmlns="" xmlns:a16="http://schemas.microsoft.com/office/drawing/2014/main" id="{5F9AE85F-C7AA-4761-B468-2E100829BC5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1" name="Freeform 36">
              <a:extLst>
                <a:ext uri="{FF2B5EF4-FFF2-40B4-BE49-F238E27FC236}">
                  <a16:creationId xmlns="" xmlns:a16="http://schemas.microsoft.com/office/drawing/2014/main" id="{2C81C778-91E5-4AE9-AACB-8566E7A28B4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2" name="Freeform 37">
              <a:extLst>
                <a:ext uri="{FF2B5EF4-FFF2-40B4-BE49-F238E27FC236}">
                  <a16:creationId xmlns="" xmlns:a16="http://schemas.microsoft.com/office/drawing/2014/main" id="{6C56E0B4-58A0-4B2B-BD56-54121BB8DB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3" name="Freeform 38">
              <a:extLst>
                <a:ext uri="{FF2B5EF4-FFF2-40B4-BE49-F238E27FC236}">
                  <a16:creationId xmlns="" xmlns:a16="http://schemas.microsoft.com/office/drawing/2014/main" id="{88A29CFE-13A6-4509-946F-5C074F856EE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4" name="Freeform 39">
              <a:extLst>
                <a:ext uri="{FF2B5EF4-FFF2-40B4-BE49-F238E27FC236}">
                  <a16:creationId xmlns="" xmlns:a16="http://schemas.microsoft.com/office/drawing/2014/main" id="{00235A0A-018B-4499-AC16-AF83457BF43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5" name="Freeform 40">
              <a:extLst>
                <a:ext uri="{FF2B5EF4-FFF2-40B4-BE49-F238E27FC236}">
                  <a16:creationId xmlns="" xmlns:a16="http://schemas.microsoft.com/office/drawing/2014/main" id="{861DF9B7-50DC-4EBE-8B23-97FE92DBBB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6" name="Freeform 41">
              <a:extLst>
                <a:ext uri="{FF2B5EF4-FFF2-40B4-BE49-F238E27FC236}">
                  <a16:creationId xmlns="" xmlns:a16="http://schemas.microsoft.com/office/drawing/2014/main" id="{69673907-73D7-4729-A911-9BD078EC2EE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7" name="Freeform 42">
              <a:extLst>
                <a:ext uri="{FF2B5EF4-FFF2-40B4-BE49-F238E27FC236}">
                  <a16:creationId xmlns="" xmlns:a16="http://schemas.microsoft.com/office/drawing/2014/main" id="{4DC844D3-8053-4EE7-A286-50157B6FD86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8" name="Freeform 43">
              <a:extLst>
                <a:ext uri="{FF2B5EF4-FFF2-40B4-BE49-F238E27FC236}">
                  <a16:creationId xmlns="" xmlns:a16="http://schemas.microsoft.com/office/drawing/2014/main" id="{D67575A0-A45A-4773-874C-16370E3670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9" name="Freeform 44">
              <a:extLst>
                <a:ext uri="{FF2B5EF4-FFF2-40B4-BE49-F238E27FC236}">
                  <a16:creationId xmlns="" xmlns:a16="http://schemas.microsoft.com/office/drawing/2014/main" id="{4327252B-B62B-4DE0-A924-B7F6E40AD96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0" name="Rectangle 45">
              <a:extLst>
                <a:ext uri="{FF2B5EF4-FFF2-40B4-BE49-F238E27FC236}">
                  <a16:creationId xmlns="" xmlns:a16="http://schemas.microsoft.com/office/drawing/2014/main" id="{778BC6A7-AC19-497B-A7C6-E447B2EBDAB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1" name="Freeform 46">
              <a:extLst>
                <a:ext uri="{FF2B5EF4-FFF2-40B4-BE49-F238E27FC236}">
                  <a16:creationId xmlns="" xmlns:a16="http://schemas.microsoft.com/office/drawing/2014/main" id="{4E79A87B-BF1F-437A-9FED-BE93025E502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2" name="Freeform 47">
              <a:extLst>
                <a:ext uri="{FF2B5EF4-FFF2-40B4-BE49-F238E27FC236}">
                  <a16:creationId xmlns="" xmlns:a16="http://schemas.microsoft.com/office/drawing/2014/main" id="{DFAAF3CC-B4E0-45C8-AC2D-EF0D6D823D1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3" name="Freeform 48">
              <a:extLst>
                <a:ext uri="{FF2B5EF4-FFF2-40B4-BE49-F238E27FC236}">
                  <a16:creationId xmlns="" xmlns:a16="http://schemas.microsoft.com/office/drawing/2014/main" id="{A5A12C87-1E4A-4664-B2F4-A1C8B656F9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4" name="Freeform 49">
              <a:extLst>
                <a:ext uri="{FF2B5EF4-FFF2-40B4-BE49-F238E27FC236}">
                  <a16:creationId xmlns="" xmlns:a16="http://schemas.microsoft.com/office/drawing/2014/main" id="{B3AF8230-4630-4505-ADDB-16A9B6B3772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5" name="Freeform 50">
              <a:extLst>
                <a:ext uri="{FF2B5EF4-FFF2-40B4-BE49-F238E27FC236}">
                  <a16:creationId xmlns="" xmlns:a16="http://schemas.microsoft.com/office/drawing/2014/main" id="{33F93F6D-724D-42F3-AF1D-3081EAB5D1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6" name="Freeform 51">
              <a:extLst>
                <a:ext uri="{FF2B5EF4-FFF2-40B4-BE49-F238E27FC236}">
                  <a16:creationId xmlns="" xmlns:a16="http://schemas.microsoft.com/office/drawing/2014/main" id="{F5DD7A8F-FB67-4E79-80DB-0FAF3A09894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7" name="Freeform 52">
              <a:extLst>
                <a:ext uri="{FF2B5EF4-FFF2-40B4-BE49-F238E27FC236}">
                  <a16:creationId xmlns="" xmlns:a16="http://schemas.microsoft.com/office/drawing/2014/main" id="{7B140A84-E89E-4A80-9DF8-7BCA45F908D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8" name="Freeform 53">
              <a:extLst>
                <a:ext uri="{FF2B5EF4-FFF2-40B4-BE49-F238E27FC236}">
                  <a16:creationId xmlns="" xmlns:a16="http://schemas.microsoft.com/office/drawing/2014/main" id="{279E1D6A-EFE2-44C6-A5BF-DFADF0DC91D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9" name="Freeform 54">
              <a:extLst>
                <a:ext uri="{FF2B5EF4-FFF2-40B4-BE49-F238E27FC236}">
                  <a16:creationId xmlns="" xmlns:a16="http://schemas.microsoft.com/office/drawing/2014/main" id="{C9FA2204-561F-4ABB-988C-03053820F1D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0" name="Freeform 55">
              <a:extLst>
                <a:ext uri="{FF2B5EF4-FFF2-40B4-BE49-F238E27FC236}">
                  <a16:creationId xmlns="" xmlns:a16="http://schemas.microsoft.com/office/drawing/2014/main" id="{8BD7D04E-AC0A-424F-BC40-28842DAFFAC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1" name="Freeform 56">
              <a:extLst>
                <a:ext uri="{FF2B5EF4-FFF2-40B4-BE49-F238E27FC236}">
                  <a16:creationId xmlns="" xmlns:a16="http://schemas.microsoft.com/office/drawing/2014/main" id="{32B616A2-FE09-47DD-B58C-12EE58B7CA5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2" name="Freeform 57">
              <a:extLst>
                <a:ext uri="{FF2B5EF4-FFF2-40B4-BE49-F238E27FC236}">
                  <a16:creationId xmlns="" xmlns:a16="http://schemas.microsoft.com/office/drawing/2014/main" id="{08C5EAF5-6064-484E-BA05-80D09D84EAB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3" name="Freeform 58">
              <a:extLst>
                <a:ext uri="{FF2B5EF4-FFF2-40B4-BE49-F238E27FC236}">
                  <a16:creationId xmlns="" xmlns:a16="http://schemas.microsoft.com/office/drawing/2014/main" id="{F11D90DF-D275-4725-884C-77E5E01D89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="" xmlns:a16="http://schemas.microsoft.com/office/drawing/2014/main" id="{9BE10567-6165-46A7-867D-4690A16B46D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66" name="Rectangle 65">
              <a:extLst>
                <a:ext uri="{FF2B5EF4-FFF2-40B4-BE49-F238E27FC236}">
                  <a16:creationId xmlns="" xmlns:a16="http://schemas.microsoft.com/office/drawing/2014/main" id="{0F4DB1F4-429C-4C85-85D7-C4D81996D3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pic>
          <p:nvPicPr>
            <p:cNvPr id="133" name="Picture 2">
              <a:extLst>
                <a:ext uri="{FF2B5EF4-FFF2-40B4-BE49-F238E27FC236}">
                  <a16:creationId xmlns="" xmlns:a16="http://schemas.microsoft.com/office/drawing/2014/main" id="{159C0DA6-71D9-4C96-A774-7FADF5E0A4C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PicPr>
          <p:blipFill>
            <a:blip r:embed="rId2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4" name="Round Diagonal Corner Rectangle 7">
            <a:extLst>
              <a:ext uri="{FF2B5EF4-FFF2-40B4-BE49-F238E27FC236}">
                <a16:creationId xmlns="" xmlns:a16="http://schemas.microsoft.com/office/drawing/2014/main" id="{4B24F6DB-F114-44A7-BB56-D401884E4E7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2582333" y="2235200"/>
            <a:ext cx="7027334" cy="2396067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grpSp>
        <p:nvGrpSpPr>
          <p:cNvPr id="135" name="Group 134">
            <a:extLst>
              <a:ext uri="{FF2B5EF4-FFF2-40B4-BE49-F238E27FC236}">
                <a16:creationId xmlns="" xmlns:a16="http://schemas.microsoft.com/office/drawing/2014/main" id="{4DB50ECD-225E-4F81-AF7B-706DD05F3B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605895" y="2900097"/>
            <a:ext cx="10982062" cy="1211524"/>
            <a:chOff x="605895" y="2900097"/>
            <a:chExt cx="10982062" cy="1211524"/>
          </a:xfrm>
          <a:effectLst/>
        </p:grpSpPr>
        <p:sp>
          <p:nvSpPr>
            <p:cNvPr id="72" name="Freeform 32">
              <a:extLst>
                <a:ext uri="{FF2B5EF4-FFF2-40B4-BE49-F238E27FC236}">
                  <a16:creationId xmlns="" xmlns:a16="http://schemas.microsoft.com/office/drawing/2014/main" id="{CBC3B006-1357-4969-BC3D-CDD91E492B4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9653587" y="33797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3" name="Freeform 33">
              <a:extLst>
                <a:ext uri="{FF2B5EF4-FFF2-40B4-BE49-F238E27FC236}">
                  <a16:creationId xmlns="" xmlns:a16="http://schemas.microsoft.com/office/drawing/2014/main" id="{0D6E4F1D-B331-41B5-90EF-2236C1EE15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078244" y="33107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4" name="Freeform 34">
              <a:extLst>
                <a:ext uri="{FF2B5EF4-FFF2-40B4-BE49-F238E27FC236}">
                  <a16:creationId xmlns="" xmlns:a16="http://schemas.microsoft.com/office/drawing/2014/main" id="{54A60014-21DF-44E5-9137-43357188501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1146631" y="35742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5" name="Freeform 37">
              <a:extLst>
                <a:ext uri="{FF2B5EF4-FFF2-40B4-BE49-F238E27FC236}">
                  <a16:creationId xmlns="" xmlns:a16="http://schemas.microsoft.com/office/drawing/2014/main" id="{40B768C0-B003-45F4-9A06-EA3509A90BD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230644" y="30345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6" name="Freeform 35">
              <a:extLst>
                <a:ext uri="{FF2B5EF4-FFF2-40B4-BE49-F238E27FC236}">
                  <a16:creationId xmlns="" xmlns:a16="http://schemas.microsoft.com/office/drawing/2014/main" id="{5E479182-2054-4AD9-823D-81CFAD7F2C7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034587" y="25627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7" name="Freeform 36">
              <a:extLst>
                <a:ext uri="{FF2B5EF4-FFF2-40B4-BE49-F238E27FC236}">
                  <a16:creationId xmlns="" xmlns:a16="http://schemas.microsoft.com/office/drawing/2014/main" id="{A7D912CF-756A-41F1-8BF1-5BA7D1BD052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747375" y="32326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8" name="Freeform 38">
              <a:extLst>
                <a:ext uri="{FF2B5EF4-FFF2-40B4-BE49-F238E27FC236}">
                  <a16:creationId xmlns="" xmlns:a16="http://schemas.microsoft.com/office/drawing/2014/main" id="{734B6F35-2160-44B1-AB00-F628C84B14F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1399044" y="30953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9" name="Freeform 39">
              <a:extLst>
                <a:ext uri="{FF2B5EF4-FFF2-40B4-BE49-F238E27FC236}">
                  <a16:creationId xmlns="" xmlns:a16="http://schemas.microsoft.com/office/drawing/2014/main" id="{D8657E76-4F63-44FE-86C5-54CA174FCB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353675" y="21531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0" name="Freeform 40">
              <a:extLst>
                <a:ext uri="{FF2B5EF4-FFF2-40B4-BE49-F238E27FC236}">
                  <a16:creationId xmlns="" xmlns:a16="http://schemas.microsoft.com/office/drawing/2014/main" id="{482CEB8C-90E5-4152-8B52-A2881B98A3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848850" y="33088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1" name="Rectangle 41">
              <a:extLst>
                <a:ext uri="{FF2B5EF4-FFF2-40B4-BE49-F238E27FC236}">
                  <a16:creationId xmlns="" xmlns:a16="http://schemas.microsoft.com/office/drawing/2014/main" id="{85010FC2-BC4C-4692-876D-7FE363BFC6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721056" y="32842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2" name="Freeform 32">
              <a:extLst>
                <a:ext uri="{FF2B5EF4-FFF2-40B4-BE49-F238E27FC236}">
                  <a16:creationId xmlns="" xmlns:a16="http://schemas.microsoft.com/office/drawing/2014/main" id="{714C1223-2B78-4715-9ACB-079A60D16D3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2122751" y="35321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3" name="Freeform 33">
              <a:extLst>
                <a:ext uri="{FF2B5EF4-FFF2-40B4-BE49-F238E27FC236}">
                  <a16:creationId xmlns="" xmlns:a16="http://schemas.microsoft.com/office/drawing/2014/main" id="{1D9109D3-C92A-410B-9B43-5F02B2D84EE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958445" y="34631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4" name="Freeform 34">
              <a:extLst>
                <a:ext uri="{FF2B5EF4-FFF2-40B4-BE49-F238E27FC236}">
                  <a16:creationId xmlns="" xmlns:a16="http://schemas.microsoft.com/office/drawing/2014/main" id="{EF5B327A-A1AE-42F3-815E-84F4AA2948C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858308" y="37266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5" name="Freeform 37">
              <a:extLst>
                <a:ext uri="{FF2B5EF4-FFF2-40B4-BE49-F238E27FC236}">
                  <a16:creationId xmlns="" xmlns:a16="http://schemas.microsoft.com/office/drawing/2014/main" id="{77738BDE-751F-4D4C-B4C4-C9DF3EA291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658407" y="31869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6" name="Freeform 35">
              <a:extLst>
                <a:ext uri="{FF2B5EF4-FFF2-40B4-BE49-F238E27FC236}">
                  <a16:creationId xmlns="" xmlns:a16="http://schemas.microsoft.com/office/drawing/2014/main" id="{9C8C4AD6-72BF-490C-963C-97C7FD7E7EA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860814" y="27151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7" name="Freeform 36">
              <a:extLst>
                <a:ext uri="{FF2B5EF4-FFF2-40B4-BE49-F238E27FC236}">
                  <a16:creationId xmlns="" xmlns:a16="http://schemas.microsoft.com/office/drawing/2014/main" id="{94990E31-5AA8-4502-A963-CE1B539DAC4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289314" y="33850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8" name="Freeform 38">
              <a:extLst>
                <a:ext uri="{FF2B5EF4-FFF2-40B4-BE49-F238E27FC236}">
                  <a16:creationId xmlns="" xmlns:a16="http://schemas.microsoft.com/office/drawing/2014/main" id="{9E703E9D-ED76-449C-A8C0-7A1E24B8B27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605895" y="32477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9" name="Freeform 39">
              <a:extLst>
                <a:ext uri="{FF2B5EF4-FFF2-40B4-BE49-F238E27FC236}">
                  <a16:creationId xmlns="" xmlns:a16="http://schemas.microsoft.com/office/drawing/2014/main" id="{C70A75E8-C815-4CCF-ABEE-83F19BFE051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532202" y="23055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0" name="Freeform 40">
              <a:extLst>
                <a:ext uri="{FF2B5EF4-FFF2-40B4-BE49-F238E27FC236}">
                  <a16:creationId xmlns="" xmlns:a16="http://schemas.microsoft.com/office/drawing/2014/main" id="{E15638E1-6A92-4D31-A034-853A65A754E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154501" y="34612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1" name="Rectangle 41">
              <a:extLst>
                <a:ext uri="{FF2B5EF4-FFF2-40B4-BE49-F238E27FC236}">
                  <a16:creationId xmlns="" xmlns:a16="http://schemas.microsoft.com/office/drawing/2014/main" id="{EA3E8D58-D52B-4300-8A50-5696430D1A6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448983" y="34366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0954A3-DCC4-4BD2-A464-B45BBF745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3771" y="2399914"/>
            <a:ext cx="6919782" cy="186213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b="1" dirty="0">
                <a:latin typeface="Times New Roman"/>
                <a:cs typeface="Times New Roman"/>
              </a:rPr>
              <a:t>Ethernet MAC </a:t>
            </a:r>
            <a:r>
              <a:rPr lang="en-US" sz="4000" b="1" dirty="0" smtClean="0">
                <a:latin typeface="Times New Roman"/>
                <a:cs typeface="Times New Roman"/>
              </a:rPr>
              <a:t>IP</a:t>
            </a:r>
            <a:r>
              <a:rPr lang="en-US" sz="4000" dirty="0" smtClean="0">
                <a:latin typeface="Times New Roman"/>
                <a:cs typeface="Times New Roman"/>
              </a:rPr>
              <a:t/>
            </a:r>
            <a:br>
              <a:rPr lang="en-US" sz="4000" dirty="0" smtClean="0">
                <a:latin typeface="Times New Roman"/>
                <a:cs typeface="Times New Roman"/>
              </a:rPr>
            </a:br>
            <a:endParaRPr lang="en" sz="4000" b="1" dirty="0">
              <a:ln w="0"/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46209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2086" y="309732"/>
            <a:ext cx="10561060" cy="1478570"/>
          </a:xfrm>
        </p:spPr>
        <p:txBody>
          <a:bodyPr>
            <a:normAutofit/>
          </a:bodyPr>
          <a:lstStyle/>
          <a:p>
            <a:r>
              <a:rPr lang="en-US" sz="3600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MAC IP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7879" y="1666012"/>
            <a:ext cx="10705427" cy="484493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Open-source </a:t>
            </a:r>
            <a:r>
              <a:rPr lang="en-US" b="1" dirty="0" smtClean="0"/>
              <a:t>Ethernet MAC</a:t>
            </a:r>
            <a:r>
              <a:rPr lang="en-US" dirty="0" smtClean="0"/>
              <a:t> </a:t>
            </a:r>
            <a:r>
              <a:rPr lang="en-US" dirty="0"/>
              <a:t>IP core </a:t>
            </a:r>
            <a:r>
              <a:rPr lang="en-US" dirty="0" smtClean="0"/>
              <a:t>implemented by </a:t>
            </a:r>
            <a:r>
              <a:rPr lang="en-US" b="1" dirty="0" err="1" smtClean="0"/>
              <a:t>OpenCores</a:t>
            </a:r>
            <a:r>
              <a:rPr lang="en-US" b="1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err="1" smtClean="0"/>
              <a:t>OpenCores</a:t>
            </a:r>
            <a:r>
              <a:rPr lang="en-US" b="1" dirty="0"/>
              <a:t>:</a:t>
            </a:r>
            <a:r>
              <a:rPr lang="en-US" dirty="0"/>
              <a:t> Open-source repository of free, reusable hardware IP cores (processors, controllers, </a:t>
            </a:r>
            <a:r>
              <a:rPr lang="en-US" dirty="0" smtClean="0"/>
              <a:t>interfaces).</a:t>
            </a:r>
          </a:p>
          <a:p>
            <a:r>
              <a:rPr lang="en-US" b="1" dirty="0"/>
              <a:t>Key Specifications</a:t>
            </a:r>
          </a:p>
          <a:p>
            <a:r>
              <a:rPr lang="en-US" b="1" dirty="0" smtClean="0"/>
              <a:t>Standard:</a:t>
            </a:r>
            <a:r>
              <a:rPr lang="en-US" dirty="0" smtClean="0"/>
              <a:t>10/100 </a:t>
            </a:r>
            <a:r>
              <a:rPr lang="en-US" dirty="0"/>
              <a:t>Mbps </a:t>
            </a:r>
            <a:r>
              <a:rPr lang="en-US" dirty="0" smtClean="0"/>
              <a:t>Ethernet</a:t>
            </a:r>
            <a:endParaRPr lang="en-US" dirty="0"/>
          </a:p>
          <a:p>
            <a:r>
              <a:rPr lang="en-US" b="1" dirty="0" smtClean="0"/>
              <a:t>Interface</a:t>
            </a:r>
            <a:r>
              <a:rPr lang="en-US" b="1" dirty="0"/>
              <a:t>:</a:t>
            </a:r>
            <a:r>
              <a:rPr lang="en-US" dirty="0"/>
              <a:t> MII (Media Independent Interface) for PHY connection</a:t>
            </a:r>
          </a:p>
          <a:p>
            <a:r>
              <a:rPr lang="en-US" b="1" dirty="0"/>
              <a:t>Control Bus:</a:t>
            </a:r>
            <a:r>
              <a:rPr lang="en-US" dirty="0"/>
              <a:t> Wishbone slave for </a:t>
            </a:r>
            <a:r>
              <a:rPr lang="en-US" dirty="0" smtClean="0"/>
              <a:t>CPU </a:t>
            </a:r>
            <a:r>
              <a:rPr lang="en-US" dirty="0"/>
              <a:t>access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dirty="0" smtClean="0"/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8367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2086" y="309732"/>
            <a:ext cx="10561060" cy="1478570"/>
          </a:xfrm>
        </p:spPr>
        <p:txBody>
          <a:bodyPr>
            <a:normAutofit/>
          </a:bodyPr>
          <a:lstStyle/>
          <a:p>
            <a:r>
              <a:rPr lang="en-US" sz="3600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MAC IP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2483" y="1488731"/>
            <a:ext cx="10705427" cy="73195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 smtClean="0"/>
              <a:t>Block Diagram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7" t="7407" r="3348" b="5142"/>
          <a:stretch/>
        </p:blipFill>
        <p:spPr>
          <a:xfrm>
            <a:off x="3405674" y="1408922"/>
            <a:ext cx="7184572" cy="536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32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0000">
              <a:schemeClr val="accent3">
                <a:lumMod val="45000"/>
                <a:lumOff val="55000"/>
              </a:schemeClr>
            </a:gs>
            <a:gs pos="66000">
              <a:schemeClr val="accent3">
                <a:alpha val="0"/>
                <a:lumMod val="84000"/>
                <a:lumOff val="16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2">
            <a:extLst>
              <a:ext uri="{FF2B5EF4-FFF2-40B4-BE49-F238E27FC236}">
                <a16:creationId xmlns="" xmlns:a16="http://schemas.microsoft.com/office/drawing/2014/main" id="{9ACD3AF8-B16E-4174-8C1A-41F683C4AF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1" name="Group 130">
            <a:extLst>
              <a:ext uri="{FF2B5EF4-FFF2-40B4-BE49-F238E27FC236}">
                <a16:creationId xmlns="" xmlns:a16="http://schemas.microsoft.com/office/drawing/2014/main" id="{FF5EAD09-B81D-415F-8BCF-73C81AE05F2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" name="Rectangle 5">
              <a:extLst>
                <a:ext uri="{FF2B5EF4-FFF2-40B4-BE49-F238E27FC236}">
                  <a16:creationId xmlns="" xmlns:a16="http://schemas.microsoft.com/office/drawing/2014/main" id="{CFB79010-8ED4-49EF-AFD2-F4D8C80B69B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1" name="Freeform 6">
              <a:extLst>
                <a:ext uri="{FF2B5EF4-FFF2-40B4-BE49-F238E27FC236}">
                  <a16:creationId xmlns="" xmlns:a16="http://schemas.microsoft.com/office/drawing/2014/main" id="{4649B869-006E-42B5-9DDC-21049B130E0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2" name="Freeform 7">
              <a:extLst>
                <a:ext uri="{FF2B5EF4-FFF2-40B4-BE49-F238E27FC236}">
                  <a16:creationId xmlns="" xmlns:a16="http://schemas.microsoft.com/office/drawing/2014/main" id="{443096BD-333F-48B6-8220-D1F9793E40A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3" name="Rectangle 8">
              <a:extLst>
                <a:ext uri="{FF2B5EF4-FFF2-40B4-BE49-F238E27FC236}">
                  <a16:creationId xmlns="" xmlns:a16="http://schemas.microsoft.com/office/drawing/2014/main" id="{1A45BB9A-7E84-4B9B-923A-270A97F8524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4" name="Freeform 9">
              <a:extLst>
                <a:ext uri="{FF2B5EF4-FFF2-40B4-BE49-F238E27FC236}">
                  <a16:creationId xmlns="" xmlns:a16="http://schemas.microsoft.com/office/drawing/2014/main" id="{D7D7C768-2F76-4DE2-A807-1B9FFF816C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5" name="Freeform 10">
              <a:extLst>
                <a:ext uri="{FF2B5EF4-FFF2-40B4-BE49-F238E27FC236}">
                  <a16:creationId xmlns="" xmlns:a16="http://schemas.microsoft.com/office/drawing/2014/main" id="{1870B32E-EE42-470E-B543-CA55AEC8CA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6" name="Freeform 11">
              <a:extLst>
                <a:ext uri="{FF2B5EF4-FFF2-40B4-BE49-F238E27FC236}">
                  <a16:creationId xmlns="" xmlns:a16="http://schemas.microsoft.com/office/drawing/2014/main" id="{EEF09120-11AA-4DB5-98A8-EC4923002C6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7" name="Freeform 12">
              <a:extLst>
                <a:ext uri="{FF2B5EF4-FFF2-40B4-BE49-F238E27FC236}">
                  <a16:creationId xmlns="" xmlns:a16="http://schemas.microsoft.com/office/drawing/2014/main" id="{39CC463D-589C-461C-A234-0460EB06B88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8" name="Freeform 13">
              <a:extLst>
                <a:ext uri="{FF2B5EF4-FFF2-40B4-BE49-F238E27FC236}">
                  <a16:creationId xmlns="" xmlns:a16="http://schemas.microsoft.com/office/drawing/2014/main" id="{B6516153-269A-421E-A021-CB3F3C5E1DA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9" name="Freeform 14">
              <a:extLst>
                <a:ext uri="{FF2B5EF4-FFF2-40B4-BE49-F238E27FC236}">
                  <a16:creationId xmlns="" xmlns:a16="http://schemas.microsoft.com/office/drawing/2014/main" id="{45E14300-6C4A-4F77-915F-F3B25B0237B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0" name="Freeform 15">
              <a:extLst>
                <a:ext uri="{FF2B5EF4-FFF2-40B4-BE49-F238E27FC236}">
                  <a16:creationId xmlns="" xmlns:a16="http://schemas.microsoft.com/office/drawing/2014/main" id="{993E312A-E6A6-4B52-ADE6-618ADC89BA6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1" name="Freeform 16">
              <a:extLst>
                <a:ext uri="{FF2B5EF4-FFF2-40B4-BE49-F238E27FC236}">
                  <a16:creationId xmlns="" xmlns:a16="http://schemas.microsoft.com/office/drawing/2014/main" id="{2F0F3026-2480-472B-8C52-36812C81EF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2" name="Freeform 17">
              <a:extLst>
                <a:ext uri="{FF2B5EF4-FFF2-40B4-BE49-F238E27FC236}">
                  <a16:creationId xmlns="" xmlns:a16="http://schemas.microsoft.com/office/drawing/2014/main" id="{34E1C992-559D-4827-9F30-31A3CA7A2B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3" name="Freeform 18">
              <a:extLst>
                <a:ext uri="{FF2B5EF4-FFF2-40B4-BE49-F238E27FC236}">
                  <a16:creationId xmlns="" xmlns:a16="http://schemas.microsoft.com/office/drawing/2014/main" id="{D9F2FB98-F443-498F-AAD9-69458256813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4" name="Freeform 19">
              <a:extLst>
                <a:ext uri="{FF2B5EF4-FFF2-40B4-BE49-F238E27FC236}">
                  <a16:creationId xmlns="" xmlns:a16="http://schemas.microsoft.com/office/drawing/2014/main" id="{75DBF6EC-ED50-43E4-8A8B-64CE86A880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="" xmlns:a16="http://schemas.microsoft.com/office/drawing/2014/main" id="{FD854F40-AC43-4F21-9C62-2CE35CFD2B1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6" name="Freeform 21">
              <a:extLst>
                <a:ext uri="{FF2B5EF4-FFF2-40B4-BE49-F238E27FC236}">
                  <a16:creationId xmlns="" xmlns:a16="http://schemas.microsoft.com/office/drawing/2014/main" id="{62CCB560-494A-4F74-9DE4-068806A893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7" name="Freeform 22">
              <a:extLst>
                <a:ext uri="{FF2B5EF4-FFF2-40B4-BE49-F238E27FC236}">
                  <a16:creationId xmlns="" xmlns:a16="http://schemas.microsoft.com/office/drawing/2014/main" id="{6F9A05F2-B5D2-4D8A-9A78-14E45C13FEC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8" name="Freeform 23">
              <a:extLst>
                <a:ext uri="{FF2B5EF4-FFF2-40B4-BE49-F238E27FC236}">
                  <a16:creationId xmlns="" xmlns:a16="http://schemas.microsoft.com/office/drawing/2014/main" id="{A6373189-19BB-4BEC-84A3-432253E0580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9" name="Freeform 24">
              <a:extLst>
                <a:ext uri="{FF2B5EF4-FFF2-40B4-BE49-F238E27FC236}">
                  <a16:creationId xmlns="" xmlns:a16="http://schemas.microsoft.com/office/drawing/2014/main" id="{71AB3122-947A-44DB-B190-A2601C6C95C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0" name="Freeform 25">
              <a:extLst>
                <a:ext uri="{FF2B5EF4-FFF2-40B4-BE49-F238E27FC236}">
                  <a16:creationId xmlns="" xmlns:a16="http://schemas.microsoft.com/office/drawing/2014/main" id="{74B4109D-3AFC-4D44-87B1-0CDED3E638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1" name="Freeform 26">
              <a:extLst>
                <a:ext uri="{FF2B5EF4-FFF2-40B4-BE49-F238E27FC236}">
                  <a16:creationId xmlns="" xmlns:a16="http://schemas.microsoft.com/office/drawing/2014/main" id="{44AAD39F-F7C9-4D00-95E0-0465B4E8588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2" name="Freeform 27">
              <a:extLst>
                <a:ext uri="{FF2B5EF4-FFF2-40B4-BE49-F238E27FC236}">
                  <a16:creationId xmlns="" xmlns:a16="http://schemas.microsoft.com/office/drawing/2014/main" id="{C1DCAB8D-6EF6-4A84-8D0C-AA9226DEC90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3" name="Freeform 28">
              <a:extLst>
                <a:ext uri="{FF2B5EF4-FFF2-40B4-BE49-F238E27FC236}">
                  <a16:creationId xmlns="" xmlns:a16="http://schemas.microsoft.com/office/drawing/2014/main" id="{C407F97F-83CF-4703-B9E0-6335530E32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4" name="Freeform 29">
              <a:extLst>
                <a:ext uri="{FF2B5EF4-FFF2-40B4-BE49-F238E27FC236}">
                  <a16:creationId xmlns="" xmlns:a16="http://schemas.microsoft.com/office/drawing/2014/main" id="{0D8D2363-5D84-4CFF-89AA-3C93C859DBB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5" name="Freeform 30">
              <a:extLst>
                <a:ext uri="{FF2B5EF4-FFF2-40B4-BE49-F238E27FC236}">
                  <a16:creationId xmlns="" xmlns:a16="http://schemas.microsoft.com/office/drawing/2014/main" id="{0435A35C-AC99-4E12-8CB0-9C640DAA94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6" name="Freeform 31">
              <a:extLst>
                <a:ext uri="{FF2B5EF4-FFF2-40B4-BE49-F238E27FC236}">
                  <a16:creationId xmlns="" xmlns:a16="http://schemas.microsoft.com/office/drawing/2014/main" id="{F20392CF-2256-4527-836B-2E6F88596EC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7" name="Freeform 32">
              <a:extLst>
                <a:ext uri="{FF2B5EF4-FFF2-40B4-BE49-F238E27FC236}">
                  <a16:creationId xmlns="" xmlns:a16="http://schemas.microsoft.com/office/drawing/2014/main" id="{C52C3AD3-122C-4010-9C55-B0247F8CCAB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8" name="Rectangle 33">
              <a:extLst>
                <a:ext uri="{FF2B5EF4-FFF2-40B4-BE49-F238E27FC236}">
                  <a16:creationId xmlns="" xmlns:a16="http://schemas.microsoft.com/office/drawing/2014/main" id="{EFCB53ED-09C0-4AD7-9BBC-366833D5FE0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9" name="Freeform 34">
              <a:extLst>
                <a:ext uri="{FF2B5EF4-FFF2-40B4-BE49-F238E27FC236}">
                  <a16:creationId xmlns="" xmlns:a16="http://schemas.microsoft.com/office/drawing/2014/main" id="{6F309F52-BFCF-47D9-8089-BC049540DB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0" name="Freeform 35">
              <a:extLst>
                <a:ext uri="{FF2B5EF4-FFF2-40B4-BE49-F238E27FC236}">
                  <a16:creationId xmlns="" xmlns:a16="http://schemas.microsoft.com/office/drawing/2014/main" id="{5F9AE85F-C7AA-4761-B468-2E100829BC5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1" name="Freeform 36">
              <a:extLst>
                <a:ext uri="{FF2B5EF4-FFF2-40B4-BE49-F238E27FC236}">
                  <a16:creationId xmlns="" xmlns:a16="http://schemas.microsoft.com/office/drawing/2014/main" id="{2C81C778-91E5-4AE9-AACB-8566E7A28B4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2" name="Freeform 37">
              <a:extLst>
                <a:ext uri="{FF2B5EF4-FFF2-40B4-BE49-F238E27FC236}">
                  <a16:creationId xmlns="" xmlns:a16="http://schemas.microsoft.com/office/drawing/2014/main" id="{6C56E0B4-58A0-4B2B-BD56-54121BB8DB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3" name="Freeform 38">
              <a:extLst>
                <a:ext uri="{FF2B5EF4-FFF2-40B4-BE49-F238E27FC236}">
                  <a16:creationId xmlns="" xmlns:a16="http://schemas.microsoft.com/office/drawing/2014/main" id="{88A29CFE-13A6-4509-946F-5C074F856EE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4" name="Freeform 39">
              <a:extLst>
                <a:ext uri="{FF2B5EF4-FFF2-40B4-BE49-F238E27FC236}">
                  <a16:creationId xmlns="" xmlns:a16="http://schemas.microsoft.com/office/drawing/2014/main" id="{00235A0A-018B-4499-AC16-AF83457BF43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5" name="Freeform 40">
              <a:extLst>
                <a:ext uri="{FF2B5EF4-FFF2-40B4-BE49-F238E27FC236}">
                  <a16:creationId xmlns="" xmlns:a16="http://schemas.microsoft.com/office/drawing/2014/main" id="{861DF9B7-50DC-4EBE-8B23-97FE92DBBB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6" name="Freeform 41">
              <a:extLst>
                <a:ext uri="{FF2B5EF4-FFF2-40B4-BE49-F238E27FC236}">
                  <a16:creationId xmlns="" xmlns:a16="http://schemas.microsoft.com/office/drawing/2014/main" id="{69673907-73D7-4729-A911-9BD078EC2EE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7" name="Freeform 42">
              <a:extLst>
                <a:ext uri="{FF2B5EF4-FFF2-40B4-BE49-F238E27FC236}">
                  <a16:creationId xmlns="" xmlns:a16="http://schemas.microsoft.com/office/drawing/2014/main" id="{4DC844D3-8053-4EE7-A286-50157B6FD86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8" name="Freeform 43">
              <a:extLst>
                <a:ext uri="{FF2B5EF4-FFF2-40B4-BE49-F238E27FC236}">
                  <a16:creationId xmlns="" xmlns:a16="http://schemas.microsoft.com/office/drawing/2014/main" id="{D67575A0-A45A-4773-874C-16370E3670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9" name="Freeform 44">
              <a:extLst>
                <a:ext uri="{FF2B5EF4-FFF2-40B4-BE49-F238E27FC236}">
                  <a16:creationId xmlns="" xmlns:a16="http://schemas.microsoft.com/office/drawing/2014/main" id="{4327252B-B62B-4DE0-A924-B7F6E40AD96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0" name="Rectangle 45">
              <a:extLst>
                <a:ext uri="{FF2B5EF4-FFF2-40B4-BE49-F238E27FC236}">
                  <a16:creationId xmlns="" xmlns:a16="http://schemas.microsoft.com/office/drawing/2014/main" id="{778BC6A7-AC19-497B-A7C6-E447B2EBDAB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1" name="Freeform 46">
              <a:extLst>
                <a:ext uri="{FF2B5EF4-FFF2-40B4-BE49-F238E27FC236}">
                  <a16:creationId xmlns="" xmlns:a16="http://schemas.microsoft.com/office/drawing/2014/main" id="{4E79A87B-BF1F-437A-9FED-BE93025E502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2" name="Freeform 47">
              <a:extLst>
                <a:ext uri="{FF2B5EF4-FFF2-40B4-BE49-F238E27FC236}">
                  <a16:creationId xmlns="" xmlns:a16="http://schemas.microsoft.com/office/drawing/2014/main" id="{DFAAF3CC-B4E0-45C8-AC2D-EF0D6D823D1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3" name="Freeform 48">
              <a:extLst>
                <a:ext uri="{FF2B5EF4-FFF2-40B4-BE49-F238E27FC236}">
                  <a16:creationId xmlns="" xmlns:a16="http://schemas.microsoft.com/office/drawing/2014/main" id="{A5A12C87-1E4A-4664-B2F4-A1C8B656F9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4" name="Freeform 49">
              <a:extLst>
                <a:ext uri="{FF2B5EF4-FFF2-40B4-BE49-F238E27FC236}">
                  <a16:creationId xmlns="" xmlns:a16="http://schemas.microsoft.com/office/drawing/2014/main" id="{B3AF8230-4630-4505-ADDB-16A9B6B3772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5" name="Freeform 50">
              <a:extLst>
                <a:ext uri="{FF2B5EF4-FFF2-40B4-BE49-F238E27FC236}">
                  <a16:creationId xmlns="" xmlns:a16="http://schemas.microsoft.com/office/drawing/2014/main" id="{33F93F6D-724D-42F3-AF1D-3081EAB5D1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6" name="Freeform 51">
              <a:extLst>
                <a:ext uri="{FF2B5EF4-FFF2-40B4-BE49-F238E27FC236}">
                  <a16:creationId xmlns="" xmlns:a16="http://schemas.microsoft.com/office/drawing/2014/main" id="{F5DD7A8F-FB67-4E79-80DB-0FAF3A09894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7" name="Freeform 52">
              <a:extLst>
                <a:ext uri="{FF2B5EF4-FFF2-40B4-BE49-F238E27FC236}">
                  <a16:creationId xmlns="" xmlns:a16="http://schemas.microsoft.com/office/drawing/2014/main" id="{7B140A84-E89E-4A80-9DF8-7BCA45F908D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8" name="Freeform 53">
              <a:extLst>
                <a:ext uri="{FF2B5EF4-FFF2-40B4-BE49-F238E27FC236}">
                  <a16:creationId xmlns="" xmlns:a16="http://schemas.microsoft.com/office/drawing/2014/main" id="{279E1D6A-EFE2-44C6-A5BF-DFADF0DC91D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9" name="Freeform 54">
              <a:extLst>
                <a:ext uri="{FF2B5EF4-FFF2-40B4-BE49-F238E27FC236}">
                  <a16:creationId xmlns="" xmlns:a16="http://schemas.microsoft.com/office/drawing/2014/main" id="{C9FA2204-561F-4ABB-988C-03053820F1D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0" name="Freeform 55">
              <a:extLst>
                <a:ext uri="{FF2B5EF4-FFF2-40B4-BE49-F238E27FC236}">
                  <a16:creationId xmlns="" xmlns:a16="http://schemas.microsoft.com/office/drawing/2014/main" id="{8BD7D04E-AC0A-424F-BC40-28842DAFFAC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1" name="Freeform 56">
              <a:extLst>
                <a:ext uri="{FF2B5EF4-FFF2-40B4-BE49-F238E27FC236}">
                  <a16:creationId xmlns="" xmlns:a16="http://schemas.microsoft.com/office/drawing/2014/main" id="{32B616A2-FE09-47DD-B58C-12EE58B7CA5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2" name="Freeform 57">
              <a:extLst>
                <a:ext uri="{FF2B5EF4-FFF2-40B4-BE49-F238E27FC236}">
                  <a16:creationId xmlns="" xmlns:a16="http://schemas.microsoft.com/office/drawing/2014/main" id="{08C5EAF5-6064-484E-BA05-80D09D84EAB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3" name="Freeform 58">
              <a:extLst>
                <a:ext uri="{FF2B5EF4-FFF2-40B4-BE49-F238E27FC236}">
                  <a16:creationId xmlns="" xmlns:a16="http://schemas.microsoft.com/office/drawing/2014/main" id="{F11D90DF-D275-4725-884C-77E5E01D89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="" xmlns:a16="http://schemas.microsoft.com/office/drawing/2014/main" id="{9BE10567-6165-46A7-867D-4690A16B46D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66" name="Rectangle 65">
              <a:extLst>
                <a:ext uri="{FF2B5EF4-FFF2-40B4-BE49-F238E27FC236}">
                  <a16:creationId xmlns="" xmlns:a16="http://schemas.microsoft.com/office/drawing/2014/main" id="{0F4DB1F4-429C-4C85-85D7-C4D81996D3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pic>
          <p:nvPicPr>
            <p:cNvPr id="133" name="Picture 2">
              <a:extLst>
                <a:ext uri="{FF2B5EF4-FFF2-40B4-BE49-F238E27FC236}">
                  <a16:creationId xmlns="" xmlns:a16="http://schemas.microsoft.com/office/drawing/2014/main" id="{159C0DA6-71D9-4C96-A774-7FADF5E0A4C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PicPr>
          <p:blipFill>
            <a:blip r:embed="rId2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4" name="Round Diagonal Corner Rectangle 7">
            <a:extLst>
              <a:ext uri="{FF2B5EF4-FFF2-40B4-BE49-F238E27FC236}">
                <a16:creationId xmlns="" xmlns:a16="http://schemas.microsoft.com/office/drawing/2014/main" id="{4B24F6DB-F114-44A7-BB56-D401884E4E7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2582333" y="2235200"/>
            <a:ext cx="7027334" cy="2396067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grpSp>
        <p:nvGrpSpPr>
          <p:cNvPr id="135" name="Group 134">
            <a:extLst>
              <a:ext uri="{FF2B5EF4-FFF2-40B4-BE49-F238E27FC236}">
                <a16:creationId xmlns="" xmlns:a16="http://schemas.microsoft.com/office/drawing/2014/main" id="{4DB50ECD-225E-4F81-AF7B-706DD05F3B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605895" y="2900097"/>
            <a:ext cx="10982062" cy="1211524"/>
            <a:chOff x="605895" y="2900097"/>
            <a:chExt cx="10982062" cy="1211524"/>
          </a:xfrm>
          <a:effectLst/>
        </p:grpSpPr>
        <p:sp>
          <p:nvSpPr>
            <p:cNvPr id="72" name="Freeform 32">
              <a:extLst>
                <a:ext uri="{FF2B5EF4-FFF2-40B4-BE49-F238E27FC236}">
                  <a16:creationId xmlns="" xmlns:a16="http://schemas.microsoft.com/office/drawing/2014/main" id="{CBC3B006-1357-4969-BC3D-CDD91E492B4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9653587" y="33797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3" name="Freeform 33">
              <a:extLst>
                <a:ext uri="{FF2B5EF4-FFF2-40B4-BE49-F238E27FC236}">
                  <a16:creationId xmlns="" xmlns:a16="http://schemas.microsoft.com/office/drawing/2014/main" id="{0D6E4F1D-B331-41B5-90EF-2236C1EE15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078244" y="33107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4" name="Freeform 34">
              <a:extLst>
                <a:ext uri="{FF2B5EF4-FFF2-40B4-BE49-F238E27FC236}">
                  <a16:creationId xmlns="" xmlns:a16="http://schemas.microsoft.com/office/drawing/2014/main" id="{54A60014-21DF-44E5-9137-43357188501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1146631" y="35742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5" name="Freeform 37">
              <a:extLst>
                <a:ext uri="{FF2B5EF4-FFF2-40B4-BE49-F238E27FC236}">
                  <a16:creationId xmlns="" xmlns:a16="http://schemas.microsoft.com/office/drawing/2014/main" id="{40B768C0-B003-45F4-9A06-EA3509A90BD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230644" y="30345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6" name="Freeform 35">
              <a:extLst>
                <a:ext uri="{FF2B5EF4-FFF2-40B4-BE49-F238E27FC236}">
                  <a16:creationId xmlns="" xmlns:a16="http://schemas.microsoft.com/office/drawing/2014/main" id="{5E479182-2054-4AD9-823D-81CFAD7F2C7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034587" y="25627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7" name="Freeform 36">
              <a:extLst>
                <a:ext uri="{FF2B5EF4-FFF2-40B4-BE49-F238E27FC236}">
                  <a16:creationId xmlns="" xmlns:a16="http://schemas.microsoft.com/office/drawing/2014/main" id="{A7D912CF-756A-41F1-8BF1-5BA7D1BD052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747375" y="32326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8" name="Freeform 38">
              <a:extLst>
                <a:ext uri="{FF2B5EF4-FFF2-40B4-BE49-F238E27FC236}">
                  <a16:creationId xmlns="" xmlns:a16="http://schemas.microsoft.com/office/drawing/2014/main" id="{734B6F35-2160-44B1-AB00-F628C84B14F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1399044" y="30953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9" name="Freeform 39">
              <a:extLst>
                <a:ext uri="{FF2B5EF4-FFF2-40B4-BE49-F238E27FC236}">
                  <a16:creationId xmlns="" xmlns:a16="http://schemas.microsoft.com/office/drawing/2014/main" id="{D8657E76-4F63-44FE-86C5-54CA174FCB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353675" y="21531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0" name="Freeform 40">
              <a:extLst>
                <a:ext uri="{FF2B5EF4-FFF2-40B4-BE49-F238E27FC236}">
                  <a16:creationId xmlns="" xmlns:a16="http://schemas.microsoft.com/office/drawing/2014/main" id="{482CEB8C-90E5-4152-8B52-A2881B98A3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848850" y="33088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1" name="Rectangle 41">
              <a:extLst>
                <a:ext uri="{FF2B5EF4-FFF2-40B4-BE49-F238E27FC236}">
                  <a16:creationId xmlns="" xmlns:a16="http://schemas.microsoft.com/office/drawing/2014/main" id="{85010FC2-BC4C-4692-876D-7FE363BFC6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721056" y="32842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2" name="Freeform 32">
              <a:extLst>
                <a:ext uri="{FF2B5EF4-FFF2-40B4-BE49-F238E27FC236}">
                  <a16:creationId xmlns="" xmlns:a16="http://schemas.microsoft.com/office/drawing/2014/main" id="{714C1223-2B78-4715-9ACB-079A60D16D3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2122751" y="35321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3" name="Freeform 33">
              <a:extLst>
                <a:ext uri="{FF2B5EF4-FFF2-40B4-BE49-F238E27FC236}">
                  <a16:creationId xmlns="" xmlns:a16="http://schemas.microsoft.com/office/drawing/2014/main" id="{1D9109D3-C92A-410B-9B43-5F02B2D84EE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958445" y="34631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4" name="Freeform 34">
              <a:extLst>
                <a:ext uri="{FF2B5EF4-FFF2-40B4-BE49-F238E27FC236}">
                  <a16:creationId xmlns="" xmlns:a16="http://schemas.microsoft.com/office/drawing/2014/main" id="{EF5B327A-A1AE-42F3-815E-84F4AA2948C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858308" y="37266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5" name="Freeform 37">
              <a:extLst>
                <a:ext uri="{FF2B5EF4-FFF2-40B4-BE49-F238E27FC236}">
                  <a16:creationId xmlns="" xmlns:a16="http://schemas.microsoft.com/office/drawing/2014/main" id="{77738BDE-751F-4D4C-B4C4-C9DF3EA291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658407" y="31869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6" name="Freeform 35">
              <a:extLst>
                <a:ext uri="{FF2B5EF4-FFF2-40B4-BE49-F238E27FC236}">
                  <a16:creationId xmlns="" xmlns:a16="http://schemas.microsoft.com/office/drawing/2014/main" id="{9C8C4AD6-72BF-490C-963C-97C7FD7E7EA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860814" y="27151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7" name="Freeform 36">
              <a:extLst>
                <a:ext uri="{FF2B5EF4-FFF2-40B4-BE49-F238E27FC236}">
                  <a16:creationId xmlns="" xmlns:a16="http://schemas.microsoft.com/office/drawing/2014/main" id="{94990E31-5AA8-4502-A963-CE1B539DAC4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289314" y="33850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8" name="Freeform 38">
              <a:extLst>
                <a:ext uri="{FF2B5EF4-FFF2-40B4-BE49-F238E27FC236}">
                  <a16:creationId xmlns="" xmlns:a16="http://schemas.microsoft.com/office/drawing/2014/main" id="{9E703E9D-ED76-449C-A8C0-7A1E24B8B27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605895" y="32477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9" name="Freeform 39">
              <a:extLst>
                <a:ext uri="{FF2B5EF4-FFF2-40B4-BE49-F238E27FC236}">
                  <a16:creationId xmlns="" xmlns:a16="http://schemas.microsoft.com/office/drawing/2014/main" id="{C70A75E8-C815-4CCF-ABEE-83F19BFE051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532202" y="23055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0" name="Freeform 40">
              <a:extLst>
                <a:ext uri="{FF2B5EF4-FFF2-40B4-BE49-F238E27FC236}">
                  <a16:creationId xmlns="" xmlns:a16="http://schemas.microsoft.com/office/drawing/2014/main" id="{E15638E1-6A92-4D31-A034-853A65A754E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154501" y="34612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1" name="Rectangle 41">
              <a:extLst>
                <a:ext uri="{FF2B5EF4-FFF2-40B4-BE49-F238E27FC236}">
                  <a16:creationId xmlns="" xmlns:a16="http://schemas.microsoft.com/office/drawing/2014/main" id="{EA3E8D58-D52B-4300-8A50-5696430D1A6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448983" y="34366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0954A3-DCC4-4BD2-A464-B45BBF745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7570" y="2199204"/>
            <a:ext cx="6919782" cy="186213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b="1" dirty="0">
                <a:latin typeface="Times New Roman"/>
                <a:cs typeface="Times New Roman"/>
              </a:rPr>
              <a:t>Ethernet UVM </a:t>
            </a:r>
            <a:r>
              <a:rPr lang="en-US" sz="4000" b="1" dirty="0" smtClean="0">
                <a:latin typeface="Times New Roman"/>
                <a:cs typeface="Times New Roman"/>
              </a:rPr>
              <a:t>Architecture</a:t>
            </a:r>
            <a:endParaRPr lang="en" sz="4000" b="1" dirty="0">
              <a:ln w="0"/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9369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0524" y="309732"/>
            <a:ext cx="10561060" cy="1478570"/>
          </a:xfrm>
        </p:spPr>
        <p:txBody>
          <a:bodyPr>
            <a:normAutofit/>
          </a:bodyPr>
          <a:lstStyle/>
          <a:p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</a:t>
            </a:r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UVM Architecture</a:t>
            </a:r>
            <a:b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2483" y="1488731"/>
            <a:ext cx="10705427" cy="73195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 smtClean="0"/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644" y="1240324"/>
            <a:ext cx="8346712" cy="554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16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Interfaces</a:t>
            </a:r>
            <a:endParaRPr lang="en-US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708" y="1825653"/>
            <a:ext cx="9784928" cy="379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653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</a:t>
            </a:r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UVM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r>
              <a:rPr lang="en-US" dirty="0"/>
              <a:t>Runs from the test. </a:t>
            </a:r>
          </a:p>
          <a:p>
            <a:r>
              <a:rPr lang="en-US" dirty="0"/>
              <a:t>Controls multiple agents at the same time. </a:t>
            </a:r>
          </a:p>
          <a:p>
            <a:r>
              <a:rPr lang="en-US" dirty="0"/>
              <a:t>Starts sequences on different sequencers in the required order. 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5174311" cy="354171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r>
              <a:rPr lang="en-US" dirty="0" smtClean="0"/>
              <a:t>Stores </a:t>
            </a:r>
            <a:r>
              <a:rPr lang="en-US" dirty="0"/>
              <a:t>handles </a:t>
            </a:r>
            <a:r>
              <a:rPr lang="en-US" dirty="0" smtClean="0"/>
              <a:t>to every </a:t>
            </a:r>
            <a:r>
              <a:rPr lang="en-US" dirty="0"/>
              <a:t>agent's real sequencers: </a:t>
            </a:r>
          </a:p>
          <a:p>
            <a:r>
              <a:rPr lang="en-US" dirty="0"/>
              <a:t>The virtual sequence runs on the virtual sequencer and starts sequences on the correct real sequencer.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1175606" y="2260224"/>
            <a:ext cx="7205069" cy="731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 Virtual </a:t>
            </a:r>
            <a:r>
              <a:rPr lang="en-US" b="1" dirty="0"/>
              <a:t>Sequence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6186252" y="2260223"/>
            <a:ext cx="4644749" cy="731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 Virtual Sequencer</a:t>
            </a:r>
            <a:endParaRPr lang="en-US" b="1" dirty="0"/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8758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UVM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4189" y="2260224"/>
            <a:ext cx="4878389" cy="3541714"/>
          </a:xfrm>
        </p:spPr>
        <p:txBody>
          <a:bodyPr>
            <a:normAutofit fontScale="92500" lnSpcReduction="20000"/>
          </a:bodyPr>
          <a:lstStyle/>
          <a:p>
            <a:endParaRPr lang="en-US" dirty="0" smtClean="0"/>
          </a:p>
          <a:p>
            <a:r>
              <a:rPr lang="en-US" dirty="0" smtClean="0"/>
              <a:t>Models </a:t>
            </a:r>
            <a:r>
              <a:rPr lang="en-US" dirty="0"/>
              <a:t>the external </a:t>
            </a:r>
            <a:r>
              <a:rPr lang="en-US" dirty="0" smtClean="0"/>
              <a:t>memory that </a:t>
            </a:r>
            <a:r>
              <a:rPr lang="en-US" dirty="0"/>
              <a:t>the DUT accesses via its WISHBONE master port. </a:t>
            </a:r>
            <a:endParaRPr lang="en-US" dirty="0" smtClean="0"/>
          </a:p>
          <a:p>
            <a:r>
              <a:rPr lang="en-US" dirty="0" smtClean="0"/>
              <a:t>The </a:t>
            </a:r>
            <a:r>
              <a:rPr lang="en-US" dirty="0"/>
              <a:t>DUT initiates every </a:t>
            </a:r>
            <a:r>
              <a:rPr lang="en-US" dirty="0" smtClean="0"/>
              <a:t>transaction. 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47129" y="2260223"/>
            <a:ext cx="5214068" cy="3541714"/>
          </a:xfrm>
        </p:spPr>
        <p:txBody>
          <a:bodyPr>
            <a:normAutofit fontScale="92500" lnSpcReduction="20000"/>
          </a:bodyPr>
          <a:lstStyle/>
          <a:p>
            <a:endParaRPr lang="en-US" b="1" dirty="0"/>
          </a:p>
          <a:p>
            <a:r>
              <a:rPr lang="en-US" dirty="0" smtClean="0"/>
              <a:t>Models </a:t>
            </a:r>
            <a:r>
              <a:rPr lang="en-US" dirty="0"/>
              <a:t>the host processor (RISC/CPU) that configures the MAC. </a:t>
            </a:r>
            <a:endParaRPr lang="en-US" dirty="0" smtClean="0"/>
          </a:p>
          <a:p>
            <a:pPr lvl="0"/>
            <a:r>
              <a:rPr lang="en-US" dirty="0" smtClean="0"/>
              <a:t>Writes </a:t>
            </a:r>
            <a:r>
              <a:rPr lang="en-US" dirty="0"/>
              <a:t>configuration registers </a:t>
            </a:r>
            <a:endParaRPr lang="en-US" dirty="0" smtClean="0"/>
          </a:p>
          <a:p>
            <a:pPr lvl="0"/>
            <a:r>
              <a:rPr lang="en-US" dirty="0" smtClean="0"/>
              <a:t>Reads </a:t>
            </a:r>
            <a:r>
              <a:rPr lang="en-US" dirty="0"/>
              <a:t>status registers </a:t>
            </a:r>
            <a:r>
              <a:rPr lang="en-US" dirty="0" smtClean="0"/>
              <a:t>(as INT_SOURCE</a:t>
            </a:r>
            <a:r>
              <a:rPr lang="en-US" dirty="0"/>
              <a:t>)</a:t>
            </a:r>
            <a:r>
              <a:rPr lang="en-US" dirty="0" smtClean="0"/>
              <a:t> </a:t>
            </a:r>
          </a:p>
          <a:p>
            <a:pPr lvl="0"/>
            <a:r>
              <a:rPr lang="en-US" dirty="0" smtClean="0"/>
              <a:t>Reads/writes </a:t>
            </a:r>
            <a:r>
              <a:rPr lang="en-US" dirty="0"/>
              <a:t>Buffer Descriptors in internal RAM </a:t>
            </a:r>
            <a:endParaRPr lang="en-US" dirty="0" smtClean="0"/>
          </a:p>
          <a:p>
            <a:pPr lvl="0"/>
            <a:r>
              <a:rPr lang="en-US" dirty="0" smtClean="0"/>
              <a:t>The </a:t>
            </a:r>
            <a:r>
              <a:rPr lang="en-US" dirty="0" err="1"/>
              <a:t>testbench</a:t>
            </a:r>
            <a:r>
              <a:rPr lang="en-US" dirty="0"/>
              <a:t> initiates </a:t>
            </a:r>
            <a:r>
              <a:rPr lang="en-US" dirty="0" smtClean="0"/>
              <a:t>all transactions.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929116" y="2260223"/>
            <a:ext cx="5479636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Wishbone Master Agent — Reactive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6241913" y="2260223"/>
            <a:ext cx="5479636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6000" b="1" dirty="0"/>
              <a:t> Wishbone Slave Agent — Active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9600" b="1" dirty="0"/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31093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UVM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29484" y="2657078"/>
            <a:ext cx="4878389" cy="354171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Simulates the </a:t>
            </a:r>
            <a:r>
              <a:rPr lang="en-US" b="1" dirty="0"/>
              <a:t>Ethernet PHY </a:t>
            </a:r>
            <a:r>
              <a:rPr lang="en-US" b="1" dirty="0" smtClean="0"/>
              <a:t>receiver </a:t>
            </a:r>
            <a:r>
              <a:rPr lang="en-US" b="1" dirty="0"/>
              <a:t>interface</a:t>
            </a:r>
            <a:r>
              <a:rPr lang="en-US" dirty="0"/>
              <a:t>. </a:t>
            </a:r>
            <a:endParaRPr lang="en-US" dirty="0" smtClean="0"/>
          </a:p>
          <a:p>
            <a:r>
              <a:rPr lang="en-US" dirty="0" smtClean="0"/>
              <a:t>Sends </a:t>
            </a:r>
            <a:r>
              <a:rPr lang="en-US" dirty="0"/>
              <a:t>Ethernet frames to the DUT through the MII RX interface. </a:t>
            </a:r>
            <a:endParaRPr lang="en-US" dirty="0" smtClean="0"/>
          </a:p>
          <a:p>
            <a:r>
              <a:rPr lang="en-US" dirty="0" smtClean="0"/>
              <a:t>Used </a:t>
            </a:r>
            <a:r>
              <a:rPr lang="en-US" dirty="0"/>
              <a:t>to verify the MAC receiver functionality. </a:t>
            </a:r>
            <a:endParaRPr lang="en-US" b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8193" y="2286780"/>
            <a:ext cx="5214068" cy="354171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Simulates </a:t>
            </a:r>
            <a:r>
              <a:rPr lang="en-US" dirty="0"/>
              <a:t>the </a:t>
            </a:r>
            <a:r>
              <a:rPr lang="en-US" b="1" dirty="0"/>
              <a:t>Ethernet PHY </a:t>
            </a:r>
            <a:r>
              <a:rPr lang="en-US" b="1" dirty="0" smtClean="0"/>
              <a:t>transmitter </a:t>
            </a:r>
            <a:r>
              <a:rPr lang="en-US" b="1" dirty="0"/>
              <a:t>interface</a:t>
            </a:r>
            <a:r>
              <a:rPr lang="en-US" dirty="0"/>
              <a:t>. </a:t>
            </a:r>
            <a:endParaRPr lang="en-US" dirty="0" smtClean="0"/>
          </a:p>
          <a:p>
            <a:r>
              <a:rPr lang="en-US" dirty="0" smtClean="0"/>
              <a:t>Includes </a:t>
            </a:r>
            <a:r>
              <a:rPr lang="en-US" dirty="0"/>
              <a:t>a monitor to capture transmitted frames by the DUT </a:t>
            </a:r>
            <a:r>
              <a:rPr lang="en-US" dirty="0" smtClean="0"/>
              <a:t>and </a:t>
            </a:r>
            <a:r>
              <a:rPr lang="en-US" dirty="0"/>
              <a:t>interface signals. </a:t>
            </a:r>
            <a:endParaRPr lang="en-US" dirty="0" smtClean="0"/>
          </a:p>
          <a:p>
            <a:r>
              <a:rPr lang="en-US" dirty="0" smtClean="0"/>
              <a:t>Can </a:t>
            </a:r>
            <a:r>
              <a:rPr lang="en-US" dirty="0"/>
              <a:t>inject PHY events such as: 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   - Collision </a:t>
            </a:r>
            <a:r>
              <a:rPr lang="en-US" dirty="0"/>
              <a:t>(</a:t>
            </a:r>
            <a:r>
              <a:rPr lang="en-US" dirty="0" err="1"/>
              <a:t>MColl</a:t>
            </a:r>
            <a:r>
              <a:rPr lang="en-US" dirty="0"/>
              <a:t>) </a:t>
            </a:r>
          </a:p>
          <a:p>
            <a:pPr marL="0" indent="0">
              <a:buNone/>
            </a:pPr>
            <a:r>
              <a:rPr lang="en-US" dirty="0" smtClean="0"/>
              <a:t>   - Carrier </a:t>
            </a:r>
            <a:r>
              <a:rPr lang="en-US" dirty="0"/>
              <a:t>Sense (</a:t>
            </a:r>
            <a:r>
              <a:rPr lang="en-US" dirty="0" err="1"/>
              <a:t>MCrS</a:t>
            </a:r>
            <a:r>
              <a:rPr lang="en-US" dirty="0"/>
              <a:t>) </a:t>
            </a:r>
          </a:p>
          <a:p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6431416" y="2032120"/>
            <a:ext cx="4024547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</a:t>
            </a:r>
            <a:r>
              <a:rPr lang="en-US" sz="9600" b="1" dirty="0" smtClean="0"/>
              <a:t>MII </a:t>
            </a:r>
            <a:r>
              <a:rPr lang="en-US" sz="9600" b="1" dirty="0"/>
              <a:t>Rx Agent — </a:t>
            </a:r>
            <a:r>
              <a:rPr lang="en-US" sz="9600" b="1" dirty="0" smtClean="0"/>
              <a:t>Active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812497" y="2103683"/>
            <a:ext cx="3823113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</a:t>
            </a:r>
            <a:r>
              <a:rPr lang="en-US" sz="9600" b="1" dirty="0" smtClean="0"/>
              <a:t>MII </a:t>
            </a:r>
            <a:r>
              <a:rPr lang="en-US" sz="9600" b="1" dirty="0" err="1" smtClean="0"/>
              <a:t>Tx</a:t>
            </a:r>
            <a:r>
              <a:rPr lang="en-US" sz="9600" b="1" dirty="0" smtClean="0"/>
              <a:t> </a:t>
            </a:r>
            <a:r>
              <a:rPr lang="en-US" sz="9600" b="1" dirty="0"/>
              <a:t>Agent — Active </a:t>
            </a:r>
            <a:endParaRPr lang="en-US" sz="9600" b="1" dirty="0" smtClean="0"/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78243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592347"/>
            <a:ext cx="9905998" cy="1478570"/>
          </a:xfrm>
        </p:spPr>
        <p:txBody>
          <a:bodyPr/>
          <a:lstStyle/>
          <a:p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UVM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70001" y="2217681"/>
            <a:ext cx="4878389" cy="3541714"/>
          </a:xfrm>
        </p:spPr>
        <p:txBody>
          <a:bodyPr>
            <a:normAutofit/>
          </a:bodyPr>
          <a:lstStyle/>
          <a:p>
            <a:endParaRPr lang="en-US" dirty="0" smtClean="0"/>
          </a:p>
          <a:p>
            <a:r>
              <a:rPr lang="en-US" dirty="0" smtClean="0"/>
              <a:t>Controls </a:t>
            </a:r>
            <a:r>
              <a:rPr lang="en-US" dirty="0"/>
              <a:t>the RST_I signal to the DUT independently of any </a:t>
            </a:r>
            <a:r>
              <a:rPr lang="en-US" dirty="0" smtClean="0"/>
              <a:t>other sequence</a:t>
            </a:r>
            <a:r>
              <a:rPr lang="en-US" dirty="0"/>
              <a:t>. </a:t>
            </a:r>
            <a:endParaRPr lang="en-US" dirty="0" smtClean="0"/>
          </a:p>
          <a:p>
            <a:r>
              <a:rPr lang="en-US" dirty="0"/>
              <a:t>D</a:t>
            </a:r>
            <a:r>
              <a:rPr lang="en-US" dirty="0" smtClean="0"/>
              <a:t>rives </a:t>
            </a:r>
            <a:r>
              <a:rPr lang="en-US" dirty="0"/>
              <a:t>RST_I high/low for programmable </a:t>
            </a:r>
            <a:r>
              <a:rPr lang="en-US" dirty="0" smtClean="0"/>
              <a:t>durations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9267" y="2535733"/>
            <a:ext cx="4875211" cy="3541714"/>
          </a:xfrm>
        </p:spPr>
        <p:txBody>
          <a:bodyPr>
            <a:normAutofit/>
          </a:bodyPr>
          <a:lstStyle/>
          <a:p>
            <a:r>
              <a:rPr lang="en-US" dirty="0" smtClean="0"/>
              <a:t>Models </a:t>
            </a:r>
            <a:r>
              <a:rPr lang="en-US" dirty="0"/>
              <a:t>the PHY chip on the MDIO management interface. </a:t>
            </a:r>
            <a:endParaRPr lang="en-US" dirty="0" smtClean="0"/>
          </a:p>
          <a:p>
            <a:r>
              <a:rPr lang="en-US" dirty="0"/>
              <a:t>I</a:t>
            </a:r>
            <a:r>
              <a:rPr lang="en-US" dirty="0" smtClean="0"/>
              <a:t>nitiates </a:t>
            </a:r>
            <a:r>
              <a:rPr lang="en-US" dirty="0"/>
              <a:t>all </a:t>
            </a:r>
            <a:r>
              <a:rPr lang="en-US" dirty="0" smtClean="0"/>
              <a:t>MII management </a:t>
            </a:r>
            <a:r>
              <a:rPr lang="en-US" dirty="0"/>
              <a:t>transactions </a:t>
            </a:r>
            <a:r>
              <a:rPr lang="en-US" dirty="0" smtClean="0"/>
              <a:t>for </a:t>
            </a:r>
            <a:r>
              <a:rPr lang="en-US" dirty="0"/>
              <a:t>configuration and status read of the physical device</a:t>
            </a:r>
            <a:r>
              <a:rPr lang="en-US" dirty="0" smtClean="0"/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812497" y="2103683"/>
            <a:ext cx="3823113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MDIO Agent </a:t>
            </a:r>
            <a:r>
              <a:rPr lang="en-US" sz="9600" b="1" dirty="0" smtClean="0"/>
              <a:t>—Active </a:t>
            </a:r>
            <a:endParaRPr lang="en-US" sz="9600" b="1" dirty="0"/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6395637" y="2114086"/>
            <a:ext cx="3823113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Reset Agent — Active</a:t>
            </a:r>
          </a:p>
          <a:p>
            <a:pPr marL="0" indent="0">
              <a:buNone/>
            </a:pPr>
            <a:endParaRPr lang="en-US" sz="9600" b="1" dirty="0"/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974424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UVM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 smtClean="0"/>
              <a:t>Register Abstraction Layer </a:t>
            </a:r>
            <a:r>
              <a:rPr lang="en-US" b="1" dirty="0"/>
              <a:t>(RAL</a:t>
            </a:r>
            <a:r>
              <a:rPr lang="en-US" b="1" dirty="0" smtClean="0"/>
              <a:t>)</a:t>
            </a:r>
          </a:p>
          <a:p>
            <a:r>
              <a:rPr lang="en-US" sz="2000" dirty="0"/>
              <a:t>RAL provides an easy and organized way to access and verify DUT </a:t>
            </a:r>
            <a:r>
              <a:rPr lang="en-US" sz="2000" dirty="0" smtClean="0"/>
              <a:t>registers and buffer descriptors.</a:t>
            </a:r>
            <a:endParaRPr lang="en-US" sz="2000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042" b="40778"/>
          <a:stretch/>
        </p:blipFill>
        <p:spPr>
          <a:xfrm>
            <a:off x="6018292" y="2169357"/>
            <a:ext cx="5026936" cy="3642967"/>
          </a:xfrm>
        </p:spPr>
      </p:pic>
    </p:spTree>
    <p:extLst>
      <p:ext uri="{BB962C8B-B14F-4D97-AF65-F5344CB8AC3E}">
        <p14:creationId xmlns:p14="http://schemas.microsoft.com/office/powerpoint/2010/main" val="1599882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214" y="625113"/>
            <a:ext cx="9905998" cy="1478570"/>
          </a:xfrm>
        </p:spPr>
        <p:txBody>
          <a:bodyPr/>
          <a:lstStyle/>
          <a:p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UVM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3316" y="2249486"/>
            <a:ext cx="8098006" cy="354171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 smtClean="0"/>
              <a:t>Checks that the DUT behaves correctly. </a:t>
            </a:r>
            <a:endParaRPr lang="en-US" dirty="0"/>
          </a:p>
          <a:p>
            <a:r>
              <a:rPr lang="en-US" dirty="0"/>
              <a:t>Receives data from the monitors. </a:t>
            </a:r>
          </a:p>
          <a:p>
            <a:r>
              <a:rPr lang="en-US" dirty="0"/>
              <a:t>Predicts the expected results based on the test configuration. </a:t>
            </a:r>
          </a:p>
          <a:p>
            <a:r>
              <a:rPr lang="en-US" dirty="0"/>
              <a:t>Compares the expected results with the actual DUT outputs. </a:t>
            </a:r>
          </a:p>
          <a:p>
            <a:r>
              <a:rPr lang="en-US" dirty="0"/>
              <a:t>Reports an error if there is any mismatch.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1178257" y="2103682"/>
            <a:ext cx="2296463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</a:t>
            </a:r>
            <a:r>
              <a:rPr lang="en-US" sz="9600" b="1" dirty="0" smtClean="0"/>
              <a:t>Scoreboard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12018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UVM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8256" y="2256082"/>
            <a:ext cx="4878389" cy="3541714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Transmitted packet contents </a:t>
            </a:r>
          </a:p>
          <a:p>
            <a:r>
              <a:rPr lang="en-US" dirty="0"/>
              <a:t>Frame length  </a:t>
            </a:r>
            <a:r>
              <a:rPr lang="en-US" dirty="0" smtClean="0"/>
              <a:t>, CRC and Padding  </a:t>
            </a:r>
            <a:endParaRPr lang="en-US" dirty="0"/>
          </a:p>
          <a:p>
            <a:r>
              <a:rPr lang="en-US" dirty="0"/>
              <a:t>Buffer Descriptor (BD) status </a:t>
            </a:r>
          </a:p>
          <a:p>
            <a:r>
              <a:rPr lang="en-US" dirty="0"/>
              <a:t>Collision handling </a:t>
            </a:r>
          </a:p>
          <a:p>
            <a:r>
              <a:rPr lang="en-US" dirty="0"/>
              <a:t>JAM sequence </a:t>
            </a:r>
          </a:p>
          <a:p>
            <a:r>
              <a:rPr lang="en-US" dirty="0"/>
              <a:t>Retry count and retry limit </a:t>
            </a:r>
          </a:p>
          <a:p>
            <a:r>
              <a:rPr lang="en-US" dirty="0"/>
              <a:t>Interrupt generation </a:t>
            </a:r>
          </a:p>
          <a:p>
            <a:r>
              <a:rPr lang="en-US" dirty="0"/>
              <a:t>Inter-Packet Gap (IPG)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1178256" y="2103682"/>
            <a:ext cx="3759503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</a:t>
            </a:r>
            <a:r>
              <a:rPr lang="en-US" sz="9600" b="1" dirty="0" smtClean="0"/>
              <a:t>TX Scoreboard verifies 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6188903" y="2103682"/>
            <a:ext cx="3759503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R</a:t>
            </a:r>
            <a:r>
              <a:rPr lang="en-US" sz="9600" b="1" dirty="0" smtClean="0"/>
              <a:t>X Scoreboard verifies 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95849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Ethernet UVM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3803" y="2241535"/>
            <a:ext cx="6356670" cy="3541714"/>
          </a:xfrm>
        </p:spPr>
        <p:txBody>
          <a:bodyPr>
            <a:normAutofit fontScale="62500" lnSpcReduction="20000"/>
          </a:bodyPr>
          <a:lstStyle/>
          <a:p>
            <a:pPr>
              <a:buFont typeface="Arial"/>
              <a:buChar char="•"/>
            </a:pPr>
            <a:endParaRPr lang="en-US" dirty="0" smtClean="0"/>
          </a:p>
          <a:p>
            <a:pPr>
              <a:buFont typeface="Arial"/>
              <a:buChar char="•"/>
            </a:pPr>
            <a:r>
              <a:rPr lang="en-US" dirty="0" smtClean="0"/>
              <a:t>Measures </a:t>
            </a:r>
            <a:r>
              <a:rPr lang="en-US" dirty="0"/>
              <a:t>how much of the design has been </a:t>
            </a:r>
            <a:r>
              <a:rPr lang="en-US" dirty="0" smtClean="0"/>
              <a:t>tested</a:t>
            </a:r>
            <a:r>
              <a:rPr lang="en-US" dirty="0"/>
              <a:t> </a:t>
            </a:r>
            <a:r>
              <a:rPr lang="en-US" dirty="0" smtClean="0"/>
              <a:t>from :</a:t>
            </a:r>
            <a:endParaRPr lang="en-US" dirty="0"/>
          </a:p>
          <a:p>
            <a:pPr>
              <a:buFont typeface="Arial"/>
              <a:buChar char="•"/>
            </a:pPr>
            <a:r>
              <a:rPr lang="en-US" dirty="0"/>
              <a:t>Register configurations </a:t>
            </a:r>
          </a:p>
          <a:p>
            <a:pPr>
              <a:buFont typeface="Arial"/>
              <a:buChar char="•"/>
            </a:pPr>
            <a:r>
              <a:rPr lang="en-US" dirty="0"/>
              <a:t>Buffer Descriptor fields </a:t>
            </a:r>
          </a:p>
          <a:p>
            <a:pPr>
              <a:buFont typeface="Arial"/>
              <a:buChar char="•"/>
            </a:pPr>
            <a:r>
              <a:rPr lang="en-US" dirty="0"/>
              <a:t>Packet sizes </a:t>
            </a:r>
          </a:p>
          <a:p>
            <a:pPr>
              <a:buFont typeface="Arial"/>
              <a:buChar char="•"/>
            </a:pPr>
            <a:r>
              <a:rPr lang="en-US" dirty="0"/>
              <a:t>CRC and padding options </a:t>
            </a:r>
          </a:p>
          <a:p>
            <a:pPr>
              <a:buFont typeface="Arial"/>
              <a:buChar char="•"/>
            </a:pPr>
            <a:r>
              <a:rPr lang="en-US" dirty="0"/>
              <a:t>Collision and retry settings </a:t>
            </a:r>
          </a:p>
          <a:p>
            <a:pPr>
              <a:buFont typeface="Arial"/>
              <a:buChar char="•"/>
            </a:pPr>
            <a:r>
              <a:rPr lang="en-US" dirty="0"/>
              <a:t>Interrupts </a:t>
            </a:r>
          </a:p>
          <a:p>
            <a:pPr>
              <a:buFont typeface="Arial"/>
              <a:buChar char="•"/>
            </a:pPr>
            <a:r>
              <a:rPr lang="en-US" dirty="0"/>
              <a:t>Full-duplex and half-duplex modes </a:t>
            </a:r>
          </a:p>
          <a:p>
            <a:pPr>
              <a:buFont typeface="Arial"/>
              <a:buChar char="•"/>
            </a:pPr>
            <a:r>
              <a:rPr lang="en-US" dirty="0"/>
              <a:t>Error conditions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 txBox="1">
            <a:spLocks/>
          </p:cNvSpPr>
          <p:nvPr/>
        </p:nvSpPr>
        <p:spPr>
          <a:xfrm>
            <a:off x="1178257" y="2103682"/>
            <a:ext cx="3155204" cy="73195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9600" b="1" dirty="0"/>
              <a:t> </a:t>
            </a:r>
            <a:r>
              <a:rPr lang="en-US" sz="9600" b="1" dirty="0" smtClean="0"/>
              <a:t>Coverage Collector  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453211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0000">
              <a:schemeClr val="accent3">
                <a:lumMod val="45000"/>
                <a:lumOff val="55000"/>
              </a:schemeClr>
            </a:gs>
            <a:gs pos="66000">
              <a:schemeClr val="accent3">
                <a:alpha val="0"/>
                <a:lumMod val="84000"/>
                <a:lumOff val="16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2">
            <a:extLst>
              <a:ext uri="{FF2B5EF4-FFF2-40B4-BE49-F238E27FC236}">
                <a16:creationId xmlns="" xmlns:a16="http://schemas.microsoft.com/office/drawing/2014/main" id="{9ACD3AF8-B16E-4174-8C1A-41F683C4AF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1" name="Group 130">
            <a:extLst>
              <a:ext uri="{FF2B5EF4-FFF2-40B4-BE49-F238E27FC236}">
                <a16:creationId xmlns="" xmlns:a16="http://schemas.microsoft.com/office/drawing/2014/main" id="{FF5EAD09-B81D-415F-8BCF-73C81AE05F2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" name="Rectangle 5">
              <a:extLst>
                <a:ext uri="{FF2B5EF4-FFF2-40B4-BE49-F238E27FC236}">
                  <a16:creationId xmlns="" xmlns:a16="http://schemas.microsoft.com/office/drawing/2014/main" id="{CFB79010-8ED4-49EF-AFD2-F4D8C80B69B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1" name="Freeform 6">
              <a:extLst>
                <a:ext uri="{FF2B5EF4-FFF2-40B4-BE49-F238E27FC236}">
                  <a16:creationId xmlns="" xmlns:a16="http://schemas.microsoft.com/office/drawing/2014/main" id="{4649B869-006E-42B5-9DDC-21049B130E0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2" name="Freeform 7">
              <a:extLst>
                <a:ext uri="{FF2B5EF4-FFF2-40B4-BE49-F238E27FC236}">
                  <a16:creationId xmlns="" xmlns:a16="http://schemas.microsoft.com/office/drawing/2014/main" id="{443096BD-333F-48B6-8220-D1F9793E40A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3" name="Rectangle 8">
              <a:extLst>
                <a:ext uri="{FF2B5EF4-FFF2-40B4-BE49-F238E27FC236}">
                  <a16:creationId xmlns="" xmlns:a16="http://schemas.microsoft.com/office/drawing/2014/main" id="{1A45BB9A-7E84-4B9B-923A-270A97F8524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4" name="Freeform 9">
              <a:extLst>
                <a:ext uri="{FF2B5EF4-FFF2-40B4-BE49-F238E27FC236}">
                  <a16:creationId xmlns="" xmlns:a16="http://schemas.microsoft.com/office/drawing/2014/main" id="{D7D7C768-2F76-4DE2-A807-1B9FFF816C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5" name="Freeform 10">
              <a:extLst>
                <a:ext uri="{FF2B5EF4-FFF2-40B4-BE49-F238E27FC236}">
                  <a16:creationId xmlns="" xmlns:a16="http://schemas.microsoft.com/office/drawing/2014/main" id="{1870B32E-EE42-470E-B543-CA55AEC8CA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6" name="Freeform 11">
              <a:extLst>
                <a:ext uri="{FF2B5EF4-FFF2-40B4-BE49-F238E27FC236}">
                  <a16:creationId xmlns="" xmlns:a16="http://schemas.microsoft.com/office/drawing/2014/main" id="{EEF09120-11AA-4DB5-98A8-EC4923002C6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7" name="Freeform 12">
              <a:extLst>
                <a:ext uri="{FF2B5EF4-FFF2-40B4-BE49-F238E27FC236}">
                  <a16:creationId xmlns="" xmlns:a16="http://schemas.microsoft.com/office/drawing/2014/main" id="{39CC463D-589C-461C-A234-0460EB06B88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8" name="Freeform 13">
              <a:extLst>
                <a:ext uri="{FF2B5EF4-FFF2-40B4-BE49-F238E27FC236}">
                  <a16:creationId xmlns="" xmlns:a16="http://schemas.microsoft.com/office/drawing/2014/main" id="{B6516153-269A-421E-A021-CB3F3C5E1DA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9" name="Freeform 14">
              <a:extLst>
                <a:ext uri="{FF2B5EF4-FFF2-40B4-BE49-F238E27FC236}">
                  <a16:creationId xmlns="" xmlns:a16="http://schemas.microsoft.com/office/drawing/2014/main" id="{45E14300-6C4A-4F77-915F-F3B25B0237B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0" name="Freeform 15">
              <a:extLst>
                <a:ext uri="{FF2B5EF4-FFF2-40B4-BE49-F238E27FC236}">
                  <a16:creationId xmlns="" xmlns:a16="http://schemas.microsoft.com/office/drawing/2014/main" id="{993E312A-E6A6-4B52-ADE6-618ADC89BA6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1" name="Freeform 16">
              <a:extLst>
                <a:ext uri="{FF2B5EF4-FFF2-40B4-BE49-F238E27FC236}">
                  <a16:creationId xmlns="" xmlns:a16="http://schemas.microsoft.com/office/drawing/2014/main" id="{2F0F3026-2480-472B-8C52-36812C81EF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2" name="Freeform 17">
              <a:extLst>
                <a:ext uri="{FF2B5EF4-FFF2-40B4-BE49-F238E27FC236}">
                  <a16:creationId xmlns="" xmlns:a16="http://schemas.microsoft.com/office/drawing/2014/main" id="{34E1C992-559D-4827-9F30-31A3CA7A2B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3" name="Freeform 18">
              <a:extLst>
                <a:ext uri="{FF2B5EF4-FFF2-40B4-BE49-F238E27FC236}">
                  <a16:creationId xmlns="" xmlns:a16="http://schemas.microsoft.com/office/drawing/2014/main" id="{D9F2FB98-F443-498F-AAD9-69458256813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4" name="Freeform 19">
              <a:extLst>
                <a:ext uri="{FF2B5EF4-FFF2-40B4-BE49-F238E27FC236}">
                  <a16:creationId xmlns="" xmlns:a16="http://schemas.microsoft.com/office/drawing/2014/main" id="{75DBF6EC-ED50-43E4-8A8B-64CE86A880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="" xmlns:a16="http://schemas.microsoft.com/office/drawing/2014/main" id="{FD854F40-AC43-4F21-9C62-2CE35CFD2B1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6" name="Freeform 21">
              <a:extLst>
                <a:ext uri="{FF2B5EF4-FFF2-40B4-BE49-F238E27FC236}">
                  <a16:creationId xmlns="" xmlns:a16="http://schemas.microsoft.com/office/drawing/2014/main" id="{62CCB560-494A-4F74-9DE4-068806A893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7" name="Freeform 22">
              <a:extLst>
                <a:ext uri="{FF2B5EF4-FFF2-40B4-BE49-F238E27FC236}">
                  <a16:creationId xmlns="" xmlns:a16="http://schemas.microsoft.com/office/drawing/2014/main" id="{6F9A05F2-B5D2-4D8A-9A78-14E45C13FEC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8" name="Freeform 23">
              <a:extLst>
                <a:ext uri="{FF2B5EF4-FFF2-40B4-BE49-F238E27FC236}">
                  <a16:creationId xmlns="" xmlns:a16="http://schemas.microsoft.com/office/drawing/2014/main" id="{A6373189-19BB-4BEC-84A3-432253E0580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9" name="Freeform 24">
              <a:extLst>
                <a:ext uri="{FF2B5EF4-FFF2-40B4-BE49-F238E27FC236}">
                  <a16:creationId xmlns="" xmlns:a16="http://schemas.microsoft.com/office/drawing/2014/main" id="{71AB3122-947A-44DB-B190-A2601C6C95C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0" name="Freeform 25">
              <a:extLst>
                <a:ext uri="{FF2B5EF4-FFF2-40B4-BE49-F238E27FC236}">
                  <a16:creationId xmlns="" xmlns:a16="http://schemas.microsoft.com/office/drawing/2014/main" id="{74B4109D-3AFC-4D44-87B1-0CDED3E638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1" name="Freeform 26">
              <a:extLst>
                <a:ext uri="{FF2B5EF4-FFF2-40B4-BE49-F238E27FC236}">
                  <a16:creationId xmlns="" xmlns:a16="http://schemas.microsoft.com/office/drawing/2014/main" id="{44AAD39F-F7C9-4D00-95E0-0465B4E8588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2" name="Freeform 27">
              <a:extLst>
                <a:ext uri="{FF2B5EF4-FFF2-40B4-BE49-F238E27FC236}">
                  <a16:creationId xmlns="" xmlns:a16="http://schemas.microsoft.com/office/drawing/2014/main" id="{C1DCAB8D-6EF6-4A84-8D0C-AA9226DEC90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3" name="Freeform 28">
              <a:extLst>
                <a:ext uri="{FF2B5EF4-FFF2-40B4-BE49-F238E27FC236}">
                  <a16:creationId xmlns="" xmlns:a16="http://schemas.microsoft.com/office/drawing/2014/main" id="{C407F97F-83CF-4703-B9E0-6335530E32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4" name="Freeform 29">
              <a:extLst>
                <a:ext uri="{FF2B5EF4-FFF2-40B4-BE49-F238E27FC236}">
                  <a16:creationId xmlns="" xmlns:a16="http://schemas.microsoft.com/office/drawing/2014/main" id="{0D8D2363-5D84-4CFF-89AA-3C93C859DBB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5" name="Freeform 30">
              <a:extLst>
                <a:ext uri="{FF2B5EF4-FFF2-40B4-BE49-F238E27FC236}">
                  <a16:creationId xmlns="" xmlns:a16="http://schemas.microsoft.com/office/drawing/2014/main" id="{0435A35C-AC99-4E12-8CB0-9C640DAA94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6" name="Freeform 31">
              <a:extLst>
                <a:ext uri="{FF2B5EF4-FFF2-40B4-BE49-F238E27FC236}">
                  <a16:creationId xmlns="" xmlns:a16="http://schemas.microsoft.com/office/drawing/2014/main" id="{F20392CF-2256-4527-836B-2E6F88596EC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7" name="Freeform 32">
              <a:extLst>
                <a:ext uri="{FF2B5EF4-FFF2-40B4-BE49-F238E27FC236}">
                  <a16:creationId xmlns="" xmlns:a16="http://schemas.microsoft.com/office/drawing/2014/main" id="{C52C3AD3-122C-4010-9C55-B0247F8CCAB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8" name="Rectangle 33">
              <a:extLst>
                <a:ext uri="{FF2B5EF4-FFF2-40B4-BE49-F238E27FC236}">
                  <a16:creationId xmlns="" xmlns:a16="http://schemas.microsoft.com/office/drawing/2014/main" id="{EFCB53ED-09C0-4AD7-9BBC-366833D5FE0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9" name="Freeform 34">
              <a:extLst>
                <a:ext uri="{FF2B5EF4-FFF2-40B4-BE49-F238E27FC236}">
                  <a16:creationId xmlns="" xmlns:a16="http://schemas.microsoft.com/office/drawing/2014/main" id="{6F309F52-BFCF-47D9-8089-BC049540DB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0" name="Freeform 35">
              <a:extLst>
                <a:ext uri="{FF2B5EF4-FFF2-40B4-BE49-F238E27FC236}">
                  <a16:creationId xmlns="" xmlns:a16="http://schemas.microsoft.com/office/drawing/2014/main" id="{5F9AE85F-C7AA-4761-B468-2E100829BC5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1" name="Freeform 36">
              <a:extLst>
                <a:ext uri="{FF2B5EF4-FFF2-40B4-BE49-F238E27FC236}">
                  <a16:creationId xmlns="" xmlns:a16="http://schemas.microsoft.com/office/drawing/2014/main" id="{2C81C778-91E5-4AE9-AACB-8566E7A28B4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2" name="Freeform 37">
              <a:extLst>
                <a:ext uri="{FF2B5EF4-FFF2-40B4-BE49-F238E27FC236}">
                  <a16:creationId xmlns="" xmlns:a16="http://schemas.microsoft.com/office/drawing/2014/main" id="{6C56E0B4-58A0-4B2B-BD56-54121BB8DB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3" name="Freeform 38">
              <a:extLst>
                <a:ext uri="{FF2B5EF4-FFF2-40B4-BE49-F238E27FC236}">
                  <a16:creationId xmlns="" xmlns:a16="http://schemas.microsoft.com/office/drawing/2014/main" id="{88A29CFE-13A6-4509-946F-5C074F856EE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4" name="Freeform 39">
              <a:extLst>
                <a:ext uri="{FF2B5EF4-FFF2-40B4-BE49-F238E27FC236}">
                  <a16:creationId xmlns="" xmlns:a16="http://schemas.microsoft.com/office/drawing/2014/main" id="{00235A0A-018B-4499-AC16-AF83457BF43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5" name="Freeform 40">
              <a:extLst>
                <a:ext uri="{FF2B5EF4-FFF2-40B4-BE49-F238E27FC236}">
                  <a16:creationId xmlns="" xmlns:a16="http://schemas.microsoft.com/office/drawing/2014/main" id="{861DF9B7-50DC-4EBE-8B23-97FE92DBBB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6" name="Freeform 41">
              <a:extLst>
                <a:ext uri="{FF2B5EF4-FFF2-40B4-BE49-F238E27FC236}">
                  <a16:creationId xmlns="" xmlns:a16="http://schemas.microsoft.com/office/drawing/2014/main" id="{69673907-73D7-4729-A911-9BD078EC2EE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7" name="Freeform 42">
              <a:extLst>
                <a:ext uri="{FF2B5EF4-FFF2-40B4-BE49-F238E27FC236}">
                  <a16:creationId xmlns="" xmlns:a16="http://schemas.microsoft.com/office/drawing/2014/main" id="{4DC844D3-8053-4EE7-A286-50157B6FD86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8" name="Freeform 43">
              <a:extLst>
                <a:ext uri="{FF2B5EF4-FFF2-40B4-BE49-F238E27FC236}">
                  <a16:creationId xmlns="" xmlns:a16="http://schemas.microsoft.com/office/drawing/2014/main" id="{D67575A0-A45A-4773-874C-16370E3670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9" name="Freeform 44">
              <a:extLst>
                <a:ext uri="{FF2B5EF4-FFF2-40B4-BE49-F238E27FC236}">
                  <a16:creationId xmlns="" xmlns:a16="http://schemas.microsoft.com/office/drawing/2014/main" id="{4327252B-B62B-4DE0-A924-B7F6E40AD96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0" name="Rectangle 45">
              <a:extLst>
                <a:ext uri="{FF2B5EF4-FFF2-40B4-BE49-F238E27FC236}">
                  <a16:creationId xmlns="" xmlns:a16="http://schemas.microsoft.com/office/drawing/2014/main" id="{778BC6A7-AC19-497B-A7C6-E447B2EBDAB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1" name="Freeform 46">
              <a:extLst>
                <a:ext uri="{FF2B5EF4-FFF2-40B4-BE49-F238E27FC236}">
                  <a16:creationId xmlns="" xmlns:a16="http://schemas.microsoft.com/office/drawing/2014/main" id="{4E79A87B-BF1F-437A-9FED-BE93025E502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2" name="Freeform 47">
              <a:extLst>
                <a:ext uri="{FF2B5EF4-FFF2-40B4-BE49-F238E27FC236}">
                  <a16:creationId xmlns="" xmlns:a16="http://schemas.microsoft.com/office/drawing/2014/main" id="{DFAAF3CC-B4E0-45C8-AC2D-EF0D6D823D1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3" name="Freeform 48">
              <a:extLst>
                <a:ext uri="{FF2B5EF4-FFF2-40B4-BE49-F238E27FC236}">
                  <a16:creationId xmlns="" xmlns:a16="http://schemas.microsoft.com/office/drawing/2014/main" id="{A5A12C87-1E4A-4664-B2F4-A1C8B656F9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4" name="Freeform 49">
              <a:extLst>
                <a:ext uri="{FF2B5EF4-FFF2-40B4-BE49-F238E27FC236}">
                  <a16:creationId xmlns="" xmlns:a16="http://schemas.microsoft.com/office/drawing/2014/main" id="{B3AF8230-4630-4505-ADDB-16A9B6B3772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5" name="Freeform 50">
              <a:extLst>
                <a:ext uri="{FF2B5EF4-FFF2-40B4-BE49-F238E27FC236}">
                  <a16:creationId xmlns="" xmlns:a16="http://schemas.microsoft.com/office/drawing/2014/main" id="{33F93F6D-724D-42F3-AF1D-3081EAB5D1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6" name="Freeform 51">
              <a:extLst>
                <a:ext uri="{FF2B5EF4-FFF2-40B4-BE49-F238E27FC236}">
                  <a16:creationId xmlns="" xmlns:a16="http://schemas.microsoft.com/office/drawing/2014/main" id="{F5DD7A8F-FB67-4E79-80DB-0FAF3A09894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7" name="Freeform 52">
              <a:extLst>
                <a:ext uri="{FF2B5EF4-FFF2-40B4-BE49-F238E27FC236}">
                  <a16:creationId xmlns="" xmlns:a16="http://schemas.microsoft.com/office/drawing/2014/main" id="{7B140A84-E89E-4A80-9DF8-7BCA45F908D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8" name="Freeform 53">
              <a:extLst>
                <a:ext uri="{FF2B5EF4-FFF2-40B4-BE49-F238E27FC236}">
                  <a16:creationId xmlns="" xmlns:a16="http://schemas.microsoft.com/office/drawing/2014/main" id="{279E1D6A-EFE2-44C6-A5BF-DFADF0DC91D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9" name="Freeform 54">
              <a:extLst>
                <a:ext uri="{FF2B5EF4-FFF2-40B4-BE49-F238E27FC236}">
                  <a16:creationId xmlns="" xmlns:a16="http://schemas.microsoft.com/office/drawing/2014/main" id="{C9FA2204-561F-4ABB-988C-03053820F1D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0" name="Freeform 55">
              <a:extLst>
                <a:ext uri="{FF2B5EF4-FFF2-40B4-BE49-F238E27FC236}">
                  <a16:creationId xmlns="" xmlns:a16="http://schemas.microsoft.com/office/drawing/2014/main" id="{8BD7D04E-AC0A-424F-BC40-28842DAFFAC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1" name="Freeform 56">
              <a:extLst>
                <a:ext uri="{FF2B5EF4-FFF2-40B4-BE49-F238E27FC236}">
                  <a16:creationId xmlns="" xmlns:a16="http://schemas.microsoft.com/office/drawing/2014/main" id="{32B616A2-FE09-47DD-B58C-12EE58B7CA5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2" name="Freeform 57">
              <a:extLst>
                <a:ext uri="{FF2B5EF4-FFF2-40B4-BE49-F238E27FC236}">
                  <a16:creationId xmlns="" xmlns:a16="http://schemas.microsoft.com/office/drawing/2014/main" id="{08C5EAF5-6064-484E-BA05-80D09D84EAB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3" name="Freeform 58">
              <a:extLst>
                <a:ext uri="{FF2B5EF4-FFF2-40B4-BE49-F238E27FC236}">
                  <a16:creationId xmlns="" xmlns:a16="http://schemas.microsoft.com/office/drawing/2014/main" id="{F11D90DF-D275-4725-884C-77E5E01D89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="" xmlns:a16="http://schemas.microsoft.com/office/drawing/2014/main" id="{9BE10567-6165-46A7-867D-4690A16B46D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66" name="Rectangle 65">
              <a:extLst>
                <a:ext uri="{FF2B5EF4-FFF2-40B4-BE49-F238E27FC236}">
                  <a16:creationId xmlns="" xmlns:a16="http://schemas.microsoft.com/office/drawing/2014/main" id="{0F4DB1F4-429C-4C85-85D7-C4D81996D3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pic>
          <p:nvPicPr>
            <p:cNvPr id="133" name="Picture 2">
              <a:extLst>
                <a:ext uri="{FF2B5EF4-FFF2-40B4-BE49-F238E27FC236}">
                  <a16:creationId xmlns="" xmlns:a16="http://schemas.microsoft.com/office/drawing/2014/main" id="{159C0DA6-71D9-4C96-A774-7FADF5E0A4C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PicPr>
          <p:blipFill>
            <a:blip r:embed="rId2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4" name="Round Diagonal Corner Rectangle 7">
            <a:extLst>
              <a:ext uri="{FF2B5EF4-FFF2-40B4-BE49-F238E27FC236}">
                <a16:creationId xmlns="" xmlns:a16="http://schemas.microsoft.com/office/drawing/2014/main" id="{4B24F6DB-F114-44A7-BB56-D401884E4E7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2582333" y="2235200"/>
            <a:ext cx="7027334" cy="2396067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grpSp>
        <p:nvGrpSpPr>
          <p:cNvPr id="135" name="Group 134">
            <a:extLst>
              <a:ext uri="{FF2B5EF4-FFF2-40B4-BE49-F238E27FC236}">
                <a16:creationId xmlns="" xmlns:a16="http://schemas.microsoft.com/office/drawing/2014/main" id="{4DB50ECD-225E-4F81-AF7B-706DD05F3B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605895" y="2900097"/>
            <a:ext cx="10982062" cy="1211524"/>
            <a:chOff x="605895" y="2900097"/>
            <a:chExt cx="10982062" cy="1211524"/>
          </a:xfrm>
          <a:effectLst/>
        </p:grpSpPr>
        <p:sp>
          <p:nvSpPr>
            <p:cNvPr id="72" name="Freeform 32">
              <a:extLst>
                <a:ext uri="{FF2B5EF4-FFF2-40B4-BE49-F238E27FC236}">
                  <a16:creationId xmlns="" xmlns:a16="http://schemas.microsoft.com/office/drawing/2014/main" id="{CBC3B006-1357-4969-BC3D-CDD91E492B4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9653587" y="33797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3" name="Freeform 33">
              <a:extLst>
                <a:ext uri="{FF2B5EF4-FFF2-40B4-BE49-F238E27FC236}">
                  <a16:creationId xmlns="" xmlns:a16="http://schemas.microsoft.com/office/drawing/2014/main" id="{0D6E4F1D-B331-41B5-90EF-2236C1EE15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078244" y="33107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4" name="Freeform 34">
              <a:extLst>
                <a:ext uri="{FF2B5EF4-FFF2-40B4-BE49-F238E27FC236}">
                  <a16:creationId xmlns="" xmlns:a16="http://schemas.microsoft.com/office/drawing/2014/main" id="{54A60014-21DF-44E5-9137-43357188501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1146631" y="35742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5" name="Freeform 37">
              <a:extLst>
                <a:ext uri="{FF2B5EF4-FFF2-40B4-BE49-F238E27FC236}">
                  <a16:creationId xmlns="" xmlns:a16="http://schemas.microsoft.com/office/drawing/2014/main" id="{40B768C0-B003-45F4-9A06-EA3509A90BD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230644" y="30345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6" name="Freeform 35">
              <a:extLst>
                <a:ext uri="{FF2B5EF4-FFF2-40B4-BE49-F238E27FC236}">
                  <a16:creationId xmlns="" xmlns:a16="http://schemas.microsoft.com/office/drawing/2014/main" id="{5E479182-2054-4AD9-823D-81CFAD7F2C7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034587" y="25627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7" name="Freeform 36">
              <a:extLst>
                <a:ext uri="{FF2B5EF4-FFF2-40B4-BE49-F238E27FC236}">
                  <a16:creationId xmlns="" xmlns:a16="http://schemas.microsoft.com/office/drawing/2014/main" id="{A7D912CF-756A-41F1-8BF1-5BA7D1BD052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747375" y="32326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8" name="Freeform 38">
              <a:extLst>
                <a:ext uri="{FF2B5EF4-FFF2-40B4-BE49-F238E27FC236}">
                  <a16:creationId xmlns="" xmlns:a16="http://schemas.microsoft.com/office/drawing/2014/main" id="{734B6F35-2160-44B1-AB00-F628C84B14F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1399044" y="30953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9" name="Freeform 39">
              <a:extLst>
                <a:ext uri="{FF2B5EF4-FFF2-40B4-BE49-F238E27FC236}">
                  <a16:creationId xmlns="" xmlns:a16="http://schemas.microsoft.com/office/drawing/2014/main" id="{D8657E76-4F63-44FE-86C5-54CA174FCB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353675" y="21531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0" name="Freeform 40">
              <a:extLst>
                <a:ext uri="{FF2B5EF4-FFF2-40B4-BE49-F238E27FC236}">
                  <a16:creationId xmlns="" xmlns:a16="http://schemas.microsoft.com/office/drawing/2014/main" id="{482CEB8C-90E5-4152-8B52-A2881B98A3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848850" y="33088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1" name="Rectangle 41">
              <a:extLst>
                <a:ext uri="{FF2B5EF4-FFF2-40B4-BE49-F238E27FC236}">
                  <a16:creationId xmlns="" xmlns:a16="http://schemas.microsoft.com/office/drawing/2014/main" id="{85010FC2-BC4C-4692-876D-7FE363BFC6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721056" y="32842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2" name="Freeform 32">
              <a:extLst>
                <a:ext uri="{FF2B5EF4-FFF2-40B4-BE49-F238E27FC236}">
                  <a16:creationId xmlns="" xmlns:a16="http://schemas.microsoft.com/office/drawing/2014/main" id="{714C1223-2B78-4715-9ACB-079A60D16D3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2122751" y="35321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3" name="Freeform 33">
              <a:extLst>
                <a:ext uri="{FF2B5EF4-FFF2-40B4-BE49-F238E27FC236}">
                  <a16:creationId xmlns="" xmlns:a16="http://schemas.microsoft.com/office/drawing/2014/main" id="{1D9109D3-C92A-410B-9B43-5F02B2D84EE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958445" y="34631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4" name="Freeform 34">
              <a:extLst>
                <a:ext uri="{FF2B5EF4-FFF2-40B4-BE49-F238E27FC236}">
                  <a16:creationId xmlns="" xmlns:a16="http://schemas.microsoft.com/office/drawing/2014/main" id="{EF5B327A-A1AE-42F3-815E-84F4AA2948C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858308" y="37266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5" name="Freeform 37">
              <a:extLst>
                <a:ext uri="{FF2B5EF4-FFF2-40B4-BE49-F238E27FC236}">
                  <a16:creationId xmlns="" xmlns:a16="http://schemas.microsoft.com/office/drawing/2014/main" id="{77738BDE-751F-4D4C-B4C4-C9DF3EA291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658407" y="31869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6" name="Freeform 35">
              <a:extLst>
                <a:ext uri="{FF2B5EF4-FFF2-40B4-BE49-F238E27FC236}">
                  <a16:creationId xmlns="" xmlns:a16="http://schemas.microsoft.com/office/drawing/2014/main" id="{9C8C4AD6-72BF-490C-963C-97C7FD7E7EA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860814" y="27151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7" name="Freeform 36">
              <a:extLst>
                <a:ext uri="{FF2B5EF4-FFF2-40B4-BE49-F238E27FC236}">
                  <a16:creationId xmlns="" xmlns:a16="http://schemas.microsoft.com/office/drawing/2014/main" id="{94990E31-5AA8-4502-A963-CE1B539DAC4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289314" y="33850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8" name="Freeform 38">
              <a:extLst>
                <a:ext uri="{FF2B5EF4-FFF2-40B4-BE49-F238E27FC236}">
                  <a16:creationId xmlns="" xmlns:a16="http://schemas.microsoft.com/office/drawing/2014/main" id="{9E703E9D-ED76-449C-A8C0-7A1E24B8B27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605895" y="32477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9" name="Freeform 39">
              <a:extLst>
                <a:ext uri="{FF2B5EF4-FFF2-40B4-BE49-F238E27FC236}">
                  <a16:creationId xmlns="" xmlns:a16="http://schemas.microsoft.com/office/drawing/2014/main" id="{C70A75E8-C815-4CCF-ABEE-83F19BFE051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532202" y="23055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0" name="Freeform 40">
              <a:extLst>
                <a:ext uri="{FF2B5EF4-FFF2-40B4-BE49-F238E27FC236}">
                  <a16:creationId xmlns="" xmlns:a16="http://schemas.microsoft.com/office/drawing/2014/main" id="{E15638E1-6A92-4D31-A034-853A65A754E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154501" y="34612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1" name="Rectangle 41">
              <a:extLst>
                <a:ext uri="{FF2B5EF4-FFF2-40B4-BE49-F238E27FC236}">
                  <a16:creationId xmlns="" xmlns:a16="http://schemas.microsoft.com/office/drawing/2014/main" id="{EA3E8D58-D52B-4300-8A50-5696430D1A6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448983" y="34366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0954A3-DCC4-4BD2-A464-B45BBF745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5122" y="2728267"/>
            <a:ext cx="6919782" cy="10707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b="1" dirty="0">
                <a:latin typeface="Times New Roman"/>
                <a:cs typeface="Times New Roman"/>
              </a:rPr>
              <a:t>TX </a:t>
            </a:r>
            <a:r>
              <a:rPr lang="en-US" sz="4000" b="1" dirty="0" smtClean="0">
                <a:latin typeface="Times New Roman"/>
                <a:cs typeface="Times New Roman"/>
              </a:rPr>
              <a:t>Operation</a:t>
            </a:r>
            <a:endParaRPr lang="en" sz="4000" b="1" dirty="0">
              <a:ln w="0"/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2516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2796" y="347054"/>
            <a:ext cx="10561060" cy="1478570"/>
          </a:xfrm>
        </p:spPr>
        <p:txBody>
          <a:bodyPr>
            <a:normAutofit/>
          </a:bodyPr>
          <a:lstStyle/>
          <a:p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Frame Structure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357746"/>
            <a:ext cx="10402455" cy="484493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6926" y="1825624"/>
            <a:ext cx="9525000" cy="115252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30017" y="3228391"/>
            <a:ext cx="7753738" cy="3359021"/>
          </a:xfrm>
        </p:spPr>
        <p:txBody>
          <a:bodyPr>
            <a:normAutofit fontScale="85000" lnSpcReduction="1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Preamble (7 bytes): </a:t>
            </a:r>
            <a:r>
              <a:rPr lang="en-US" dirty="0"/>
              <a:t>Alternating 0101... pattern for clock </a:t>
            </a:r>
            <a:r>
              <a:rPr lang="en-US" dirty="0" smtClean="0"/>
              <a:t>sync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SFD </a:t>
            </a:r>
            <a:r>
              <a:rPr lang="en-US" b="1" dirty="0"/>
              <a:t>(1 byte): </a:t>
            </a:r>
            <a:r>
              <a:rPr lang="en-US" dirty="0"/>
              <a:t>Start Frame Delimiter (10101011) marks frame </a:t>
            </a:r>
            <a:r>
              <a:rPr lang="en-US" dirty="0" smtClean="0"/>
              <a:t>start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Destination </a:t>
            </a:r>
            <a:r>
              <a:rPr lang="en-US" b="1" dirty="0"/>
              <a:t>MAC (6 bytes): </a:t>
            </a:r>
            <a:r>
              <a:rPr lang="en-US" dirty="0"/>
              <a:t>Target station </a:t>
            </a:r>
            <a:r>
              <a:rPr lang="en-US" dirty="0" smtClean="0"/>
              <a:t>address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Source </a:t>
            </a:r>
            <a:r>
              <a:rPr lang="en-US" b="1" dirty="0"/>
              <a:t>MAC (6 bytes): </a:t>
            </a:r>
            <a:r>
              <a:rPr lang="en-US" dirty="0"/>
              <a:t>Originating station address (set by MAC core</a:t>
            </a:r>
            <a:r>
              <a:rPr lang="en-US" dirty="0" smtClean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Type/Length </a:t>
            </a:r>
            <a:r>
              <a:rPr lang="en-US" b="1" dirty="0"/>
              <a:t>(2 bytes): </a:t>
            </a:r>
            <a:r>
              <a:rPr lang="en-US" dirty="0"/>
              <a:t>Ethernet type (0x0800=IPv4, 0x0806=ARP</a:t>
            </a:r>
            <a:r>
              <a:rPr lang="en-US" dirty="0" smtClean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Payload </a:t>
            </a:r>
            <a:r>
              <a:rPr lang="en-US" b="1" dirty="0"/>
              <a:t>(46-1500 bytes): </a:t>
            </a:r>
            <a:r>
              <a:rPr lang="en-US" dirty="0"/>
              <a:t>User </a:t>
            </a:r>
            <a:r>
              <a:rPr lang="en-US" dirty="0" smtClean="0"/>
              <a:t>data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/>
              <a:t>CRC </a:t>
            </a:r>
            <a:r>
              <a:rPr lang="en-US" b="1" dirty="0"/>
              <a:t>(4 bytes): </a:t>
            </a:r>
            <a:r>
              <a:rPr lang="en-US" dirty="0"/>
              <a:t>Cyclic Redundancy Check (appended by MAC)</a:t>
            </a:r>
            <a:endParaRPr lang="en-US" dirty="0" smtClean="0"/>
          </a:p>
          <a:p>
            <a:pPr>
              <a:buFont typeface="Wingdings" panose="05000000000000000000" pitchFamily="2" charset="2"/>
              <a:buChar char="Ø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40628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9450" y="365715"/>
            <a:ext cx="10561060" cy="1478570"/>
          </a:xfrm>
        </p:spPr>
        <p:txBody>
          <a:bodyPr>
            <a:normAutofit/>
          </a:bodyPr>
          <a:lstStyle/>
          <a:p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Transmission Operation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1505" y="1469714"/>
            <a:ext cx="10402455" cy="484493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046"/>
          <a:stretch/>
        </p:blipFill>
        <p:spPr>
          <a:xfrm>
            <a:off x="1418251" y="1583562"/>
            <a:ext cx="9465214" cy="496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291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8071" y="0"/>
            <a:ext cx="10561060" cy="1478570"/>
          </a:xfrm>
        </p:spPr>
        <p:txBody>
          <a:bodyPr>
            <a:normAutofit/>
          </a:bodyPr>
          <a:lstStyle/>
          <a:p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Transmission Operation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1505" y="1469714"/>
            <a:ext cx="10402455" cy="484493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194" y="1202589"/>
            <a:ext cx="8690361" cy="5431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827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2086" y="0"/>
            <a:ext cx="10561060" cy="1478570"/>
          </a:xfrm>
        </p:spPr>
        <p:txBody>
          <a:bodyPr>
            <a:normAutofit/>
          </a:bodyPr>
          <a:lstStyle/>
          <a:p>
            <a:r>
              <a:rPr lang="en-US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Transmission Operation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5EFCC03-2BFC-4F97-A964-2C8EA2E72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1505" y="1469714"/>
            <a:ext cx="10402455" cy="484493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195" y="1168225"/>
            <a:ext cx="8686799" cy="542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58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0000">
              <a:schemeClr val="accent3">
                <a:lumMod val="45000"/>
                <a:lumOff val="55000"/>
              </a:schemeClr>
            </a:gs>
            <a:gs pos="66000">
              <a:schemeClr val="accent3">
                <a:alpha val="0"/>
                <a:lumMod val="84000"/>
                <a:lumOff val="16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2">
            <a:extLst>
              <a:ext uri="{FF2B5EF4-FFF2-40B4-BE49-F238E27FC236}">
                <a16:creationId xmlns="" xmlns:a16="http://schemas.microsoft.com/office/drawing/2014/main" id="{9ACD3AF8-B16E-4174-8C1A-41F683C4AF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1" name="Group 130">
            <a:extLst>
              <a:ext uri="{FF2B5EF4-FFF2-40B4-BE49-F238E27FC236}">
                <a16:creationId xmlns="" xmlns:a16="http://schemas.microsoft.com/office/drawing/2014/main" id="{FF5EAD09-B81D-415F-8BCF-73C81AE05F2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" name="Rectangle 5">
              <a:extLst>
                <a:ext uri="{FF2B5EF4-FFF2-40B4-BE49-F238E27FC236}">
                  <a16:creationId xmlns="" xmlns:a16="http://schemas.microsoft.com/office/drawing/2014/main" id="{CFB79010-8ED4-49EF-AFD2-F4D8C80B69B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1" name="Freeform 6">
              <a:extLst>
                <a:ext uri="{FF2B5EF4-FFF2-40B4-BE49-F238E27FC236}">
                  <a16:creationId xmlns="" xmlns:a16="http://schemas.microsoft.com/office/drawing/2014/main" id="{4649B869-006E-42B5-9DDC-21049B130E0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2" name="Freeform 7">
              <a:extLst>
                <a:ext uri="{FF2B5EF4-FFF2-40B4-BE49-F238E27FC236}">
                  <a16:creationId xmlns="" xmlns:a16="http://schemas.microsoft.com/office/drawing/2014/main" id="{443096BD-333F-48B6-8220-D1F9793E40A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3" name="Rectangle 8">
              <a:extLst>
                <a:ext uri="{FF2B5EF4-FFF2-40B4-BE49-F238E27FC236}">
                  <a16:creationId xmlns="" xmlns:a16="http://schemas.microsoft.com/office/drawing/2014/main" id="{1A45BB9A-7E84-4B9B-923A-270A97F8524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4" name="Freeform 9">
              <a:extLst>
                <a:ext uri="{FF2B5EF4-FFF2-40B4-BE49-F238E27FC236}">
                  <a16:creationId xmlns="" xmlns:a16="http://schemas.microsoft.com/office/drawing/2014/main" id="{D7D7C768-2F76-4DE2-A807-1B9FFF816C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5" name="Freeform 10">
              <a:extLst>
                <a:ext uri="{FF2B5EF4-FFF2-40B4-BE49-F238E27FC236}">
                  <a16:creationId xmlns="" xmlns:a16="http://schemas.microsoft.com/office/drawing/2014/main" id="{1870B32E-EE42-470E-B543-CA55AEC8CA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6" name="Freeform 11">
              <a:extLst>
                <a:ext uri="{FF2B5EF4-FFF2-40B4-BE49-F238E27FC236}">
                  <a16:creationId xmlns="" xmlns:a16="http://schemas.microsoft.com/office/drawing/2014/main" id="{EEF09120-11AA-4DB5-98A8-EC4923002C6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7" name="Freeform 12">
              <a:extLst>
                <a:ext uri="{FF2B5EF4-FFF2-40B4-BE49-F238E27FC236}">
                  <a16:creationId xmlns="" xmlns:a16="http://schemas.microsoft.com/office/drawing/2014/main" id="{39CC463D-589C-461C-A234-0460EB06B88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8" name="Freeform 13">
              <a:extLst>
                <a:ext uri="{FF2B5EF4-FFF2-40B4-BE49-F238E27FC236}">
                  <a16:creationId xmlns="" xmlns:a16="http://schemas.microsoft.com/office/drawing/2014/main" id="{B6516153-269A-421E-A021-CB3F3C5E1DA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19" name="Freeform 14">
              <a:extLst>
                <a:ext uri="{FF2B5EF4-FFF2-40B4-BE49-F238E27FC236}">
                  <a16:creationId xmlns="" xmlns:a16="http://schemas.microsoft.com/office/drawing/2014/main" id="{45E14300-6C4A-4F77-915F-F3B25B0237B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0" name="Freeform 15">
              <a:extLst>
                <a:ext uri="{FF2B5EF4-FFF2-40B4-BE49-F238E27FC236}">
                  <a16:creationId xmlns="" xmlns:a16="http://schemas.microsoft.com/office/drawing/2014/main" id="{993E312A-E6A6-4B52-ADE6-618ADC89BA6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1" name="Freeform 16">
              <a:extLst>
                <a:ext uri="{FF2B5EF4-FFF2-40B4-BE49-F238E27FC236}">
                  <a16:creationId xmlns="" xmlns:a16="http://schemas.microsoft.com/office/drawing/2014/main" id="{2F0F3026-2480-472B-8C52-36812C81EF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2" name="Freeform 17">
              <a:extLst>
                <a:ext uri="{FF2B5EF4-FFF2-40B4-BE49-F238E27FC236}">
                  <a16:creationId xmlns="" xmlns:a16="http://schemas.microsoft.com/office/drawing/2014/main" id="{34E1C992-559D-4827-9F30-31A3CA7A2B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3" name="Freeform 18">
              <a:extLst>
                <a:ext uri="{FF2B5EF4-FFF2-40B4-BE49-F238E27FC236}">
                  <a16:creationId xmlns="" xmlns:a16="http://schemas.microsoft.com/office/drawing/2014/main" id="{D9F2FB98-F443-498F-AAD9-69458256813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4" name="Freeform 19">
              <a:extLst>
                <a:ext uri="{FF2B5EF4-FFF2-40B4-BE49-F238E27FC236}">
                  <a16:creationId xmlns="" xmlns:a16="http://schemas.microsoft.com/office/drawing/2014/main" id="{75DBF6EC-ED50-43E4-8A8B-64CE86A880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="" xmlns:a16="http://schemas.microsoft.com/office/drawing/2014/main" id="{FD854F40-AC43-4F21-9C62-2CE35CFD2B1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6" name="Freeform 21">
              <a:extLst>
                <a:ext uri="{FF2B5EF4-FFF2-40B4-BE49-F238E27FC236}">
                  <a16:creationId xmlns="" xmlns:a16="http://schemas.microsoft.com/office/drawing/2014/main" id="{62CCB560-494A-4F74-9DE4-068806A893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7" name="Freeform 22">
              <a:extLst>
                <a:ext uri="{FF2B5EF4-FFF2-40B4-BE49-F238E27FC236}">
                  <a16:creationId xmlns="" xmlns:a16="http://schemas.microsoft.com/office/drawing/2014/main" id="{6F9A05F2-B5D2-4D8A-9A78-14E45C13FEC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8" name="Freeform 23">
              <a:extLst>
                <a:ext uri="{FF2B5EF4-FFF2-40B4-BE49-F238E27FC236}">
                  <a16:creationId xmlns="" xmlns:a16="http://schemas.microsoft.com/office/drawing/2014/main" id="{A6373189-19BB-4BEC-84A3-432253E0580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29" name="Freeform 24">
              <a:extLst>
                <a:ext uri="{FF2B5EF4-FFF2-40B4-BE49-F238E27FC236}">
                  <a16:creationId xmlns="" xmlns:a16="http://schemas.microsoft.com/office/drawing/2014/main" id="{71AB3122-947A-44DB-B190-A2601C6C95C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0" name="Freeform 25">
              <a:extLst>
                <a:ext uri="{FF2B5EF4-FFF2-40B4-BE49-F238E27FC236}">
                  <a16:creationId xmlns="" xmlns:a16="http://schemas.microsoft.com/office/drawing/2014/main" id="{74B4109D-3AFC-4D44-87B1-0CDED3E6381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1" name="Freeform 26">
              <a:extLst>
                <a:ext uri="{FF2B5EF4-FFF2-40B4-BE49-F238E27FC236}">
                  <a16:creationId xmlns="" xmlns:a16="http://schemas.microsoft.com/office/drawing/2014/main" id="{44AAD39F-F7C9-4D00-95E0-0465B4E8588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2" name="Freeform 27">
              <a:extLst>
                <a:ext uri="{FF2B5EF4-FFF2-40B4-BE49-F238E27FC236}">
                  <a16:creationId xmlns="" xmlns:a16="http://schemas.microsoft.com/office/drawing/2014/main" id="{C1DCAB8D-6EF6-4A84-8D0C-AA9226DEC90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3" name="Freeform 28">
              <a:extLst>
                <a:ext uri="{FF2B5EF4-FFF2-40B4-BE49-F238E27FC236}">
                  <a16:creationId xmlns="" xmlns:a16="http://schemas.microsoft.com/office/drawing/2014/main" id="{C407F97F-83CF-4703-B9E0-6335530E32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4" name="Freeform 29">
              <a:extLst>
                <a:ext uri="{FF2B5EF4-FFF2-40B4-BE49-F238E27FC236}">
                  <a16:creationId xmlns="" xmlns:a16="http://schemas.microsoft.com/office/drawing/2014/main" id="{0D8D2363-5D84-4CFF-89AA-3C93C859DBB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5" name="Freeform 30">
              <a:extLst>
                <a:ext uri="{FF2B5EF4-FFF2-40B4-BE49-F238E27FC236}">
                  <a16:creationId xmlns="" xmlns:a16="http://schemas.microsoft.com/office/drawing/2014/main" id="{0435A35C-AC99-4E12-8CB0-9C640DAA94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6" name="Freeform 31">
              <a:extLst>
                <a:ext uri="{FF2B5EF4-FFF2-40B4-BE49-F238E27FC236}">
                  <a16:creationId xmlns="" xmlns:a16="http://schemas.microsoft.com/office/drawing/2014/main" id="{F20392CF-2256-4527-836B-2E6F88596EC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7" name="Freeform 32">
              <a:extLst>
                <a:ext uri="{FF2B5EF4-FFF2-40B4-BE49-F238E27FC236}">
                  <a16:creationId xmlns="" xmlns:a16="http://schemas.microsoft.com/office/drawing/2014/main" id="{C52C3AD3-122C-4010-9C55-B0247F8CCAB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8" name="Rectangle 33">
              <a:extLst>
                <a:ext uri="{FF2B5EF4-FFF2-40B4-BE49-F238E27FC236}">
                  <a16:creationId xmlns="" xmlns:a16="http://schemas.microsoft.com/office/drawing/2014/main" id="{EFCB53ED-09C0-4AD7-9BBC-366833D5FE0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39" name="Freeform 34">
              <a:extLst>
                <a:ext uri="{FF2B5EF4-FFF2-40B4-BE49-F238E27FC236}">
                  <a16:creationId xmlns="" xmlns:a16="http://schemas.microsoft.com/office/drawing/2014/main" id="{6F309F52-BFCF-47D9-8089-BC049540DB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0" name="Freeform 35">
              <a:extLst>
                <a:ext uri="{FF2B5EF4-FFF2-40B4-BE49-F238E27FC236}">
                  <a16:creationId xmlns="" xmlns:a16="http://schemas.microsoft.com/office/drawing/2014/main" id="{5F9AE85F-C7AA-4761-B468-2E100829BC5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1" name="Freeform 36">
              <a:extLst>
                <a:ext uri="{FF2B5EF4-FFF2-40B4-BE49-F238E27FC236}">
                  <a16:creationId xmlns="" xmlns:a16="http://schemas.microsoft.com/office/drawing/2014/main" id="{2C81C778-91E5-4AE9-AACB-8566E7A28B4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2" name="Freeform 37">
              <a:extLst>
                <a:ext uri="{FF2B5EF4-FFF2-40B4-BE49-F238E27FC236}">
                  <a16:creationId xmlns="" xmlns:a16="http://schemas.microsoft.com/office/drawing/2014/main" id="{6C56E0B4-58A0-4B2B-BD56-54121BB8DB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3" name="Freeform 38">
              <a:extLst>
                <a:ext uri="{FF2B5EF4-FFF2-40B4-BE49-F238E27FC236}">
                  <a16:creationId xmlns="" xmlns:a16="http://schemas.microsoft.com/office/drawing/2014/main" id="{88A29CFE-13A6-4509-946F-5C074F856EE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4" name="Freeform 39">
              <a:extLst>
                <a:ext uri="{FF2B5EF4-FFF2-40B4-BE49-F238E27FC236}">
                  <a16:creationId xmlns="" xmlns:a16="http://schemas.microsoft.com/office/drawing/2014/main" id="{00235A0A-018B-4499-AC16-AF83457BF43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5" name="Freeform 40">
              <a:extLst>
                <a:ext uri="{FF2B5EF4-FFF2-40B4-BE49-F238E27FC236}">
                  <a16:creationId xmlns="" xmlns:a16="http://schemas.microsoft.com/office/drawing/2014/main" id="{861DF9B7-50DC-4EBE-8B23-97FE92DBBB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6" name="Freeform 41">
              <a:extLst>
                <a:ext uri="{FF2B5EF4-FFF2-40B4-BE49-F238E27FC236}">
                  <a16:creationId xmlns="" xmlns:a16="http://schemas.microsoft.com/office/drawing/2014/main" id="{69673907-73D7-4729-A911-9BD078EC2EE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7" name="Freeform 42">
              <a:extLst>
                <a:ext uri="{FF2B5EF4-FFF2-40B4-BE49-F238E27FC236}">
                  <a16:creationId xmlns="" xmlns:a16="http://schemas.microsoft.com/office/drawing/2014/main" id="{4DC844D3-8053-4EE7-A286-50157B6FD86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8" name="Freeform 43">
              <a:extLst>
                <a:ext uri="{FF2B5EF4-FFF2-40B4-BE49-F238E27FC236}">
                  <a16:creationId xmlns="" xmlns:a16="http://schemas.microsoft.com/office/drawing/2014/main" id="{D67575A0-A45A-4773-874C-16370E3670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49" name="Freeform 44">
              <a:extLst>
                <a:ext uri="{FF2B5EF4-FFF2-40B4-BE49-F238E27FC236}">
                  <a16:creationId xmlns="" xmlns:a16="http://schemas.microsoft.com/office/drawing/2014/main" id="{4327252B-B62B-4DE0-A924-B7F6E40AD96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0" name="Rectangle 45">
              <a:extLst>
                <a:ext uri="{FF2B5EF4-FFF2-40B4-BE49-F238E27FC236}">
                  <a16:creationId xmlns="" xmlns:a16="http://schemas.microsoft.com/office/drawing/2014/main" id="{778BC6A7-AC19-497B-A7C6-E447B2EBDAB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1" name="Freeform 46">
              <a:extLst>
                <a:ext uri="{FF2B5EF4-FFF2-40B4-BE49-F238E27FC236}">
                  <a16:creationId xmlns="" xmlns:a16="http://schemas.microsoft.com/office/drawing/2014/main" id="{4E79A87B-BF1F-437A-9FED-BE93025E502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2" name="Freeform 47">
              <a:extLst>
                <a:ext uri="{FF2B5EF4-FFF2-40B4-BE49-F238E27FC236}">
                  <a16:creationId xmlns="" xmlns:a16="http://schemas.microsoft.com/office/drawing/2014/main" id="{DFAAF3CC-B4E0-45C8-AC2D-EF0D6D823D1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3" name="Freeform 48">
              <a:extLst>
                <a:ext uri="{FF2B5EF4-FFF2-40B4-BE49-F238E27FC236}">
                  <a16:creationId xmlns="" xmlns:a16="http://schemas.microsoft.com/office/drawing/2014/main" id="{A5A12C87-1E4A-4664-B2F4-A1C8B656F99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4" name="Freeform 49">
              <a:extLst>
                <a:ext uri="{FF2B5EF4-FFF2-40B4-BE49-F238E27FC236}">
                  <a16:creationId xmlns="" xmlns:a16="http://schemas.microsoft.com/office/drawing/2014/main" id="{B3AF8230-4630-4505-ADDB-16A9B6B3772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5" name="Freeform 50">
              <a:extLst>
                <a:ext uri="{FF2B5EF4-FFF2-40B4-BE49-F238E27FC236}">
                  <a16:creationId xmlns="" xmlns:a16="http://schemas.microsoft.com/office/drawing/2014/main" id="{33F93F6D-724D-42F3-AF1D-3081EAB5D13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6" name="Freeform 51">
              <a:extLst>
                <a:ext uri="{FF2B5EF4-FFF2-40B4-BE49-F238E27FC236}">
                  <a16:creationId xmlns="" xmlns:a16="http://schemas.microsoft.com/office/drawing/2014/main" id="{F5DD7A8F-FB67-4E79-80DB-0FAF3A09894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7" name="Freeform 52">
              <a:extLst>
                <a:ext uri="{FF2B5EF4-FFF2-40B4-BE49-F238E27FC236}">
                  <a16:creationId xmlns="" xmlns:a16="http://schemas.microsoft.com/office/drawing/2014/main" id="{7B140A84-E89E-4A80-9DF8-7BCA45F908D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8" name="Freeform 53">
              <a:extLst>
                <a:ext uri="{FF2B5EF4-FFF2-40B4-BE49-F238E27FC236}">
                  <a16:creationId xmlns="" xmlns:a16="http://schemas.microsoft.com/office/drawing/2014/main" id="{279E1D6A-EFE2-44C6-A5BF-DFADF0DC91D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59" name="Freeform 54">
              <a:extLst>
                <a:ext uri="{FF2B5EF4-FFF2-40B4-BE49-F238E27FC236}">
                  <a16:creationId xmlns="" xmlns:a16="http://schemas.microsoft.com/office/drawing/2014/main" id="{C9FA2204-561F-4ABB-988C-03053820F1D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0" name="Freeform 55">
              <a:extLst>
                <a:ext uri="{FF2B5EF4-FFF2-40B4-BE49-F238E27FC236}">
                  <a16:creationId xmlns="" xmlns:a16="http://schemas.microsoft.com/office/drawing/2014/main" id="{8BD7D04E-AC0A-424F-BC40-28842DAFFAC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1" name="Freeform 56">
              <a:extLst>
                <a:ext uri="{FF2B5EF4-FFF2-40B4-BE49-F238E27FC236}">
                  <a16:creationId xmlns="" xmlns:a16="http://schemas.microsoft.com/office/drawing/2014/main" id="{32B616A2-FE09-47DD-B58C-12EE58B7CA5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2" name="Freeform 57">
              <a:extLst>
                <a:ext uri="{FF2B5EF4-FFF2-40B4-BE49-F238E27FC236}">
                  <a16:creationId xmlns="" xmlns:a16="http://schemas.microsoft.com/office/drawing/2014/main" id="{08C5EAF5-6064-484E-BA05-80D09D84EAB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63" name="Freeform 58">
              <a:extLst>
                <a:ext uri="{FF2B5EF4-FFF2-40B4-BE49-F238E27FC236}">
                  <a16:creationId xmlns="" xmlns:a16="http://schemas.microsoft.com/office/drawing/2014/main" id="{F11D90DF-D275-4725-884C-77E5E01D89B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="" xmlns:a16="http://schemas.microsoft.com/office/drawing/2014/main" id="{9BE10567-6165-46A7-867D-4690A16B46D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66" name="Rectangle 65">
              <a:extLst>
                <a:ext uri="{FF2B5EF4-FFF2-40B4-BE49-F238E27FC236}">
                  <a16:creationId xmlns="" xmlns:a16="http://schemas.microsoft.com/office/drawing/2014/main" id="{0F4DB1F4-429C-4C85-85D7-C4D81996D33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pic>
          <p:nvPicPr>
            <p:cNvPr id="133" name="Picture 2">
              <a:extLst>
                <a:ext uri="{FF2B5EF4-FFF2-40B4-BE49-F238E27FC236}">
                  <a16:creationId xmlns="" xmlns:a16="http://schemas.microsoft.com/office/drawing/2014/main" id="{159C0DA6-71D9-4C96-A774-7FADF5E0A4C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PicPr>
          <p:blipFill>
            <a:blip r:embed="rId2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4" name="Round Diagonal Corner Rectangle 7">
            <a:extLst>
              <a:ext uri="{FF2B5EF4-FFF2-40B4-BE49-F238E27FC236}">
                <a16:creationId xmlns="" xmlns:a16="http://schemas.microsoft.com/office/drawing/2014/main" id="{4B24F6DB-F114-44A7-BB56-D401884E4E7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2582333" y="2235200"/>
            <a:ext cx="7027334" cy="2396067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grpSp>
        <p:nvGrpSpPr>
          <p:cNvPr id="135" name="Group 134">
            <a:extLst>
              <a:ext uri="{FF2B5EF4-FFF2-40B4-BE49-F238E27FC236}">
                <a16:creationId xmlns="" xmlns:a16="http://schemas.microsoft.com/office/drawing/2014/main" id="{4DB50ECD-225E-4F81-AF7B-706DD05F3B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GrpSpPr>
        <p:grpSpPr>
          <a:xfrm>
            <a:off x="605895" y="2900097"/>
            <a:ext cx="10982062" cy="1211524"/>
            <a:chOff x="605895" y="2900097"/>
            <a:chExt cx="10982062" cy="1211524"/>
          </a:xfrm>
          <a:effectLst/>
        </p:grpSpPr>
        <p:sp>
          <p:nvSpPr>
            <p:cNvPr id="72" name="Freeform 32">
              <a:extLst>
                <a:ext uri="{FF2B5EF4-FFF2-40B4-BE49-F238E27FC236}">
                  <a16:creationId xmlns="" xmlns:a16="http://schemas.microsoft.com/office/drawing/2014/main" id="{CBC3B006-1357-4969-BC3D-CDD91E492B4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9653587" y="33797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3" name="Freeform 33">
              <a:extLst>
                <a:ext uri="{FF2B5EF4-FFF2-40B4-BE49-F238E27FC236}">
                  <a16:creationId xmlns="" xmlns:a16="http://schemas.microsoft.com/office/drawing/2014/main" id="{0D6E4F1D-B331-41B5-90EF-2236C1EE155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078244" y="33107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4" name="Freeform 34">
              <a:extLst>
                <a:ext uri="{FF2B5EF4-FFF2-40B4-BE49-F238E27FC236}">
                  <a16:creationId xmlns="" xmlns:a16="http://schemas.microsoft.com/office/drawing/2014/main" id="{54A60014-21DF-44E5-9137-43357188501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1146631" y="35742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5" name="Freeform 37">
              <a:extLst>
                <a:ext uri="{FF2B5EF4-FFF2-40B4-BE49-F238E27FC236}">
                  <a16:creationId xmlns="" xmlns:a16="http://schemas.microsoft.com/office/drawing/2014/main" id="{40B768C0-B003-45F4-9A06-EA3509A90BD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 flipV="1">
              <a:off x="10230644" y="30345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6" name="Freeform 35">
              <a:extLst>
                <a:ext uri="{FF2B5EF4-FFF2-40B4-BE49-F238E27FC236}">
                  <a16:creationId xmlns="" xmlns:a16="http://schemas.microsoft.com/office/drawing/2014/main" id="{5E479182-2054-4AD9-823D-81CFAD7F2C7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034587" y="25627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7" name="Freeform 36">
              <a:extLst>
                <a:ext uri="{FF2B5EF4-FFF2-40B4-BE49-F238E27FC236}">
                  <a16:creationId xmlns="" xmlns:a16="http://schemas.microsoft.com/office/drawing/2014/main" id="{A7D912CF-756A-41F1-8BF1-5BA7D1BD052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747375" y="32326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8" name="Freeform 38">
              <a:extLst>
                <a:ext uri="{FF2B5EF4-FFF2-40B4-BE49-F238E27FC236}">
                  <a16:creationId xmlns="" xmlns:a16="http://schemas.microsoft.com/office/drawing/2014/main" id="{734B6F35-2160-44B1-AB00-F628C84B14F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1399044" y="30953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79" name="Freeform 39">
              <a:extLst>
                <a:ext uri="{FF2B5EF4-FFF2-40B4-BE49-F238E27FC236}">
                  <a16:creationId xmlns="" xmlns:a16="http://schemas.microsoft.com/office/drawing/2014/main" id="{D8657E76-4F63-44FE-86C5-54CA174FCB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10353675" y="21531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0" name="Freeform 40">
              <a:extLst>
                <a:ext uri="{FF2B5EF4-FFF2-40B4-BE49-F238E27FC236}">
                  <a16:creationId xmlns="" xmlns:a16="http://schemas.microsoft.com/office/drawing/2014/main" id="{482CEB8C-90E5-4152-8B52-A2881B98A3B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848850" y="33088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1" name="Rectangle 41">
              <a:extLst>
                <a:ext uri="{FF2B5EF4-FFF2-40B4-BE49-F238E27FC236}">
                  <a16:creationId xmlns="" xmlns:a16="http://schemas.microsoft.com/office/drawing/2014/main" id="{85010FC2-BC4C-4692-876D-7FE363BFC6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5400000">
              <a:off x="9721056" y="32842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2" name="Freeform 32">
              <a:extLst>
                <a:ext uri="{FF2B5EF4-FFF2-40B4-BE49-F238E27FC236}">
                  <a16:creationId xmlns="" xmlns:a16="http://schemas.microsoft.com/office/drawing/2014/main" id="{714C1223-2B78-4715-9ACB-079A60D16D3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2122751" y="35321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3" name="Freeform 33">
              <a:extLst>
                <a:ext uri="{FF2B5EF4-FFF2-40B4-BE49-F238E27FC236}">
                  <a16:creationId xmlns="" xmlns:a16="http://schemas.microsoft.com/office/drawing/2014/main" id="{1D9109D3-C92A-410B-9B43-5F02B2D84EE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958445" y="34631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4" name="Freeform 34">
              <a:extLst>
                <a:ext uri="{FF2B5EF4-FFF2-40B4-BE49-F238E27FC236}">
                  <a16:creationId xmlns="" xmlns:a16="http://schemas.microsoft.com/office/drawing/2014/main" id="{EF5B327A-A1AE-42F3-815E-84F4AA2948C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858308" y="37266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5" name="Freeform 37">
              <a:extLst>
                <a:ext uri="{FF2B5EF4-FFF2-40B4-BE49-F238E27FC236}">
                  <a16:creationId xmlns="" xmlns:a16="http://schemas.microsoft.com/office/drawing/2014/main" id="{77738BDE-751F-4D4C-B4C4-C9DF3EA2919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658407" y="31869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6" name="Freeform 35">
              <a:extLst>
                <a:ext uri="{FF2B5EF4-FFF2-40B4-BE49-F238E27FC236}">
                  <a16:creationId xmlns="" xmlns:a16="http://schemas.microsoft.com/office/drawing/2014/main" id="{9C8C4AD6-72BF-490C-963C-97C7FD7E7EA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860814" y="27151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7" name="Freeform 36">
              <a:extLst>
                <a:ext uri="{FF2B5EF4-FFF2-40B4-BE49-F238E27FC236}">
                  <a16:creationId xmlns="" xmlns:a16="http://schemas.microsoft.com/office/drawing/2014/main" id="{94990E31-5AA8-4502-A963-CE1B539DAC4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289314" y="33850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8" name="Freeform 38">
              <a:extLst>
                <a:ext uri="{FF2B5EF4-FFF2-40B4-BE49-F238E27FC236}">
                  <a16:creationId xmlns="" xmlns:a16="http://schemas.microsoft.com/office/drawing/2014/main" id="{9E703E9D-ED76-449C-A8C0-7A1E24B8B27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605895" y="32477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89" name="Freeform 39">
              <a:extLst>
                <a:ext uri="{FF2B5EF4-FFF2-40B4-BE49-F238E27FC236}">
                  <a16:creationId xmlns="" xmlns:a16="http://schemas.microsoft.com/office/drawing/2014/main" id="{C70A75E8-C815-4CCF-ABEE-83F19BFE051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1532202" y="23055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0" name="Freeform 40">
              <a:extLst>
                <a:ext uri="{FF2B5EF4-FFF2-40B4-BE49-F238E27FC236}">
                  <a16:creationId xmlns="" xmlns:a16="http://schemas.microsoft.com/office/drawing/2014/main" id="{E15638E1-6A92-4D31-A034-853A65A754E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154501" y="34612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  <p:sp>
          <p:nvSpPr>
            <p:cNvPr id="91" name="Rectangle 41">
              <a:extLst>
                <a:ext uri="{FF2B5EF4-FFF2-40B4-BE49-F238E27FC236}">
                  <a16:creationId xmlns="" xmlns:a16="http://schemas.microsoft.com/office/drawing/2014/main" id="{EA3E8D58-D52B-4300-8A50-5696430D1A6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="" xmlns:p16="http://schemas.microsoft.com/office/powerpoint/2015/main" val="1"/>
                </p:ext>
              </p:extLst>
            </p:nvPr>
          </p:nvSpPr>
          <p:spPr bwMode="auto">
            <a:xfrm rot="16200000" flipH="1">
              <a:off x="2448983" y="34366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0954A3-DCC4-4BD2-A464-B45BBF745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5122" y="2728267"/>
            <a:ext cx="6919782" cy="10707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b="1" dirty="0">
                <a:latin typeface="Times New Roman"/>
                <a:cs typeface="Times New Roman"/>
              </a:rPr>
              <a:t>TX </a:t>
            </a:r>
            <a:r>
              <a:rPr lang="en-US" sz="4000" b="1" dirty="0" smtClean="0">
                <a:latin typeface="Times New Roman"/>
                <a:cs typeface="Times New Roman"/>
              </a:rPr>
              <a:t>Verification</a:t>
            </a:r>
            <a:endParaRPr lang="en" sz="4000" b="1" dirty="0">
              <a:ln w="0"/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355978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6061" y="291070"/>
            <a:ext cx="10561060" cy="1478570"/>
          </a:xfrm>
        </p:spPr>
        <p:txBody>
          <a:bodyPr>
            <a:normAutofit/>
          </a:bodyPr>
          <a:lstStyle/>
          <a:p>
            <a:r>
              <a:rPr lang="en-US" sz="3600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BUGS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644"/>
          <a:stretch/>
        </p:blipFill>
        <p:spPr>
          <a:xfrm>
            <a:off x="1506061" y="1536374"/>
            <a:ext cx="9551711" cy="4379233"/>
          </a:xfrm>
        </p:spPr>
      </p:pic>
    </p:spTree>
    <p:extLst>
      <p:ext uri="{BB962C8B-B14F-4D97-AF65-F5344CB8AC3E}">
        <p14:creationId xmlns:p14="http://schemas.microsoft.com/office/powerpoint/2010/main" val="34310090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847DAB-5FF6-4536-B5A5-3B4E571A9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1417" y="253420"/>
            <a:ext cx="10561060" cy="1478570"/>
          </a:xfrm>
        </p:spPr>
        <p:txBody>
          <a:bodyPr>
            <a:normAutofit/>
          </a:bodyPr>
          <a:lstStyle/>
          <a:p>
            <a:r>
              <a:rPr lang="en-US" sz="3600" cap="none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Coverage</a:t>
            </a:r>
            <a:endParaRPr lang="en-US" sz="3600" cap="none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430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ustom 3">
      <a:dk1>
        <a:sysClr val="windowText" lastClr="000000"/>
      </a:dk1>
      <a:lt1>
        <a:sysClr val="window" lastClr="FFFFFF"/>
      </a:lt1>
      <a:dk2>
        <a:srgbClr val="000000"/>
      </a:dk2>
      <a:lt2>
        <a:srgbClr val="0070C0"/>
      </a:lt2>
      <a:accent1>
        <a:srgbClr val="0C0C0C"/>
      </a:accent1>
      <a:accent2>
        <a:srgbClr val="002060"/>
      </a:accent2>
      <a:accent3>
        <a:srgbClr val="002060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ircuit">
      <a:maj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2076</TotalTime>
  <Words>729</Words>
  <Application>Microsoft Office PowerPoint</Application>
  <PresentationFormat>Custom</PresentationFormat>
  <Paragraphs>124</Paragraphs>
  <Slides>26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Circuit</vt:lpstr>
      <vt:lpstr>VERIFICATION OF Ethernet MAC LAYER</vt:lpstr>
      <vt:lpstr>INTRODUCTION TO ETHERNET Protocol </vt:lpstr>
      <vt:lpstr>Introduction to Ethernet</vt:lpstr>
      <vt:lpstr>Ethernet MAC layer</vt:lpstr>
      <vt:lpstr>Ethernet MAC IP </vt:lpstr>
      <vt:lpstr>Ethernet MAC IP</vt:lpstr>
      <vt:lpstr>Ethernet MAC IP</vt:lpstr>
      <vt:lpstr>Ethernet UVM Architecture</vt:lpstr>
      <vt:lpstr>Ethernet UVM Architecture </vt:lpstr>
      <vt:lpstr>Ethernet Interfaces</vt:lpstr>
      <vt:lpstr>Ethernet UVM Components</vt:lpstr>
      <vt:lpstr>Ethernet UVM Components</vt:lpstr>
      <vt:lpstr>Ethernet UVM Components</vt:lpstr>
      <vt:lpstr>Ethernet UVM Components</vt:lpstr>
      <vt:lpstr>Ethernet UVM Components</vt:lpstr>
      <vt:lpstr>Ethernet UVM Components</vt:lpstr>
      <vt:lpstr>Ethernet UVM Components</vt:lpstr>
      <vt:lpstr>Ethernet UVM Components</vt:lpstr>
      <vt:lpstr>TX Operation</vt:lpstr>
      <vt:lpstr>Frame Structure</vt:lpstr>
      <vt:lpstr>Transmission Operation</vt:lpstr>
      <vt:lpstr>Transmission Operation</vt:lpstr>
      <vt:lpstr>Transmission Operation</vt:lpstr>
      <vt:lpstr>TX Verification</vt:lpstr>
      <vt:lpstr>BUGS</vt:lpstr>
      <vt:lpstr>Coverage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Passant Kadry</dc:creator>
  <cp:lastModifiedBy>ASM El Masrya</cp:lastModifiedBy>
  <cp:revision>53</cp:revision>
  <dcterms:created xsi:type="dcterms:W3CDTF">2024-11-05T21:37:31Z</dcterms:created>
  <dcterms:modified xsi:type="dcterms:W3CDTF">2026-07-28T16:20:17Z</dcterms:modified>
</cp:coreProperties>
</file>